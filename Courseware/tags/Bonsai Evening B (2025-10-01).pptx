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notesMasterIdLst>
    <p:notesMasterId r:id="rId16"/>
  </p:notesMasterIdLst>
  <p:sldIdLst>
    <p:sldId id="287" r:id="rId2"/>
    <p:sldId id="257" r:id="rId3"/>
    <p:sldId id="262" r:id="rId4"/>
    <p:sldId id="260" r:id="rId5"/>
    <p:sldId id="266" r:id="rId6"/>
    <p:sldId id="263" r:id="rId7"/>
    <p:sldId id="277" r:id="rId8"/>
    <p:sldId id="267" r:id="rId9"/>
    <p:sldId id="281" r:id="rId10"/>
    <p:sldId id="271" r:id="rId11"/>
    <p:sldId id="272" r:id="rId12"/>
    <p:sldId id="259" r:id="rId13"/>
    <p:sldId id="278" r:id="rId14"/>
    <p:sldId id="29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000DBD-DD57-B9F5-1E22-669DF19DD1E1}" name="Alex Labram" initials="AL" userId="1b91434870779e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4E5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04D6C-E348-4888-BF53-7D9093580813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E7104-07E6-4433-AFA2-7ACC21A32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04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8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9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6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6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0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4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6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8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20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75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4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8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7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Evening of Bonsai</a:t>
            </a:r>
            <a:br>
              <a:rPr lang="en-US" dirty="0"/>
            </a:br>
            <a:r>
              <a:rPr lang="en-US" sz="4000" dirty="0"/>
              <a:t>Session B: Bonsai Aesthetics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Alex Labram</a:t>
            </a:r>
          </a:p>
          <a:p>
            <a:r>
              <a:rPr lang="en-US" dirty="0"/>
              <a:t>October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ECEF1E-B9DD-7C7C-D34D-A16C75848A55}"/>
              </a:ext>
            </a:extLst>
          </p:cNvPr>
          <p:cNvGrpSpPr/>
          <p:nvPr/>
        </p:nvGrpSpPr>
        <p:grpSpPr>
          <a:xfrm>
            <a:off x="982632" y="4663538"/>
            <a:ext cx="1801905" cy="1799092"/>
            <a:chOff x="606114" y="4663538"/>
            <a:chExt cx="1801905" cy="1799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D1B531-63E8-82B4-2F90-BE188C37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114" y="4663538"/>
              <a:ext cx="1801905" cy="11835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E7C155-3620-D019-BD0D-DFE1C1B8A88A}"/>
                </a:ext>
              </a:extLst>
            </p:cNvPr>
            <p:cNvSpPr txBox="1"/>
            <p:nvPr/>
          </p:nvSpPr>
          <p:spPr>
            <a:xfrm>
              <a:off x="606114" y="5847077"/>
              <a:ext cx="1801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Nemeta</a:t>
              </a:r>
              <a:r>
                <a:rPr lang="en-US" dirty="0">
                  <a:solidFill>
                    <a:schemeClr val="accent3">
                      <a:lumMod val="50000"/>
                    </a:schemeClr>
                  </a:solidFill>
                </a:rPr>
                <a:t> Bonsai</a:t>
              </a:r>
            </a:p>
            <a:p>
              <a:pPr algn="ctr"/>
              <a:r>
                <a:rPr lang="en-US" sz="1600" dirty="0">
                  <a:solidFill>
                    <a:schemeClr val="accent3">
                      <a:lumMod val="50000"/>
                    </a:schemeClr>
                  </a:solidFill>
                </a:rPr>
                <a:t>nemeta.co.uk</a:t>
              </a:r>
              <a:endParaRPr lang="en-GB" sz="16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892C7DB-1612-4672-BBAD-61056E038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974" y="4663538"/>
            <a:ext cx="1801905" cy="18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3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5615890" cy="492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Theory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Be aware of the history and culture of bonsai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Understand (at a high level) how a bonsai is produced</a:t>
            </a:r>
          </a:p>
          <a:p>
            <a:r>
              <a:rPr lang="en-US" sz="1600" dirty="0"/>
              <a:t>Understand (at a high level) what distinguishes good and bad bonsai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Know how to maintain a bonsai on a day-to-day basis</a:t>
            </a:r>
          </a:p>
          <a:p>
            <a:r>
              <a:rPr lang="en-US" sz="1600" dirty="0"/>
              <a:t>Experience the key activities of re-potting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pruning and wiring</a:t>
            </a:r>
          </a:p>
          <a:p>
            <a:r>
              <a:rPr lang="en-GB" sz="1600" dirty="0"/>
              <a:t>Be aware of inexpensive options for further learning and 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E9E1B-ABAD-44BB-B6F1-53AFD67B5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224" y="1930400"/>
            <a:ext cx="4141694" cy="4927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Practical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Watering bonsai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Wiring a bonsai pot for re-potting</a:t>
            </a:r>
          </a:p>
          <a:p>
            <a:r>
              <a:rPr lang="en-GB" sz="1600" dirty="0"/>
              <a:t>Exposing the </a:t>
            </a:r>
            <a:r>
              <a:rPr lang="en-GB" sz="1600" dirty="0" err="1"/>
              <a:t>nebari</a:t>
            </a:r>
            <a:endParaRPr lang="en-GB" sz="1600" dirty="0"/>
          </a:p>
          <a:p>
            <a:r>
              <a:rPr lang="en-GB" sz="1600" dirty="0"/>
              <a:t>Potting the prepared tree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Pruning for bulk, congestion and taper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Wiring for shape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85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Highlights of Evening 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18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Art &amp; Science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5"/>
            <a:ext cx="4681307" cy="46123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bonsai practice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Authentic</a:t>
            </a:r>
            <a:r>
              <a:rPr lang="en-US" dirty="0"/>
              <a:t> - makes you think “tree”</a:t>
            </a:r>
          </a:p>
          <a:p>
            <a:pPr marL="457200" lvl="1" indent="0">
              <a:buNone/>
            </a:pPr>
            <a:r>
              <a:rPr lang="en-US" dirty="0"/>
              <a:t>Tree as biological / ecological process</a:t>
            </a:r>
          </a:p>
          <a:p>
            <a:endParaRPr lang="en-US" dirty="0"/>
          </a:p>
          <a:p>
            <a:r>
              <a:rPr lang="en-US" b="1" u="sng" dirty="0"/>
              <a:t>Dramatic</a:t>
            </a:r>
            <a:r>
              <a:rPr lang="en-US" dirty="0"/>
              <a:t> – makes you think “TREE”</a:t>
            </a:r>
          </a:p>
          <a:p>
            <a:pPr marL="457200" lvl="1" indent="0">
              <a:buNone/>
            </a:pPr>
            <a:r>
              <a:rPr lang="en-US" dirty="0"/>
              <a:t>Tree as compositional element</a:t>
            </a:r>
          </a:p>
          <a:p>
            <a:endParaRPr lang="en-US" dirty="0"/>
          </a:p>
          <a:p>
            <a:r>
              <a:rPr lang="en-US" b="1" u="sng" dirty="0"/>
              <a:t>Pragmatic</a:t>
            </a:r>
            <a:r>
              <a:rPr lang="en-US" dirty="0"/>
              <a:t> – doesn’t make you think “</a:t>
            </a:r>
            <a:r>
              <a:rPr lang="en-US" i="1" dirty="0"/>
              <a:t>dead</a:t>
            </a:r>
            <a:r>
              <a:rPr lang="en-US" dirty="0"/>
              <a:t> tree”…</a:t>
            </a:r>
          </a:p>
          <a:p>
            <a:pPr marL="457200" lvl="1" indent="0">
              <a:buNone/>
            </a:pPr>
            <a:r>
              <a:rPr lang="en-US" dirty="0"/>
              <a:t>Tree as living clay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940F-928E-4F3F-1A35-15843355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6035"/>
            <a:ext cx="4070047" cy="40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 Had One Once, But It Died</a:t>
            </a:r>
            <a:br>
              <a:rPr lang="en-US" dirty="0"/>
            </a:br>
            <a:r>
              <a:rPr lang="en-US" sz="2800" dirty="0"/>
              <a:t>What a bonsai needs to survive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540125" cy="4799013"/>
          </a:xfrm>
        </p:spPr>
        <p:txBody>
          <a:bodyPr>
            <a:normAutofit/>
          </a:bodyPr>
          <a:lstStyle/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Indoor vs Outdoor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Watering!!!!!</a:t>
            </a:r>
          </a:p>
          <a:p>
            <a:pPr lvl="1"/>
            <a:r>
              <a:rPr lang="en-US" dirty="0"/>
              <a:t>Single biggest killer of bonsai</a:t>
            </a:r>
          </a:p>
          <a:p>
            <a:pPr lvl="1"/>
            <a:r>
              <a:rPr lang="en-US" dirty="0"/>
              <a:t>“Root hairs” die easily in drought</a:t>
            </a:r>
          </a:p>
          <a:p>
            <a:pPr lvl="1"/>
            <a:r>
              <a:rPr lang="en-US" dirty="0"/>
              <a:t>Over-watering is also dangerous!</a:t>
            </a:r>
          </a:p>
          <a:p>
            <a:r>
              <a:rPr lang="en-US" dirty="0"/>
              <a:t>Light</a:t>
            </a:r>
            <a:endParaRPr lang="en-GB" dirty="0"/>
          </a:p>
          <a:p>
            <a:r>
              <a:rPr lang="en-GB" dirty="0"/>
              <a:t>Heat</a:t>
            </a:r>
          </a:p>
          <a:p>
            <a:pPr lvl="1"/>
            <a:r>
              <a:rPr lang="en-GB" dirty="0"/>
              <a:t>Dormancy</a:t>
            </a:r>
          </a:p>
          <a:p>
            <a:r>
              <a:rPr lang="en-US" dirty="0"/>
              <a:t>Airflow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D427B-95B0-1A31-600F-91AE107D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0615" y="1923921"/>
            <a:ext cx="5069540" cy="4799012"/>
          </a:xfrm>
        </p:spPr>
        <p:txBody>
          <a:bodyPr>
            <a:normAutofit/>
          </a:bodyPr>
          <a:lstStyle/>
          <a:p>
            <a:r>
              <a:rPr lang="en-US" dirty="0"/>
              <a:t>Pest Control</a:t>
            </a:r>
          </a:p>
          <a:p>
            <a:pPr lvl="1"/>
            <a:r>
              <a:rPr lang="en-GB" dirty="0"/>
              <a:t>Animals: spider mites, scale bugs, aphids, caterpillars, vine weevil, squirrels</a:t>
            </a:r>
          </a:p>
          <a:p>
            <a:pPr lvl="1"/>
            <a:r>
              <a:rPr lang="en-GB" dirty="0"/>
              <a:t>Plants etc: pearlwort, liverwort, wood sorrel, pennywort, nostoc</a:t>
            </a:r>
          </a:p>
          <a:p>
            <a:pPr lvl="1"/>
            <a:r>
              <a:rPr lang="en-GB" dirty="0"/>
              <a:t>Caution: environmental issues!</a:t>
            </a:r>
          </a:p>
          <a:p>
            <a:r>
              <a:rPr lang="en-GB" dirty="0"/>
              <a:t>Fertiliser</a:t>
            </a:r>
          </a:p>
          <a:p>
            <a:pPr lvl="1"/>
            <a:r>
              <a:rPr lang="en-GB" dirty="0"/>
              <a:t>“Balanced”: roughly even NPK</a:t>
            </a:r>
          </a:p>
          <a:p>
            <a:pPr lvl="1"/>
            <a:r>
              <a:rPr lang="en-GB" dirty="0"/>
              <a:t>Organic =&gt; micronutrients</a:t>
            </a:r>
          </a:p>
          <a:p>
            <a:pPr lvl="1"/>
            <a:r>
              <a:rPr lang="en-GB" dirty="0"/>
              <a:t>Caution: environmental &amp; ethical issues!</a:t>
            </a:r>
          </a:p>
          <a:p>
            <a:endParaRPr lang="en-GB" dirty="0"/>
          </a:p>
          <a:p>
            <a:r>
              <a:rPr lang="en-GB" dirty="0"/>
              <a:t>Bonsai are </a:t>
            </a:r>
            <a:r>
              <a:rPr lang="en-GB" u="sng" dirty="0"/>
              <a:t>far</a:t>
            </a:r>
            <a:r>
              <a:rPr lang="en-GB" dirty="0"/>
              <a:t> harder to keep alive than most common pot plants!</a:t>
            </a:r>
          </a:p>
        </p:txBody>
      </p:sp>
    </p:spTree>
    <p:extLst>
      <p:ext uri="{BB962C8B-B14F-4D97-AF65-F5344CB8AC3E}">
        <p14:creationId xmlns:p14="http://schemas.microsoft.com/office/powerpoint/2010/main" val="352992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Authenticity &amp; Drama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Thinking Like A Tree (That’s Seen Some S**t)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838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Arboriculture 101</a:t>
            </a:r>
            <a:br>
              <a:rPr lang="en-US" dirty="0"/>
            </a:br>
            <a:r>
              <a:rPr lang="en-US" sz="2800" dirty="0"/>
              <a:t>What shapes a tree?</a:t>
            </a:r>
            <a:endParaRPr lang="en-GB" sz="2800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5BDDDF55-8F62-34A3-0522-D37C6EA4B2D6}"/>
              </a:ext>
            </a:extLst>
          </p:cNvPr>
          <p:cNvSpPr/>
          <p:nvPr/>
        </p:nvSpPr>
        <p:spPr>
          <a:xfrm rot="16708167">
            <a:off x="4737357" y="4344386"/>
            <a:ext cx="439270" cy="134133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8C5D4CF2-461E-D233-F427-0FCADD4B05DE}"/>
              </a:ext>
            </a:extLst>
          </p:cNvPr>
          <p:cNvSpPr/>
          <p:nvPr/>
        </p:nvSpPr>
        <p:spPr>
          <a:xfrm rot="3784477">
            <a:off x="5982135" y="3660461"/>
            <a:ext cx="459337" cy="1499519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4E8FB6D7-C0C0-3169-7710-915437885FE5}"/>
              </a:ext>
            </a:extLst>
          </p:cNvPr>
          <p:cNvSpPr/>
          <p:nvPr/>
        </p:nvSpPr>
        <p:spPr>
          <a:xfrm rot="19018870">
            <a:off x="5032178" y="3379601"/>
            <a:ext cx="311814" cy="1151965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5FD77786-7517-4BA7-8B52-C875228FFF91}"/>
              </a:ext>
            </a:extLst>
          </p:cNvPr>
          <p:cNvSpPr/>
          <p:nvPr/>
        </p:nvSpPr>
        <p:spPr>
          <a:xfrm>
            <a:off x="5333634" y="3092728"/>
            <a:ext cx="572626" cy="311971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2527A6D-5691-1C6F-B914-9DEE0667F1E4}"/>
              </a:ext>
            </a:extLst>
          </p:cNvPr>
          <p:cNvSpPr/>
          <p:nvPr/>
        </p:nvSpPr>
        <p:spPr>
          <a:xfrm>
            <a:off x="3902352" y="3323997"/>
            <a:ext cx="1648392" cy="59839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D18C168-712D-FEC6-4ABC-E2F23BBD2316}"/>
              </a:ext>
            </a:extLst>
          </p:cNvPr>
          <p:cNvSpPr/>
          <p:nvPr/>
        </p:nvSpPr>
        <p:spPr>
          <a:xfrm>
            <a:off x="5814057" y="3509586"/>
            <a:ext cx="1896362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43D6607-CDBF-3735-A010-7CA81BE661BD}"/>
              </a:ext>
            </a:extLst>
          </p:cNvPr>
          <p:cNvSpPr/>
          <p:nvPr/>
        </p:nvSpPr>
        <p:spPr>
          <a:xfrm>
            <a:off x="3006863" y="4259767"/>
            <a:ext cx="2221227" cy="8785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5559165-D24C-E3D2-42EF-F5F4C4304969}"/>
              </a:ext>
            </a:extLst>
          </p:cNvPr>
          <p:cNvSpPr/>
          <p:nvPr/>
        </p:nvSpPr>
        <p:spPr>
          <a:xfrm>
            <a:off x="4261794" y="2299352"/>
            <a:ext cx="2716306" cy="102197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9ACBE3AB-0D8F-28D6-5E24-F2C2B1BB28EA}"/>
              </a:ext>
            </a:extLst>
          </p:cNvPr>
          <p:cNvSpPr txBox="1">
            <a:spLocks/>
          </p:cNvSpPr>
          <p:nvPr/>
        </p:nvSpPr>
        <p:spPr>
          <a:xfrm>
            <a:off x="5897810" y="940066"/>
            <a:ext cx="1149979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Sunlight</a:t>
            </a:r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EB1D32-E877-82DB-7F19-6F25B60746F6}"/>
              </a:ext>
            </a:extLst>
          </p:cNvPr>
          <p:cNvSpPr/>
          <p:nvPr/>
        </p:nvSpPr>
        <p:spPr>
          <a:xfrm>
            <a:off x="7710419" y="242047"/>
            <a:ext cx="900953" cy="90095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1C4EB1-2B4C-01E3-D381-F0D3ED1D30B7}"/>
              </a:ext>
            </a:extLst>
          </p:cNvPr>
          <p:cNvCxnSpPr>
            <a:cxnSpLocks/>
          </p:cNvCxnSpPr>
          <p:nvPr/>
        </p:nvCxnSpPr>
        <p:spPr>
          <a:xfrm flipH="1">
            <a:off x="6211803" y="1011658"/>
            <a:ext cx="1345444" cy="918742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5E0FC0-BF35-5292-BD77-2A5F55EEB636}"/>
              </a:ext>
            </a:extLst>
          </p:cNvPr>
          <p:cNvCxnSpPr>
            <a:cxnSpLocks/>
          </p:cNvCxnSpPr>
          <p:nvPr/>
        </p:nvCxnSpPr>
        <p:spPr>
          <a:xfrm flipH="1">
            <a:off x="6941194" y="1161692"/>
            <a:ext cx="828602" cy="1030889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A930C9-69B0-4B8D-0B08-F23DF0ADEA3D}"/>
              </a:ext>
            </a:extLst>
          </p:cNvPr>
          <p:cNvCxnSpPr>
            <a:cxnSpLocks/>
          </p:cNvCxnSpPr>
          <p:nvPr/>
        </p:nvCxnSpPr>
        <p:spPr>
          <a:xfrm flipH="1">
            <a:off x="7911845" y="1236526"/>
            <a:ext cx="130822" cy="1245966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Content Placeholder 14">
            <a:extLst>
              <a:ext uri="{FF2B5EF4-FFF2-40B4-BE49-F238E27FC236}">
                <a16:creationId xmlns:a16="http://schemas.microsoft.com/office/drawing/2014/main" id="{48925E3E-54CC-623B-FDB3-BF0710A648A2}"/>
              </a:ext>
            </a:extLst>
          </p:cNvPr>
          <p:cNvSpPr txBox="1">
            <a:spLocks/>
          </p:cNvSpPr>
          <p:nvPr/>
        </p:nvSpPr>
        <p:spPr>
          <a:xfrm>
            <a:off x="9673755" y="3798097"/>
            <a:ext cx="908458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Shade</a:t>
            </a:r>
            <a:endParaRPr lang="en-GB" dirty="0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FC6857CF-16E9-1455-6642-FCE883F37F48}"/>
              </a:ext>
            </a:extLst>
          </p:cNvPr>
          <p:cNvSpPr/>
          <p:nvPr/>
        </p:nvSpPr>
        <p:spPr>
          <a:xfrm rot="16708167">
            <a:off x="9949164" y="2178964"/>
            <a:ext cx="439270" cy="2495203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70F377A-037A-CE36-577A-2866BAB1F716}"/>
              </a:ext>
            </a:extLst>
          </p:cNvPr>
          <p:cNvSpPr/>
          <p:nvPr/>
        </p:nvSpPr>
        <p:spPr>
          <a:xfrm>
            <a:off x="7648030" y="2586307"/>
            <a:ext cx="2221227" cy="8785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9E2542-7FBE-CE9D-96D6-2A24F4F92A2F}"/>
              </a:ext>
            </a:extLst>
          </p:cNvPr>
          <p:cNvCxnSpPr>
            <a:cxnSpLocks/>
          </p:cNvCxnSpPr>
          <p:nvPr/>
        </p:nvCxnSpPr>
        <p:spPr>
          <a:xfrm flipH="1">
            <a:off x="7975354" y="3623194"/>
            <a:ext cx="67313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05852B-2C3D-8F02-B6D2-4CFFC7DF0DB5}"/>
              </a:ext>
            </a:extLst>
          </p:cNvPr>
          <p:cNvCxnSpPr>
            <a:cxnSpLocks/>
          </p:cNvCxnSpPr>
          <p:nvPr/>
        </p:nvCxnSpPr>
        <p:spPr>
          <a:xfrm>
            <a:off x="8390213" y="3623194"/>
            <a:ext cx="29118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85397A-236B-5618-F94D-11F70448C54F}"/>
              </a:ext>
            </a:extLst>
          </p:cNvPr>
          <p:cNvCxnSpPr>
            <a:cxnSpLocks/>
          </p:cNvCxnSpPr>
          <p:nvPr/>
        </p:nvCxnSpPr>
        <p:spPr>
          <a:xfrm>
            <a:off x="8739925" y="3623194"/>
            <a:ext cx="63914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CC3361-0C41-AF94-BDE9-38B0567B8791}"/>
              </a:ext>
            </a:extLst>
          </p:cNvPr>
          <p:cNvCxnSpPr>
            <a:cxnSpLocks/>
          </p:cNvCxnSpPr>
          <p:nvPr/>
        </p:nvCxnSpPr>
        <p:spPr>
          <a:xfrm>
            <a:off x="9053382" y="3627053"/>
            <a:ext cx="140074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B080FD-2CBB-1935-17EF-23573737156A}"/>
              </a:ext>
            </a:extLst>
          </p:cNvPr>
          <p:cNvCxnSpPr>
            <a:cxnSpLocks/>
          </p:cNvCxnSpPr>
          <p:nvPr/>
        </p:nvCxnSpPr>
        <p:spPr>
          <a:xfrm>
            <a:off x="9359376" y="3623194"/>
            <a:ext cx="251990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Arrow: Down 47">
            <a:extLst>
              <a:ext uri="{FF2B5EF4-FFF2-40B4-BE49-F238E27FC236}">
                <a16:creationId xmlns:a16="http://schemas.microsoft.com/office/drawing/2014/main" id="{78F66C4E-9E4D-0908-8A6D-6E7A3D55662F}"/>
              </a:ext>
            </a:extLst>
          </p:cNvPr>
          <p:cNvSpPr/>
          <p:nvPr/>
        </p:nvSpPr>
        <p:spPr>
          <a:xfrm>
            <a:off x="1343821" y="2359457"/>
            <a:ext cx="1255047" cy="354380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Content Placeholder 14">
            <a:extLst>
              <a:ext uri="{FF2B5EF4-FFF2-40B4-BE49-F238E27FC236}">
                <a16:creationId xmlns:a16="http://schemas.microsoft.com/office/drawing/2014/main" id="{BD2C420D-A225-D2F7-F0D7-5FD6FF7C63D1}"/>
              </a:ext>
            </a:extLst>
          </p:cNvPr>
          <p:cNvSpPr txBox="1">
            <a:spLocks/>
          </p:cNvSpPr>
          <p:nvPr/>
        </p:nvSpPr>
        <p:spPr>
          <a:xfrm>
            <a:off x="612535" y="2865809"/>
            <a:ext cx="997252" cy="1056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Gravity / load</a:t>
            </a:r>
            <a:endParaRPr lang="en-GB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C7B06E0-1908-3BEE-34E0-3932FF762613}"/>
              </a:ext>
            </a:extLst>
          </p:cNvPr>
          <p:cNvSpPr/>
          <p:nvPr/>
        </p:nvSpPr>
        <p:spPr>
          <a:xfrm>
            <a:off x="2880926" y="4212066"/>
            <a:ext cx="4598895" cy="757973"/>
          </a:xfrm>
          <a:custGeom>
            <a:avLst/>
            <a:gdLst>
              <a:gd name="connsiteX0" fmla="*/ 0 w 4598895"/>
              <a:gd name="connsiteY0" fmla="*/ 578532 h 757973"/>
              <a:gd name="connsiteX1" fmla="*/ 1304365 w 4598895"/>
              <a:gd name="connsiteY1" fmla="*/ 309 h 757973"/>
              <a:gd name="connsiteX2" fmla="*/ 2796989 w 4598895"/>
              <a:gd name="connsiteY2" fmla="*/ 645768 h 757973"/>
              <a:gd name="connsiteX3" fmla="*/ 4598895 w 4598895"/>
              <a:gd name="connsiteY3" fmla="*/ 753344 h 7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8895" h="757973">
                <a:moveTo>
                  <a:pt x="0" y="578532"/>
                </a:moveTo>
                <a:cubicBezTo>
                  <a:pt x="419100" y="283817"/>
                  <a:pt x="838200" y="-10897"/>
                  <a:pt x="1304365" y="309"/>
                </a:cubicBezTo>
                <a:cubicBezTo>
                  <a:pt x="1770530" y="11515"/>
                  <a:pt x="2247901" y="520262"/>
                  <a:pt x="2796989" y="645768"/>
                </a:cubicBezTo>
                <a:cubicBezTo>
                  <a:pt x="3346077" y="771274"/>
                  <a:pt x="4332195" y="762309"/>
                  <a:pt x="4598895" y="753344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3B8000F-423E-C978-0774-A8EF0D8831C9}"/>
              </a:ext>
            </a:extLst>
          </p:cNvPr>
          <p:cNvSpPr/>
          <p:nvPr/>
        </p:nvSpPr>
        <p:spPr>
          <a:xfrm>
            <a:off x="2944906" y="2097552"/>
            <a:ext cx="4988859" cy="743455"/>
          </a:xfrm>
          <a:custGeom>
            <a:avLst/>
            <a:gdLst>
              <a:gd name="connsiteX0" fmla="*/ 0 w 4988859"/>
              <a:gd name="connsiteY0" fmla="*/ 685989 h 743455"/>
              <a:gd name="connsiteX1" fmla="*/ 1627094 w 4988859"/>
              <a:gd name="connsiteY1" fmla="*/ 591860 h 743455"/>
              <a:gd name="connsiteX2" fmla="*/ 2689412 w 4988859"/>
              <a:gd name="connsiteY2" fmla="*/ 189 h 743455"/>
              <a:gd name="connsiteX3" fmla="*/ 3576918 w 4988859"/>
              <a:gd name="connsiteY3" fmla="*/ 659095 h 743455"/>
              <a:gd name="connsiteX4" fmla="*/ 4988859 w 4988859"/>
              <a:gd name="connsiteY4" fmla="*/ 712883 h 74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8859" h="743455">
                <a:moveTo>
                  <a:pt x="0" y="685989"/>
                </a:moveTo>
                <a:cubicBezTo>
                  <a:pt x="589429" y="696074"/>
                  <a:pt x="1178859" y="706160"/>
                  <a:pt x="1627094" y="591860"/>
                </a:cubicBezTo>
                <a:cubicBezTo>
                  <a:pt x="2075329" y="477560"/>
                  <a:pt x="2364441" y="-11017"/>
                  <a:pt x="2689412" y="189"/>
                </a:cubicBezTo>
                <a:cubicBezTo>
                  <a:pt x="3014383" y="11395"/>
                  <a:pt x="3193677" y="540313"/>
                  <a:pt x="3576918" y="659095"/>
                </a:cubicBezTo>
                <a:cubicBezTo>
                  <a:pt x="3960159" y="777877"/>
                  <a:pt x="4937312" y="746501"/>
                  <a:pt x="4988859" y="712883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BC566CC-2BB8-F112-2CB9-B06EDCFCB556}"/>
              </a:ext>
            </a:extLst>
          </p:cNvPr>
          <p:cNvSpPr/>
          <p:nvPr/>
        </p:nvSpPr>
        <p:spPr>
          <a:xfrm>
            <a:off x="3123068" y="3464847"/>
            <a:ext cx="4371263" cy="591086"/>
          </a:xfrm>
          <a:custGeom>
            <a:avLst/>
            <a:gdLst>
              <a:gd name="connsiteX0" fmla="*/ 4693023 w 4693023"/>
              <a:gd name="connsiteY0" fmla="*/ 308623 h 782272"/>
              <a:gd name="connsiteX1" fmla="*/ 3845859 w 4693023"/>
              <a:gd name="connsiteY1" fmla="*/ 12788 h 782272"/>
              <a:gd name="connsiteX2" fmla="*/ 2528047 w 4693023"/>
              <a:gd name="connsiteY2" fmla="*/ 685141 h 782272"/>
              <a:gd name="connsiteX3" fmla="*/ 0 w 4693023"/>
              <a:gd name="connsiteY3" fmla="*/ 779270 h 7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3023" h="782272">
                <a:moveTo>
                  <a:pt x="4693023" y="308623"/>
                </a:moveTo>
                <a:cubicBezTo>
                  <a:pt x="4449855" y="129329"/>
                  <a:pt x="4206688" y="-49965"/>
                  <a:pt x="3845859" y="12788"/>
                </a:cubicBezTo>
                <a:cubicBezTo>
                  <a:pt x="3485030" y="75541"/>
                  <a:pt x="3169023" y="557394"/>
                  <a:pt x="2528047" y="685141"/>
                </a:cubicBezTo>
                <a:cubicBezTo>
                  <a:pt x="1887070" y="812888"/>
                  <a:pt x="351865" y="777029"/>
                  <a:pt x="0" y="77927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626E6D-F36D-E0C1-4965-D31E1EDF585F}"/>
              </a:ext>
            </a:extLst>
          </p:cNvPr>
          <p:cNvCxnSpPr/>
          <p:nvPr/>
        </p:nvCxnSpPr>
        <p:spPr>
          <a:xfrm>
            <a:off x="2848411" y="5390028"/>
            <a:ext cx="4647005" cy="1784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14">
            <a:extLst>
              <a:ext uri="{FF2B5EF4-FFF2-40B4-BE49-F238E27FC236}">
                <a16:creationId xmlns:a16="http://schemas.microsoft.com/office/drawing/2014/main" id="{CD4047F2-6D1C-B6DA-458A-73BCF55FC957}"/>
              </a:ext>
            </a:extLst>
          </p:cNvPr>
          <p:cNvSpPr txBox="1">
            <a:spLocks/>
          </p:cNvSpPr>
          <p:nvPr/>
        </p:nvSpPr>
        <p:spPr>
          <a:xfrm>
            <a:off x="3185774" y="2354737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Airflow</a:t>
            </a:r>
            <a:endParaRPr lang="en-GB" dirty="0"/>
          </a:p>
        </p:txBody>
      </p:sp>
      <p:sp>
        <p:nvSpPr>
          <p:cNvPr id="58" name="Partial Circle 57">
            <a:extLst>
              <a:ext uri="{FF2B5EF4-FFF2-40B4-BE49-F238E27FC236}">
                <a16:creationId xmlns:a16="http://schemas.microsoft.com/office/drawing/2014/main" id="{F75C891F-7132-5A8B-21B3-5DC9D575A5CA}"/>
              </a:ext>
            </a:extLst>
          </p:cNvPr>
          <p:cNvSpPr/>
          <p:nvPr/>
        </p:nvSpPr>
        <p:spPr>
          <a:xfrm rot="19451740">
            <a:off x="3568431" y="5304323"/>
            <a:ext cx="936963" cy="546508"/>
          </a:xfrm>
          <a:prstGeom prst="pie">
            <a:avLst>
              <a:gd name="adj1" fmla="val 1149389"/>
              <a:gd name="adj2" fmla="val 209265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Content Placeholder 14">
            <a:extLst>
              <a:ext uri="{FF2B5EF4-FFF2-40B4-BE49-F238E27FC236}">
                <a16:creationId xmlns:a16="http://schemas.microsoft.com/office/drawing/2014/main" id="{AD0250E6-81D7-5276-2A27-B89A947D9AAC}"/>
              </a:ext>
            </a:extLst>
          </p:cNvPr>
          <p:cNvSpPr txBox="1">
            <a:spLocks/>
          </p:cNvSpPr>
          <p:nvPr/>
        </p:nvSpPr>
        <p:spPr>
          <a:xfrm>
            <a:off x="3468308" y="5953749"/>
            <a:ext cx="1585960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Animals</a:t>
            </a:r>
            <a:endParaRPr lang="en-GB" dirty="0"/>
          </a:p>
        </p:txBody>
      </p:sp>
      <p:sp>
        <p:nvSpPr>
          <p:cNvPr id="60" name="Partial Circle 59">
            <a:extLst>
              <a:ext uri="{FF2B5EF4-FFF2-40B4-BE49-F238E27FC236}">
                <a16:creationId xmlns:a16="http://schemas.microsoft.com/office/drawing/2014/main" id="{81CA912A-6C19-ADAF-1639-4D98D517725B}"/>
              </a:ext>
            </a:extLst>
          </p:cNvPr>
          <p:cNvSpPr/>
          <p:nvPr/>
        </p:nvSpPr>
        <p:spPr>
          <a:xfrm rot="2148260" flipH="1">
            <a:off x="5958172" y="5594317"/>
            <a:ext cx="786076" cy="460287"/>
          </a:xfrm>
          <a:prstGeom prst="pie">
            <a:avLst>
              <a:gd name="adj1" fmla="val 1149389"/>
              <a:gd name="adj2" fmla="val 209265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70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Authenticity &amp; Age</a:t>
            </a:r>
            <a:br>
              <a:rPr lang="en-US" dirty="0"/>
            </a:br>
            <a:r>
              <a:rPr lang="en-US" sz="2800" dirty="0"/>
              <a:t>What makes a tree look mature?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Canopy shape</a:t>
            </a:r>
          </a:p>
          <a:p>
            <a:pPr lvl="1"/>
            <a:r>
              <a:rPr lang="en-US" dirty="0"/>
              <a:t>Rounded triangle</a:t>
            </a:r>
          </a:p>
          <a:p>
            <a:pPr lvl="1"/>
            <a:r>
              <a:rPr lang="en-US" dirty="0"/>
              <a:t>Composed of rounded-triangle “pads” (for species that back-bud less readily)</a:t>
            </a:r>
          </a:p>
          <a:p>
            <a:r>
              <a:rPr lang="en-US" dirty="0"/>
              <a:t>Trunk &amp; branch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Short inter-node distance</a:t>
            </a:r>
          </a:p>
          <a:p>
            <a:pPr lvl="1"/>
            <a:r>
              <a:rPr lang="en-US" dirty="0"/>
              <a:t>“Ramification”: fractal splitting of branches</a:t>
            </a:r>
          </a:p>
          <a:p>
            <a:pPr lvl="1"/>
            <a:r>
              <a:rPr lang="en-US" dirty="0"/>
              <a:t>“Square-cube law”: big tree = proportionally heavier load = more curvature</a:t>
            </a:r>
          </a:p>
          <a:p>
            <a:pPr lvl="1"/>
            <a:r>
              <a:rPr lang="en-US" dirty="0"/>
              <a:t>“Ruptures”: jagged direction changes</a:t>
            </a:r>
          </a:p>
          <a:p>
            <a:r>
              <a:rPr lang="en-US" dirty="0"/>
              <a:t>Texture</a:t>
            </a:r>
          </a:p>
          <a:p>
            <a:pPr lvl="1"/>
            <a:r>
              <a:rPr lang="en-US" dirty="0"/>
              <a:t>Bark</a:t>
            </a:r>
          </a:p>
          <a:p>
            <a:pPr lvl="1"/>
            <a:r>
              <a:rPr lang="en-US" dirty="0"/>
              <a:t>Dead-wood: advanced bonsai topic!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16A0E5-9919-8CC8-FE83-C647510D232A}"/>
              </a:ext>
            </a:extLst>
          </p:cNvPr>
          <p:cNvSpPr txBox="1">
            <a:spLocks/>
          </p:cNvSpPr>
          <p:nvPr/>
        </p:nvSpPr>
        <p:spPr>
          <a:xfrm>
            <a:off x="677334" y="4948517"/>
            <a:ext cx="5177116" cy="1909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Taper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Nebari</a:t>
            </a:r>
            <a:r>
              <a:rPr lang="en-US" dirty="0"/>
              <a:t>” (</a:t>
            </a:r>
            <a:r>
              <a:rPr lang="ja-JP" altLang="en-US" dirty="0"/>
              <a:t>根張り</a:t>
            </a:r>
            <a:r>
              <a:rPr lang="en-US" dirty="0"/>
              <a:t>) = root flare / buttress</a:t>
            </a:r>
          </a:p>
          <a:p>
            <a:pPr lvl="1"/>
            <a:r>
              <a:rPr lang="en-US" dirty="0"/>
              <a:t>Trunk &amp; branch flare: from base to apex / tip</a:t>
            </a:r>
          </a:p>
          <a:p>
            <a:pPr lvl="1"/>
            <a:r>
              <a:rPr lang="en-US" dirty="0"/>
              <a:t>Trunk-to-branch (and branch to sub-branch) ratio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80E11-2DA9-F19A-F603-F0E3673750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77" y="1842246"/>
            <a:ext cx="3736152" cy="28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5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Art à la Japan</a:t>
            </a:r>
            <a:br>
              <a:rPr lang="en-US" dirty="0"/>
            </a:br>
            <a:r>
              <a:rPr lang="en-US" sz="2800" dirty="0"/>
              <a:t>Catching the eye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3" y="1583214"/>
            <a:ext cx="5634317" cy="5274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elements of visual design:</a:t>
            </a:r>
          </a:p>
          <a:p>
            <a:r>
              <a:rPr lang="en-US" dirty="0"/>
              <a:t>Movement &amp; rhythm</a:t>
            </a:r>
          </a:p>
          <a:p>
            <a:r>
              <a:rPr lang="en-US" dirty="0"/>
              <a:t>Balance: symmetry vs asymmetry</a:t>
            </a:r>
          </a:p>
          <a:p>
            <a:r>
              <a:rPr lang="en-US" dirty="0"/>
              <a:t>Similarity &amp; harmony vs contrast &amp; variety</a:t>
            </a:r>
          </a:p>
          <a:p>
            <a:r>
              <a:rPr lang="en-US" dirty="0"/>
              <a:t>Perspective &amp; proportion</a:t>
            </a:r>
          </a:p>
          <a:p>
            <a:r>
              <a:rPr lang="en-US" dirty="0"/>
              <a:t>Repetition &amp; continuation</a:t>
            </a:r>
          </a:p>
          <a:p>
            <a:r>
              <a:rPr lang="en-US" dirty="0"/>
              <a:t>Unity: wow factor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Japan-specific additions:</a:t>
            </a:r>
          </a:p>
          <a:p>
            <a:r>
              <a:rPr lang="en-US" dirty="0"/>
              <a:t>“</a:t>
            </a:r>
            <a:r>
              <a:rPr lang="en-US" dirty="0" err="1"/>
              <a:t>Wabisabi</a:t>
            </a:r>
            <a:r>
              <a:rPr lang="en-US" dirty="0"/>
              <a:t>” (</a:t>
            </a:r>
            <a:r>
              <a:rPr lang="ja-JP" altLang="en-US" dirty="0"/>
              <a:t>侘び寂び</a:t>
            </a:r>
            <a:r>
              <a:rPr lang="en-US" dirty="0"/>
              <a:t> – literally “forlorn rusticism”): austere, naturalistic, often hard-worn beauty and elegance</a:t>
            </a:r>
          </a:p>
          <a:p>
            <a:r>
              <a:rPr lang="en-US" dirty="0"/>
              <a:t>Top-right to bottom-left traditional reading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FC98BA-4B9A-F5AB-188B-57B429CF9F30}"/>
              </a:ext>
            </a:extLst>
          </p:cNvPr>
          <p:cNvSpPr txBox="1">
            <a:spLocks/>
          </p:cNvSpPr>
          <p:nvPr/>
        </p:nvSpPr>
        <p:spPr>
          <a:xfrm>
            <a:off x="884332" y="5467529"/>
            <a:ext cx="4206808" cy="11519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It is self-evident that nothing concerning art is self-evident.</a:t>
            </a:r>
          </a:p>
          <a:p>
            <a:pPr marL="0" indent="0" algn="r">
              <a:buNone/>
            </a:pPr>
            <a:r>
              <a:rPr lang="en-US" dirty="0">
                <a:solidFill>
                  <a:schemeClr val="accent2"/>
                </a:solidFill>
              </a:rPr>
              <a:t>- Theodore Adorno (1969)</a:t>
            </a:r>
            <a:endParaRPr lang="en-GB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96C86-3601-0048-86C2-673D2B26F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7" t="15585" r="2614" b="10910"/>
          <a:stretch/>
        </p:blipFill>
        <p:spPr>
          <a:xfrm>
            <a:off x="884332" y="2012522"/>
            <a:ext cx="4206808" cy="321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0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Drama &amp; Perspective</a:t>
            </a:r>
            <a:br>
              <a:rPr lang="en-US" dirty="0"/>
            </a:br>
            <a:r>
              <a:rPr lang="en-US" sz="2800" dirty="0"/>
              <a:t>What makes a tree stand out?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Taper (again!) </a:t>
            </a:r>
          </a:p>
          <a:p>
            <a:pPr lvl="1"/>
            <a:r>
              <a:rPr lang="en-US" dirty="0"/>
              <a:t>Taper appears stronger from viewpoint at base of tree</a:t>
            </a:r>
          </a:p>
          <a:p>
            <a:r>
              <a:rPr lang="en-US" dirty="0"/>
              <a:t>Pot: picture-frame for tree</a:t>
            </a:r>
          </a:p>
          <a:p>
            <a:pPr lvl="1"/>
            <a:r>
              <a:rPr lang="en-US" dirty="0"/>
              <a:t>“Heavy” earthenware vs “light” glazed</a:t>
            </a:r>
          </a:p>
          <a:p>
            <a:pPr lvl="1"/>
            <a:r>
              <a:rPr lang="en-US" dirty="0"/>
              <a:t>Depth ≈ trunk thickness; width ≈ 2/3 canopy height (tall tree) or width (wide tree)</a:t>
            </a:r>
          </a:p>
          <a:p>
            <a:pPr lvl="1"/>
            <a:r>
              <a:rPr lang="en-US" dirty="0"/>
              <a:t>Style: heavy vs light, plain vs ornate</a:t>
            </a:r>
          </a:p>
          <a:p>
            <a:r>
              <a:rPr lang="en-US" dirty="0"/>
              <a:t>Use of negative space</a:t>
            </a:r>
          </a:p>
          <a:p>
            <a:pPr lvl="1"/>
            <a:r>
              <a:rPr lang="en-US" dirty="0"/>
              <a:t>…Often in imitation of wind-flow or trunk death in full-scale trees</a:t>
            </a:r>
          </a:p>
          <a:p>
            <a:r>
              <a:rPr lang="en-US" dirty="0"/>
              <a:t>Scaled-down decorations</a:t>
            </a:r>
          </a:p>
          <a:p>
            <a:pPr lvl="1"/>
            <a:r>
              <a:rPr lang="en-US" dirty="0"/>
              <a:t>Moss “grass”, accent plants, rocks (“</a:t>
            </a:r>
            <a:r>
              <a:rPr lang="en-US" dirty="0" err="1"/>
              <a:t>suiseki</a:t>
            </a:r>
            <a:r>
              <a:rPr lang="en-US" dirty="0"/>
              <a:t>”)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0135E5-977D-1EF9-1FB5-19C7441D6167}"/>
              </a:ext>
            </a:extLst>
          </p:cNvPr>
          <p:cNvSpPr txBox="1">
            <a:spLocks/>
          </p:cNvSpPr>
          <p:nvPr/>
        </p:nvSpPr>
        <p:spPr>
          <a:xfrm>
            <a:off x="677334" y="4381496"/>
            <a:ext cx="5177116" cy="2402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Well-defined “front”</a:t>
            </a:r>
          </a:p>
          <a:p>
            <a:pPr lvl="1"/>
            <a:r>
              <a:rPr lang="en-US" dirty="0"/>
              <a:t>Style is firmly established</a:t>
            </a:r>
          </a:p>
          <a:p>
            <a:pPr lvl="1"/>
            <a:r>
              <a:rPr lang="en-US" dirty="0"/>
              <a:t>Sense of strength or movement captured</a:t>
            </a:r>
          </a:p>
          <a:p>
            <a:pPr lvl="1"/>
            <a:r>
              <a:rPr lang="en-US" dirty="0"/>
              <a:t>Clear view of lower trunk</a:t>
            </a:r>
          </a:p>
          <a:p>
            <a:pPr lvl="1"/>
            <a:r>
              <a:rPr lang="en-US" dirty="0"/>
              <a:t>No crossed branches</a:t>
            </a:r>
          </a:p>
          <a:p>
            <a:pPr lvl="1"/>
            <a:r>
              <a:rPr lang="en-US" dirty="0"/>
              <a:t>Tree’s “</a:t>
            </a:r>
            <a:r>
              <a:rPr lang="en-US" dirty="0" err="1"/>
              <a:t>centre</a:t>
            </a:r>
            <a:r>
              <a:rPr lang="en-US" dirty="0"/>
              <a:t> of mass” is in middle of pot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E8B13A-76DF-3BAB-9EBF-FECB3ED08D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26" y="1761564"/>
            <a:ext cx="3303244" cy="24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C53C465C-E89A-7AF3-7F3B-DCADDE1359B0}"/>
              </a:ext>
            </a:extLst>
          </p:cNvPr>
          <p:cNvSpPr/>
          <p:nvPr/>
        </p:nvSpPr>
        <p:spPr>
          <a:xfrm>
            <a:off x="1806030" y="3362113"/>
            <a:ext cx="151649" cy="159316"/>
          </a:xfrm>
          <a:prstGeom prst="pentagon">
            <a:avLst/>
          </a:prstGeom>
          <a:solidFill>
            <a:srgbClr val="4E5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76FF5051-DEBD-AECB-F8A5-74646C887746}"/>
              </a:ext>
            </a:extLst>
          </p:cNvPr>
          <p:cNvSpPr/>
          <p:nvPr/>
        </p:nvSpPr>
        <p:spPr>
          <a:xfrm rot="1319334">
            <a:off x="1910985" y="3327896"/>
            <a:ext cx="151649" cy="159316"/>
          </a:xfrm>
          <a:prstGeom prst="pentagon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37937DA1-1921-39C1-5D4C-344DB3ADCF6A}"/>
              </a:ext>
            </a:extLst>
          </p:cNvPr>
          <p:cNvSpPr/>
          <p:nvPr/>
        </p:nvSpPr>
        <p:spPr>
          <a:xfrm rot="676979">
            <a:off x="2030453" y="3360898"/>
            <a:ext cx="151649" cy="159316"/>
          </a:xfrm>
          <a:prstGeom prst="pentagon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86FD01-352E-4B79-4995-BE6631C0AA7D}"/>
              </a:ext>
            </a:extLst>
          </p:cNvPr>
          <p:cNvSpPr/>
          <p:nvPr/>
        </p:nvSpPr>
        <p:spPr>
          <a:xfrm>
            <a:off x="3351568" y="3109015"/>
            <a:ext cx="412377" cy="10259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691E47-2641-D59C-9C09-FC2458E2C8D4}"/>
              </a:ext>
            </a:extLst>
          </p:cNvPr>
          <p:cNvSpPr/>
          <p:nvPr/>
        </p:nvSpPr>
        <p:spPr>
          <a:xfrm>
            <a:off x="1960282" y="3113742"/>
            <a:ext cx="412377" cy="10259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Flaws</a:t>
            </a:r>
            <a:br>
              <a:rPr lang="en-US" dirty="0"/>
            </a:br>
            <a:r>
              <a:rPr lang="en-US" sz="2800" dirty="0"/>
              <a:t>What gives the game away?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3" y="1896034"/>
            <a:ext cx="5634317" cy="4961965"/>
          </a:xfrm>
        </p:spPr>
        <p:txBody>
          <a:bodyPr>
            <a:normAutofit/>
          </a:bodyPr>
          <a:lstStyle/>
          <a:p>
            <a:r>
              <a:rPr lang="en-US" dirty="0"/>
              <a:t>Obvious tool marks</a:t>
            </a:r>
          </a:p>
          <a:p>
            <a:pPr lvl="1"/>
            <a:r>
              <a:rPr lang="en-US" dirty="0"/>
              <a:t>…Including wire scarring</a:t>
            </a:r>
          </a:p>
          <a:p>
            <a:r>
              <a:rPr lang="en-US" dirty="0"/>
              <a:t>Excessive symmetry</a:t>
            </a:r>
          </a:p>
          <a:p>
            <a:pPr lvl="1"/>
            <a:r>
              <a:rPr lang="en-US" dirty="0"/>
              <a:t>…Especially handlebar branches</a:t>
            </a:r>
          </a:p>
          <a:p>
            <a:pPr lvl="1"/>
            <a:r>
              <a:rPr lang="en-US" dirty="0"/>
              <a:t>Asymmetry is a common theme in Japanese gardening!</a:t>
            </a:r>
          </a:p>
          <a:p>
            <a:r>
              <a:rPr lang="en-US" dirty="0"/>
              <a:t>“Reverse taper”</a:t>
            </a:r>
          </a:p>
          <a:p>
            <a:r>
              <a:rPr lang="en-US" dirty="0"/>
              <a:t>Unusual “habit” for species / genus</a:t>
            </a:r>
          </a:p>
          <a:p>
            <a:pPr lvl="1"/>
            <a:r>
              <a:rPr lang="en-US" dirty="0"/>
              <a:t>Google for pictures of wild tree to get ideas!</a:t>
            </a:r>
          </a:p>
          <a:p>
            <a:pPr lvl="1"/>
            <a:r>
              <a:rPr lang="en-US" dirty="0"/>
              <a:t>This rule is frequently ignored: e.g. small shrubs portrayed as large trees, boringly-shaped species made interesting, unrealistic pads</a:t>
            </a:r>
          </a:p>
          <a:p>
            <a:r>
              <a:rPr lang="en-US" dirty="0"/>
              <a:t>Dead leaves and (unwanted) deadwood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0AFEB3-8E62-C899-A368-55C2FEA2AF98}"/>
              </a:ext>
            </a:extLst>
          </p:cNvPr>
          <p:cNvSpPr txBox="1">
            <a:spLocks/>
          </p:cNvSpPr>
          <p:nvPr/>
        </p:nvSpPr>
        <p:spPr>
          <a:xfrm>
            <a:off x="677334" y="4377016"/>
            <a:ext cx="5069541" cy="2480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Weak / immature-looking branches</a:t>
            </a:r>
          </a:p>
          <a:p>
            <a:pPr lvl="1"/>
            <a:r>
              <a:rPr lang="en-US" dirty="0"/>
              <a:t>Suckers</a:t>
            </a:r>
          </a:p>
          <a:p>
            <a:pPr lvl="1"/>
            <a:r>
              <a:rPr lang="en-US" dirty="0"/>
              <a:t>Congested nodes</a:t>
            </a:r>
          </a:p>
          <a:p>
            <a:pPr lvl="1"/>
            <a:r>
              <a:rPr lang="en-US" dirty="0"/>
              <a:t>Under-slung / elbow branches</a:t>
            </a:r>
          </a:p>
          <a:p>
            <a:pPr lvl="1"/>
            <a:r>
              <a:rPr lang="en-US" dirty="0"/>
              <a:t>Lack of clear “leader” (dominant trunk / branch)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07E75B2-92A3-0846-F602-094528681DB8}"/>
              </a:ext>
            </a:extLst>
          </p:cNvPr>
          <p:cNvSpPr/>
          <p:nvPr/>
        </p:nvSpPr>
        <p:spPr>
          <a:xfrm>
            <a:off x="1353610" y="2102435"/>
            <a:ext cx="2921653" cy="87306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0CB8ACAE-042F-7B14-69E1-BB2A74B28DC5}"/>
              </a:ext>
            </a:extLst>
          </p:cNvPr>
          <p:cNvSpPr/>
          <p:nvPr/>
        </p:nvSpPr>
        <p:spPr>
          <a:xfrm flipV="1">
            <a:off x="2148792" y="2650321"/>
            <a:ext cx="1376161" cy="88279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981887C-D465-26A8-9E73-30F8FF6FEF42}"/>
              </a:ext>
            </a:extLst>
          </p:cNvPr>
          <p:cNvSpPr/>
          <p:nvPr/>
        </p:nvSpPr>
        <p:spPr>
          <a:xfrm>
            <a:off x="1797628" y="2102435"/>
            <a:ext cx="2033618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4B3AADB7-038E-90B5-54EE-0094F6A998B0}"/>
              </a:ext>
            </a:extLst>
          </p:cNvPr>
          <p:cNvSpPr/>
          <p:nvPr/>
        </p:nvSpPr>
        <p:spPr>
          <a:xfrm flipV="1">
            <a:off x="1645118" y="3423949"/>
            <a:ext cx="2338636" cy="397044"/>
          </a:xfrm>
          <a:prstGeom prst="trapezoid">
            <a:avLst>
              <a:gd name="adj" fmla="val 1822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278BA5-8254-8945-E60F-C2203D50C465}"/>
              </a:ext>
            </a:extLst>
          </p:cNvPr>
          <p:cNvCxnSpPr>
            <a:cxnSpLocks/>
          </p:cNvCxnSpPr>
          <p:nvPr/>
        </p:nvCxnSpPr>
        <p:spPr>
          <a:xfrm flipV="1">
            <a:off x="2372659" y="3187918"/>
            <a:ext cx="999191" cy="185885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A8DDB7-BB56-036B-328A-85DC17EE6523}"/>
              </a:ext>
            </a:extLst>
          </p:cNvPr>
          <p:cNvCxnSpPr>
            <a:cxnSpLocks/>
          </p:cNvCxnSpPr>
          <p:nvPr/>
        </p:nvCxnSpPr>
        <p:spPr>
          <a:xfrm flipV="1">
            <a:off x="2314575" y="2975502"/>
            <a:ext cx="1103966" cy="240831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16A06E-C831-DAAF-7B1D-7CB7CF33AAC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190750" y="3039484"/>
            <a:ext cx="68392" cy="52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1DD2B7-6A06-56A5-FCC7-8BA985DF1E57}"/>
              </a:ext>
            </a:extLst>
          </p:cNvPr>
          <p:cNvCxnSpPr>
            <a:cxnSpLocks/>
          </p:cNvCxnSpPr>
          <p:nvPr/>
        </p:nvCxnSpPr>
        <p:spPr>
          <a:xfrm>
            <a:off x="2166470" y="3090500"/>
            <a:ext cx="92672" cy="39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DAECB4-2E0D-7990-A548-D6501460C620}"/>
              </a:ext>
            </a:extLst>
          </p:cNvPr>
          <p:cNvCxnSpPr>
            <a:cxnSpLocks/>
          </p:cNvCxnSpPr>
          <p:nvPr/>
        </p:nvCxnSpPr>
        <p:spPr>
          <a:xfrm flipH="1">
            <a:off x="2208163" y="3211606"/>
            <a:ext cx="78729" cy="9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&quot;Not Allowed&quot; Symbol 12">
            <a:extLst>
              <a:ext uri="{FF2B5EF4-FFF2-40B4-BE49-F238E27FC236}">
                <a16:creationId xmlns:a16="http://schemas.microsoft.com/office/drawing/2014/main" id="{C2DD34AB-EA13-3345-1614-23DB9C23D066}"/>
              </a:ext>
            </a:extLst>
          </p:cNvPr>
          <p:cNvSpPr/>
          <p:nvPr/>
        </p:nvSpPr>
        <p:spPr>
          <a:xfrm>
            <a:off x="1332038" y="1701952"/>
            <a:ext cx="2943225" cy="2675064"/>
          </a:xfrm>
          <a:prstGeom prst="noSmoking">
            <a:avLst>
              <a:gd name="adj" fmla="val 705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A9496C1-991B-312C-0031-96670D7474D6}"/>
              </a:ext>
            </a:extLst>
          </p:cNvPr>
          <p:cNvSpPr/>
          <p:nvPr/>
        </p:nvSpPr>
        <p:spPr>
          <a:xfrm>
            <a:off x="1112251" y="2791770"/>
            <a:ext cx="1152832" cy="474358"/>
          </a:xfrm>
          <a:prstGeom prst="triangle">
            <a:avLst>
              <a:gd name="adj" fmla="val 416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14DA106-6BF0-F94B-67FD-60FB7426E165}"/>
              </a:ext>
            </a:extLst>
          </p:cNvPr>
          <p:cNvSpPr/>
          <p:nvPr/>
        </p:nvSpPr>
        <p:spPr>
          <a:xfrm flipH="1">
            <a:off x="3403940" y="2791770"/>
            <a:ext cx="1152832" cy="474358"/>
          </a:xfrm>
          <a:prstGeom prst="triangle">
            <a:avLst>
              <a:gd name="adj" fmla="val 416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37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677A24D-A5C0-159B-9A24-F2173B61C58D}"/>
              </a:ext>
            </a:extLst>
          </p:cNvPr>
          <p:cNvSpPr/>
          <p:nvPr/>
        </p:nvSpPr>
        <p:spPr>
          <a:xfrm>
            <a:off x="660748" y="5098220"/>
            <a:ext cx="1552469" cy="474358"/>
          </a:xfrm>
          <a:prstGeom prst="triangle">
            <a:avLst>
              <a:gd name="adj" fmla="val 316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08DD37-E2CD-7281-2F42-FFAF252F1DBA}"/>
              </a:ext>
            </a:extLst>
          </p:cNvPr>
          <p:cNvSpPr/>
          <p:nvPr/>
        </p:nvSpPr>
        <p:spPr>
          <a:xfrm>
            <a:off x="651891" y="2305878"/>
            <a:ext cx="1822368" cy="10854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 Styles</a:t>
            </a:r>
            <a:br>
              <a:rPr lang="en-US" dirty="0"/>
            </a:br>
            <a:r>
              <a:rPr lang="en-US" sz="2800" dirty="0"/>
              <a:t>The most common four archetypes of… </a:t>
            </a:r>
            <a:r>
              <a:rPr lang="en-US" sz="2800" i="1" dirty="0"/>
              <a:t>thirty?</a:t>
            </a:r>
            <a:r>
              <a:rPr lang="en-US" sz="2800" dirty="0"/>
              <a:t>  Really?!?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8274"/>
            <a:ext cx="2576854" cy="3970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Formal Upright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31E4C-7D6E-8C66-D3EA-BAA5DED689F3}"/>
              </a:ext>
            </a:extLst>
          </p:cNvPr>
          <p:cNvSpPr txBox="1">
            <a:spLocks/>
          </p:cNvSpPr>
          <p:nvPr/>
        </p:nvSpPr>
        <p:spPr>
          <a:xfrm>
            <a:off x="2627158" y="2165678"/>
            <a:ext cx="3024696" cy="167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Strong, proud, “yang”</a:t>
            </a:r>
          </a:p>
          <a:p>
            <a:r>
              <a:rPr lang="en-US" sz="1400" dirty="0"/>
              <a:t>Pot: unglazed earthenware; simple shape; bulging</a:t>
            </a:r>
          </a:p>
          <a:p>
            <a:r>
              <a:rPr lang="en-US" sz="1400" dirty="0"/>
              <a:t>Can be hard to develop taper, especially on conifers</a:t>
            </a:r>
            <a:endParaRPr lang="en-GB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8D2AAA-9063-612C-8ED3-7BB0257EB117}"/>
              </a:ext>
            </a:extLst>
          </p:cNvPr>
          <p:cNvSpPr txBox="1">
            <a:spLocks/>
          </p:cNvSpPr>
          <p:nvPr/>
        </p:nvSpPr>
        <p:spPr>
          <a:xfrm>
            <a:off x="6102108" y="1808274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Cascade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EF1174-AC1B-04C0-3B0D-656CB6274625}"/>
              </a:ext>
            </a:extLst>
          </p:cNvPr>
          <p:cNvSpPr txBox="1">
            <a:spLocks/>
          </p:cNvSpPr>
          <p:nvPr/>
        </p:nvSpPr>
        <p:spPr>
          <a:xfrm>
            <a:off x="8052493" y="2165678"/>
            <a:ext cx="3189247" cy="167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Flowing, falling</a:t>
            </a:r>
          </a:p>
          <a:p>
            <a:r>
              <a:rPr lang="en-US" sz="1400" dirty="0"/>
              <a:t>Pot: deep to make space</a:t>
            </a:r>
          </a:p>
          <a:p>
            <a:r>
              <a:rPr lang="en-US" sz="1400" dirty="0"/>
              <a:t>“Half-cascade” runs to base of pot; “cascade” goes below that</a:t>
            </a:r>
          </a:p>
          <a:p>
            <a:endParaRPr lang="en-US" sz="1400" dirty="0"/>
          </a:p>
          <a:p>
            <a:endParaRPr lang="en-GB" sz="1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00CBD3-C4C2-8ACF-8499-D4DF3DB0DA94}"/>
              </a:ext>
            </a:extLst>
          </p:cNvPr>
          <p:cNvSpPr txBox="1">
            <a:spLocks/>
          </p:cNvSpPr>
          <p:nvPr/>
        </p:nvSpPr>
        <p:spPr>
          <a:xfrm>
            <a:off x="677334" y="4259181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Informal Upright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718798-79AE-377D-880B-52DBF5A45C31}"/>
              </a:ext>
            </a:extLst>
          </p:cNvPr>
          <p:cNvSpPr txBox="1">
            <a:spLocks/>
          </p:cNvSpPr>
          <p:nvPr/>
        </p:nvSpPr>
        <p:spPr>
          <a:xfrm>
            <a:off x="2627158" y="4616585"/>
            <a:ext cx="3024696" cy="156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Relaxed, elegant, “yin”</a:t>
            </a:r>
          </a:p>
          <a:p>
            <a:r>
              <a:rPr lang="en-US" sz="1400" dirty="0"/>
              <a:t>Pot: glazed; fluting; flowery</a:t>
            </a:r>
          </a:p>
          <a:p>
            <a:r>
              <a:rPr lang="en-US" sz="1400" dirty="0"/>
              <a:t>Broad range of possible shapes</a:t>
            </a:r>
          </a:p>
          <a:p>
            <a:r>
              <a:rPr lang="en-US" sz="1400" dirty="0"/>
              <a:t>Basically the default style!</a:t>
            </a:r>
            <a:endParaRPr lang="en-GB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20FBA2-97AC-D995-7F46-814530763315}"/>
              </a:ext>
            </a:extLst>
          </p:cNvPr>
          <p:cNvSpPr txBox="1">
            <a:spLocks/>
          </p:cNvSpPr>
          <p:nvPr/>
        </p:nvSpPr>
        <p:spPr>
          <a:xfrm>
            <a:off x="6096000" y="4259181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Literati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56A22B6-2C00-7452-E641-D711821B9CEF}"/>
              </a:ext>
            </a:extLst>
          </p:cNvPr>
          <p:cNvSpPr txBox="1">
            <a:spLocks/>
          </p:cNvSpPr>
          <p:nvPr/>
        </p:nvSpPr>
        <p:spPr>
          <a:xfrm>
            <a:off x="8045824" y="4616584"/>
            <a:ext cx="3024696" cy="209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Solitary, melancholy, bleak</a:t>
            </a:r>
          </a:p>
          <a:p>
            <a:r>
              <a:rPr lang="en-US" sz="1400" dirty="0"/>
              <a:t>Trunk: bare, ruptured, calligraphic</a:t>
            </a:r>
          </a:p>
          <a:p>
            <a:r>
              <a:rPr lang="en-US" sz="1400" dirty="0"/>
              <a:t>Pot: small to </a:t>
            </a:r>
            <a:r>
              <a:rPr lang="en-US" sz="1400" dirty="0" err="1"/>
              <a:t>emphasise</a:t>
            </a:r>
            <a:r>
              <a:rPr lang="en-US" sz="1400" dirty="0"/>
              <a:t> plant’s extravagant loneliness</a:t>
            </a:r>
          </a:p>
          <a:p>
            <a:r>
              <a:rPr lang="en-US" sz="1400" dirty="0"/>
              <a:t>Style derived from woodcuts in classic Chinese drawing guide</a:t>
            </a:r>
            <a:endParaRPr lang="en-GB" sz="1400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5E2CE244-7E50-FFC0-A1CB-EEC86F0EB208}"/>
              </a:ext>
            </a:extLst>
          </p:cNvPr>
          <p:cNvSpPr/>
          <p:nvPr/>
        </p:nvSpPr>
        <p:spPr>
          <a:xfrm>
            <a:off x="1147882" y="2853764"/>
            <a:ext cx="858374" cy="88279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1088223-DBA3-D266-8F29-9A20353CB975}"/>
              </a:ext>
            </a:extLst>
          </p:cNvPr>
          <p:cNvSpPr/>
          <p:nvPr/>
        </p:nvSpPr>
        <p:spPr>
          <a:xfrm>
            <a:off x="928845" y="2305878"/>
            <a:ext cx="1268460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DACC2588-F4F0-9B75-1A34-1DE78D037377}"/>
              </a:ext>
            </a:extLst>
          </p:cNvPr>
          <p:cNvSpPr/>
          <p:nvPr/>
        </p:nvSpPr>
        <p:spPr>
          <a:xfrm flipV="1">
            <a:off x="833718" y="3627392"/>
            <a:ext cx="1458714" cy="397044"/>
          </a:xfrm>
          <a:prstGeom prst="trapezoid">
            <a:avLst>
              <a:gd name="adj" fmla="val 1822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6947CB1-9DA4-4939-05F5-D160E8DEB58E}"/>
              </a:ext>
            </a:extLst>
          </p:cNvPr>
          <p:cNvSpPr/>
          <p:nvPr/>
        </p:nvSpPr>
        <p:spPr>
          <a:xfrm>
            <a:off x="1354861" y="4816334"/>
            <a:ext cx="444415" cy="1236424"/>
          </a:xfrm>
          <a:custGeom>
            <a:avLst/>
            <a:gdLst>
              <a:gd name="connsiteX0" fmla="*/ 255494 w 444415"/>
              <a:gd name="connsiteY0" fmla="*/ 1236424 h 1236424"/>
              <a:gd name="connsiteX1" fmla="*/ 107576 w 444415"/>
              <a:gd name="connsiteY1" fmla="*/ 873354 h 1236424"/>
              <a:gd name="connsiteX2" fmla="*/ 443753 w 444415"/>
              <a:gd name="connsiteY2" fmla="*/ 537177 h 1236424"/>
              <a:gd name="connsiteX3" fmla="*/ 188259 w 444415"/>
              <a:gd name="connsiteY3" fmla="*/ 12742 h 1236424"/>
              <a:gd name="connsiteX4" fmla="*/ 0 w 444415"/>
              <a:gd name="connsiteY4" fmla="*/ 160660 h 123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415" h="1236424">
                <a:moveTo>
                  <a:pt x="255494" y="1236424"/>
                </a:moveTo>
                <a:cubicBezTo>
                  <a:pt x="165846" y="1113159"/>
                  <a:pt x="76199" y="989895"/>
                  <a:pt x="107576" y="873354"/>
                </a:cubicBezTo>
                <a:cubicBezTo>
                  <a:pt x="138952" y="756813"/>
                  <a:pt x="430306" y="680612"/>
                  <a:pt x="443753" y="537177"/>
                </a:cubicBezTo>
                <a:cubicBezTo>
                  <a:pt x="457200" y="393742"/>
                  <a:pt x="262218" y="75495"/>
                  <a:pt x="188259" y="12742"/>
                </a:cubicBezTo>
                <a:cubicBezTo>
                  <a:pt x="114300" y="-50011"/>
                  <a:pt x="26894" y="138248"/>
                  <a:pt x="0" y="160660"/>
                </a:cubicBezTo>
              </a:path>
            </a:pathLst>
          </a:custGeom>
          <a:noFill/>
          <a:ln w="2286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44154427-6386-C906-BC32-CB49DA45C293}"/>
              </a:ext>
            </a:extLst>
          </p:cNvPr>
          <p:cNvSpPr/>
          <p:nvPr/>
        </p:nvSpPr>
        <p:spPr>
          <a:xfrm flipV="1">
            <a:off x="829916" y="5889811"/>
            <a:ext cx="1458714" cy="293709"/>
          </a:xfrm>
          <a:prstGeom prst="trapezoid">
            <a:avLst>
              <a:gd name="adj" fmla="val 4870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28FB484-0C07-9E36-089F-B673E87B3FB8}"/>
              </a:ext>
            </a:extLst>
          </p:cNvPr>
          <p:cNvSpPr/>
          <p:nvPr/>
        </p:nvSpPr>
        <p:spPr>
          <a:xfrm>
            <a:off x="919736" y="4581582"/>
            <a:ext cx="1359785" cy="55362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0E40B26-21E0-C2BE-04E9-E6372E1C9DD9}"/>
              </a:ext>
            </a:extLst>
          </p:cNvPr>
          <p:cNvSpPr/>
          <p:nvPr/>
        </p:nvSpPr>
        <p:spPr>
          <a:xfrm>
            <a:off x="6497021" y="2645640"/>
            <a:ext cx="1398494" cy="1122073"/>
          </a:xfrm>
          <a:custGeom>
            <a:avLst/>
            <a:gdLst>
              <a:gd name="connsiteX0" fmla="*/ 0 w 1398494"/>
              <a:gd name="connsiteY0" fmla="*/ 543515 h 1122073"/>
              <a:gd name="connsiteX1" fmla="*/ 242047 w 1398494"/>
              <a:gd name="connsiteY1" fmla="*/ 32527 h 1122073"/>
              <a:gd name="connsiteX2" fmla="*/ 685800 w 1398494"/>
              <a:gd name="connsiteY2" fmla="*/ 99762 h 1122073"/>
              <a:gd name="connsiteX3" fmla="*/ 927847 w 1398494"/>
              <a:gd name="connsiteY3" fmla="*/ 489727 h 1122073"/>
              <a:gd name="connsiteX4" fmla="*/ 699247 w 1398494"/>
              <a:gd name="connsiteY4" fmla="*/ 718327 h 1122073"/>
              <a:gd name="connsiteX5" fmla="*/ 1021977 w 1398494"/>
              <a:gd name="connsiteY5" fmla="*/ 852798 h 1122073"/>
              <a:gd name="connsiteX6" fmla="*/ 739588 w 1398494"/>
              <a:gd name="connsiteY6" fmla="*/ 987268 h 1122073"/>
              <a:gd name="connsiteX7" fmla="*/ 1398494 w 1398494"/>
              <a:gd name="connsiteY7" fmla="*/ 1121739 h 1122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98494" h="1122073">
                <a:moveTo>
                  <a:pt x="0" y="543515"/>
                </a:moveTo>
                <a:cubicBezTo>
                  <a:pt x="63873" y="325000"/>
                  <a:pt x="127747" y="106486"/>
                  <a:pt x="242047" y="32527"/>
                </a:cubicBezTo>
                <a:cubicBezTo>
                  <a:pt x="356347" y="-41432"/>
                  <a:pt x="571500" y="23562"/>
                  <a:pt x="685800" y="99762"/>
                </a:cubicBezTo>
                <a:cubicBezTo>
                  <a:pt x="800100" y="175962"/>
                  <a:pt x="925606" y="386633"/>
                  <a:pt x="927847" y="489727"/>
                </a:cubicBezTo>
                <a:cubicBezTo>
                  <a:pt x="930088" y="592821"/>
                  <a:pt x="683559" y="657815"/>
                  <a:pt x="699247" y="718327"/>
                </a:cubicBezTo>
                <a:cubicBezTo>
                  <a:pt x="714935" y="778839"/>
                  <a:pt x="1015254" y="807975"/>
                  <a:pt x="1021977" y="852798"/>
                </a:cubicBezTo>
                <a:cubicBezTo>
                  <a:pt x="1028700" y="897621"/>
                  <a:pt x="676835" y="942445"/>
                  <a:pt x="739588" y="987268"/>
                </a:cubicBezTo>
                <a:cubicBezTo>
                  <a:pt x="802341" y="1032092"/>
                  <a:pt x="1329018" y="1128462"/>
                  <a:pt x="1398494" y="1121739"/>
                </a:cubicBezTo>
              </a:path>
            </a:pathLst>
          </a:custGeom>
          <a:noFill/>
          <a:ln w="1016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CEE1803A-2129-D414-2C1D-C7DA64F1A04A}"/>
              </a:ext>
            </a:extLst>
          </p:cNvPr>
          <p:cNvSpPr/>
          <p:nvPr/>
        </p:nvSpPr>
        <p:spPr>
          <a:xfrm flipV="1">
            <a:off x="6081707" y="2949975"/>
            <a:ext cx="850814" cy="684336"/>
          </a:xfrm>
          <a:prstGeom prst="trapezoid">
            <a:avLst>
              <a:gd name="adj" fmla="val 2055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5EC5AD5-C9C0-6597-8276-AC6F5604991D}"/>
              </a:ext>
            </a:extLst>
          </p:cNvPr>
          <p:cNvSpPr/>
          <p:nvPr/>
        </p:nvSpPr>
        <p:spPr>
          <a:xfrm>
            <a:off x="6819546" y="2274325"/>
            <a:ext cx="1050588" cy="47116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056FC23-AD84-3346-0119-9B3E923F64A8}"/>
              </a:ext>
            </a:extLst>
          </p:cNvPr>
          <p:cNvSpPr/>
          <p:nvPr/>
        </p:nvSpPr>
        <p:spPr>
          <a:xfrm>
            <a:off x="6098714" y="2466846"/>
            <a:ext cx="643062" cy="31278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A08FD15-C66B-8CB1-A7A7-8FED5A3501C6}"/>
              </a:ext>
            </a:extLst>
          </p:cNvPr>
          <p:cNvSpPr/>
          <p:nvPr/>
        </p:nvSpPr>
        <p:spPr>
          <a:xfrm>
            <a:off x="6807686" y="2929704"/>
            <a:ext cx="651180" cy="4412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879D670-A028-604F-1809-8BD75A672B76}"/>
              </a:ext>
            </a:extLst>
          </p:cNvPr>
          <p:cNvSpPr/>
          <p:nvPr/>
        </p:nvSpPr>
        <p:spPr>
          <a:xfrm>
            <a:off x="7435390" y="3391361"/>
            <a:ext cx="858432" cy="56539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7FAC7FB-5F6C-76BB-8329-D5414813E0EB}"/>
              </a:ext>
            </a:extLst>
          </p:cNvPr>
          <p:cNvSpPr/>
          <p:nvPr/>
        </p:nvSpPr>
        <p:spPr>
          <a:xfrm>
            <a:off x="6358191" y="4919631"/>
            <a:ext cx="723935" cy="1133127"/>
          </a:xfrm>
          <a:custGeom>
            <a:avLst/>
            <a:gdLst>
              <a:gd name="connsiteX0" fmla="*/ 408161 w 723935"/>
              <a:gd name="connsiteY0" fmla="*/ 1101341 h 1101341"/>
              <a:gd name="connsiteX1" fmla="*/ 520702 w 723935"/>
              <a:gd name="connsiteY1" fmla="*/ 693378 h 1101341"/>
              <a:gd name="connsiteX2" fmla="*/ 14265 w 723935"/>
              <a:gd name="connsiteY2" fmla="*/ 172874 h 1101341"/>
              <a:gd name="connsiteX3" fmla="*/ 169010 w 723935"/>
              <a:gd name="connsiteY3" fmla="*/ 215077 h 1101341"/>
              <a:gd name="connsiteX4" fmla="*/ 478499 w 723935"/>
              <a:gd name="connsiteY4" fmla="*/ 201009 h 1101341"/>
              <a:gd name="connsiteX5" fmla="*/ 717650 w 723935"/>
              <a:gd name="connsiteY5" fmla="*/ 46264 h 1101341"/>
              <a:gd name="connsiteX6" fmla="*/ 633244 w 723935"/>
              <a:gd name="connsiteY6" fmla="*/ 4061 h 1101341"/>
              <a:gd name="connsiteX7" fmla="*/ 408161 w 723935"/>
              <a:gd name="connsiteY7" fmla="*/ 4061 h 110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3935" h="1101341">
                <a:moveTo>
                  <a:pt x="408161" y="1101341"/>
                </a:moveTo>
                <a:cubicBezTo>
                  <a:pt x="497256" y="974731"/>
                  <a:pt x="586351" y="848122"/>
                  <a:pt x="520702" y="693378"/>
                </a:cubicBezTo>
                <a:cubicBezTo>
                  <a:pt x="455053" y="538634"/>
                  <a:pt x="72880" y="252591"/>
                  <a:pt x="14265" y="172874"/>
                </a:cubicBezTo>
                <a:cubicBezTo>
                  <a:pt x="-44350" y="93157"/>
                  <a:pt x="91638" y="210388"/>
                  <a:pt x="169010" y="215077"/>
                </a:cubicBezTo>
                <a:cubicBezTo>
                  <a:pt x="246382" y="219766"/>
                  <a:pt x="387059" y="229144"/>
                  <a:pt x="478499" y="201009"/>
                </a:cubicBezTo>
                <a:cubicBezTo>
                  <a:pt x="569939" y="172874"/>
                  <a:pt x="691859" y="79089"/>
                  <a:pt x="717650" y="46264"/>
                </a:cubicBezTo>
                <a:cubicBezTo>
                  <a:pt x="743441" y="13439"/>
                  <a:pt x="684825" y="11095"/>
                  <a:pt x="633244" y="4061"/>
                </a:cubicBezTo>
                <a:cubicBezTo>
                  <a:pt x="581663" y="-2973"/>
                  <a:pt x="494912" y="544"/>
                  <a:pt x="408161" y="4061"/>
                </a:cubicBezTo>
              </a:path>
            </a:pathLst>
          </a:custGeom>
          <a:noFill/>
          <a:ln w="889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8B34B69E-6200-0A4F-1D6A-1615D536189B}"/>
              </a:ext>
            </a:extLst>
          </p:cNvPr>
          <p:cNvSpPr/>
          <p:nvPr/>
        </p:nvSpPr>
        <p:spPr>
          <a:xfrm rot="897493">
            <a:off x="6623921" y="4702728"/>
            <a:ext cx="843548" cy="349757"/>
          </a:xfrm>
          <a:prstGeom prst="triangle">
            <a:avLst>
              <a:gd name="adj" fmla="val 3227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FEAAF144-F458-9FB3-9F36-F49D14EDB6CB}"/>
              </a:ext>
            </a:extLst>
          </p:cNvPr>
          <p:cNvSpPr/>
          <p:nvPr/>
        </p:nvSpPr>
        <p:spPr>
          <a:xfrm flipV="1">
            <a:off x="6261497" y="5867940"/>
            <a:ext cx="936058" cy="337450"/>
          </a:xfrm>
          <a:prstGeom prst="trapezoid">
            <a:avLst>
              <a:gd name="adj" fmla="val 3018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4841AEB-06AF-20C1-66BB-4098825498BB}"/>
              </a:ext>
            </a:extLst>
          </p:cNvPr>
          <p:cNvSpPr/>
          <p:nvPr/>
        </p:nvSpPr>
        <p:spPr>
          <a:xfrm>
            <a:off x="1426179" y="5093118"/>
            <a:ext cx="933769" cy="293710"/>
          </a:xfrm>
          <a:prstGeom prst="triangle">
            <a:avLst>
              <a:gd name="adj" fmla="val 6975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4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01545-C12C-62BA-6D39-B5D9034B4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Miscellaneous Technical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87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Repotting step-by-step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003977"/>
            <a:ext cx="4184035" cy="48271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Regular repotting – often back into the same pot! - helps limit tree size via “root-to-shoot ratio”</a:t>
            </a:r>
          </a:p>
          <a:p>
            <a:pPr marL="0" indent="0">
              <a:buNone/>
            </a:pPr>
            <a:r>
              <a:rPr lang="en-US" dirty="0"/>
              <a:t>1. Prepare pot</a:t>
            </a:r>
          </a:p>
          <a:p>
            <a:r>
              <a:rPr lang="en-US" sz="1600" dirty="0"/>
              <a:t>Pick a (tentative) pot</a:t>
            </a:r>
          </a:p>
          <a:p>
            <a:r>
              <a:rPr lang="en-US" sz="1600" dirty="0"/>
              <a:t>Scrub clean</a:t>
            </a:r>
          </a:p>
          <a:p>
            <a:r>
              <a:rPr lang="en-US" sz="1600" dirty="0"/>
              <a:t>Staple mesh over holes</a:t>
            </a:r>
          </a:p>
          <a:p>
            <a:r>
              <a:rPr lang="en-US" sz="1600" dirty="0"/>
              <a:t>Add guy wires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2. Prepare tree</a:t>
            </a:r>
          </a:p>
          <a:p>
            <a:r>
              <a:rPr lang="en-US" sz="1600" dirty="0"/>
              <a:t>Remove from pot</a:t>
            </a:r>
          </a:p>
          <a:p>
            <a:r>
              <a:rPr lang="en-US" sz="1600" dirty="0"/>
              <a:t>Clean off soil surface</a:t>
            </a:r>
          </a:p>
          <a:p>
            <a:r>
              <a:rPr lang="en-US" sz="1600" dirty="0"/>
              <a:t>Dig down to expose </a:t>
            </a:r>
            <a:r>
              <a:rPr lang="en-US" sz="1600" dirty="0" err="1"/>
              <a:t>nebari</a:t>
            </a:r>
            <a:endParaRPr lang="en-US" sz="1600" dirty="0"/>
          </a:p>
          <a:p>
            <a:r>
              <a:rPr lang="en-US" sz="1600" dirty="0"/>
              <a:t>Choose “front” if not already clear</a:t>
            </a:r>
          </a:p>
          <a:p>
            <a:r>
              <a:rPr lang="en-US" sz="1600" dirty="0"/>
              <a:t>Dig up / in to define root-ball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E138C-6EE5-2895-CC89-8FB90D5D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030872"/>
            <a:ext cx="4793618" cy="4827128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Untangle lateral roots where poss. (esp. girdling roots)</a:t>
            </a:r>
          </a:p>
          <a:p>
            <a:r>
              <a:rPr lang="en-US" sz="1600" dirty="0"/>
              <a:t>Clear any growth from lower trunk</a:t>
            </a:r>
          </a:p>
          <a:p>
            <a:r>
              <a:rPr lang="en-US" sz="1600" dirty="0"/>
              <a:t>Spray with water if starting to dry!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3. Insert tree into pot</a:t>
            </a:r>
          </a:p>
          <a:p>
            <a:r>
              <a:rPr lang="en-US" sz="1600" dirty="0"/>
              <a:t>Add shallow layer of soil to base</a:t>
            </a:r>
          </a:p>
          <a:p>
            <a:r>
              <a:rPr lang="en-US" sz="1600" dirty="0"/>
              <a:t>Place root ball in pot and pack soil around</a:t>
            </a:r>
          </a:p>
          <a:p>
            <a:r>
              <a:rPr lang="en-US" sz="1600" dirty="0"/>
              <a:t>Compress soil to “brownie” hardness</a:t>
            </a:r>
          </a:p>
          <a:p>
            <a:r>
              <a:rPr lang="en-GB" sz="1600" dirty="0"/>
              <a:t>Pull guy wires over root ball, twist pairs together tightly, and trim to 3-4 twists</a:t>
            </a:r>
          </a:p>
          <a:p>
            <a:r>
              <a:rPr lang="en-GB" sz="1600" dirty="0"/>
              <a:t>Cover with dried, grated, rehydrated sphagnum and compress surface</a:t>
            </a:r>
          </a:p>
          <a:p>
            <a:r>
              <a:rPr lang="en-GB" sz="1600" dirty="0"/>
              <a:t>Sprinkle with grated acrocarpous (upward-growing) moss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88A698-1B8F-B677-8398-81A09942F302}"/>
              </a:ext>
            </a:extLst>
          </p:cNvPr>
          <p:cNvGrpSpPr/>
          <p:nvPr/>
        </p:nvGrpSpPr>
        <p:grpSpPr>
          <a:xfrm>
            <a:off x="9827929" y="2363990"/>
            <a:ext cx="1030866" cy="1351658"/>
            <a:chOff x="8039533" y="461124"/>
            <a:chExt cx="1030866" cy="135165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EC410-6382-2278-6BC8-379809AED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70890" y="1105663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D64AB5A-2961-F3BA-71E5-992EC8622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9047" y="97727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8ACB9E-2DC2-6D77-D4B3-7039D5E305AB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97207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B198F4-23D6-438B-6134-B77D58088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46631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795A00C-7353-F6C4-1D2D-E23F06B8892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461124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569753-E957-CB17-3263-D4DB191DE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589517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809435-49A5-52AD-076A-9BB385F47C6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594712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749D662-44A7-A51B-320A-F15042DDC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714614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4394438-38CE-B736-B576-A1BA2D9BEA5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709419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5788213-C586-97C6-A3DC-8EE745AA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837812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7EE0124-D309-EF76-8581-20BEDBB15570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843007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583E3F5-A0E3-7530-3544-C4EB3E8CEE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9533" y="1556548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3AF4AA-7DC4-0624-177B-7A07A2CCCB2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00194" y="1497104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0664D4D-8A63-A248-C074-06C61DCCF09C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1100991"/>
              <a:ext cx="56826" cy="80434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4EDE3BE-6070-E7E6-A0DE-32C76DAB1A52}"/>
              </a:ext>
            </a:extLst>
          </p:cNvPr>
          <p:cNvGrpSpPr/>
          <p:nvPr/>
        </p:nvGrpSpPr>
        <p:grpSpPr>
          <a:xfrm>
            <a:off x="9413203" y="4385879"/>
            <a:ext cx="1385604" cy="768424"/>
            <a:chOff x="9978711" y="418145"/>
            <a:chExt cx="1385604" cy="768424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75FD03C-461E-22B9-9B74-069B83E4B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3823" y="934291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C6C5F56-C05E-23FE-D398-C82B33703B5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823" y="929096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C2E5AE8-D5FE-D8A9-7E1D-2A0A71DFF4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42334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B4F20D2-E942-BB86-131E-DA5630B626D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41814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7EBE58-5E45-4713-088F-2F8775FA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54653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8F6A03E-B52A-BB49-4B7E-712FC94DA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55173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69F7847-1340-8F6D-6DC3-EC23B61990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67163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886420-000E-2CB7-AE3C-78B6688C52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66644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9DE52C7-2A2A-54AA-E0A1-F6BE7756F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7948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04068AF-3AD1-A893-5F24-81DE6E8558BA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80002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7A112-A610-3D05-0D21-294880DAEE66}"/>
                </a:ext>
              </a:extLst>
            </p:cNvPr>
            <p:cNvCxnSpPr>
              <a:cxnSpLocks/>
            </p:cNvCxnSpPr>
            <p:nvPr/>
          </p:nvCxnSpPr>
          <p:spPr>
            <a:xfrm>
              <a:off x="9978711" y="1183972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01B64A1-AE15-C51C-0A78-4FDE00F6850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732958" y="1177391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7CE0D85-3B97-C573-513E-5C3378285C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10579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8BED534-07A4-E01C-F8C6-3BBF34E9470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419" y="105748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3" name="Content Placeholder 14">
            <a:extLst>
              <a:ext uri="{FF2B5EF4-FFF2-40B4-BE49-F238E27FC236}">
                <a16:creationId xmlns:a16="http://schemas.microsoft.com/office/drawing/2014/main" id="{6AEBBF43-3DE4-BA02-F559-B50D47623293}"/>
              </a:ext>
            </a:extLst>
          </p:cNvPr>
          <p:cNvSpPr txBox="1">
            <a:spLocks/>
          </p:cNvSpPr>
          <p:nvPr/>
        </p:nvSpPr>
        <p:spPr>
          <a:xfrm>
            <a:off x="10592041" y="184513"/>
            <a:ext cx="779400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</a:t>
            </a:r>
            <a:endParaRPr lang="en-GB" sz="4800" dirty="0"/>
          </a:p>
        </p:txBody>
      </p:sp>
      <p:sp>
        <p:nvSpPr>
          <p:cNvPr id="84" name="Content Placeholder 14">
            <a:extLst>
              <a:ext uri="{FF2B5EF4-FFF2-40B4-BE49-F238E27FC236}">
                <a16:creationId xmlns:a16="http://schemas.microsoft.com/office/drawing/2014/main" id="{829A34D9-FAAB-E6B2-51AD-C5AE2ED45D35}"/>
              </a:ext>
            </a:extLst>
          </p:cNvPr>
          <p:cNvSpPr txBox="1">
            <a:spLocks/>
          </p:cNvSpPr>
          <p:nvPr/>
        </p:nvSpPr>
        <p:spPr>
          <a:xfrm>
            <a:off x="10203071" y="4024328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85" name="Content Placeholder 14">
            <a:extLst>
              <a:ext uri="{FF2B5EF4-FFF2-40B4-BE49-F238E27FC236}">
                <a16:creationId xmlns:a16="http://schemas.microsoft.com/office/drawing/2014/main" id="{36133E30-870D-42DA-4C7A-8C63BBB627D2}"/>
              </a:ext>
            </a:extLst>
          </p:cNvPr>
          <p:cNvSpPr txBox="1">
            <a:spLocks/>
          </p:cNvSpPr>
          <p:nvPr/>
        </p:nvSpPr>
        <p:spPr>
          <a:xfrm>
            <a:off x="9918000" y="2096153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91" name="Content Placeholder 14">
            <a:extLst>
              <a:ext uri="{FF2B5EF4-FFF2-40B4-BE49-F238E27FC236}">
                <a16:creationId xmlns:a16="http://schemas.microsoft.com/office/drawing/2014/main" id="{9827E5BC-9E9B-2649-3F93-4350DF1BBD74}"/>
              </a:ext>
            </a:extLst>
          </p:cNvPr>
          <p:cNvSpPr txBox="1">
            <a:spLocks/>
          </p:cNvSpPr>
          <p:nvPr/>
        </p:nvSpPr>
        <p:spPr>
          <a:xfrm>
            <a:off x="9661002" y="2575899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sp>
        <p:nvSpPr>
          <p:cNvPr id="92" name="Content Placeholder 14">
            <a:extLst>
              <a:ext uri="{FF2B5EF4-FFF2-40B4-BE49-F238E27FC236}">
                <a16:creationId xmlns:a16="http://schemas.microsoft.com/office/drawing/2014/main" id="{90E3E99F-275C-53D4-CCFE-51936BAC5830}"/>
              </a:ext>
            </a:extLst>
          </p:cNvPr>
          <p:cNvSpPr txBox="1">
            <a:spLocks/>
          </p:cNvSpPr>
          <p:nvPr/>
        </p:nvSpPr>
        <p:spPr>
          <a:xfrm>
            <a:off x="10106037" y="4445820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30D3693-DA29-88FB-0B3D-1BCA34BE6D28}"/>
              </a:ext>
            </a:extLst>
          </p:cNvPr>
          <p:cNvGrpSpPr/>
          <p:nvPr/>
        </p:nvGrpSpPr>
        <p:grpSpPr>
          <a:xfrm>
            <a:off x="9036026" y="280181"/>
            <a:ext cx="2151401" cy="1573895"/>
            <a:chOff x="5482687" y="265988"/>
            <a:chExt cx="2151401" cy="157389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08A7AE-71FD-74E8-30B5-F2B23C5006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931" y="1058429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1680F51-9233-1062-44B6-DD5EA8BFDA5C}"/>
                </a:ext>
              </a:extLst>
            </p:cNvPr>
            <p:cNvCxnSpPr>
              <a:cxnSpLocks/>
            </p:cNvCxnSpPr>
            <p:nvPr/>
          </p:nvCxnSpPr>
          <p:spPr>
            <a:xfrm>
              <a:off x="6610283" y="1058429"/>
              <a:ext cx="392448" cy="45608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AA6F68-6BF7-5F51-2A65-3C574D971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5088" y="930036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A37A6E-F7A8-2AB7-2EB4-B9E5744C4D28}"/>
                </a:ext>
              </a:extLst>
            </p:cNvPr>
            <p:cNvCxnSpPr>
              <a:cxnSpLocks/>
            </p:cNvCxnSpPr>
            <p:nvPr/>
          </p:nvCxnSpPr>
          <p:spPr>
            <a:xfrm>
              <a:off x="6605088" y="924841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610C1-037E-6882-A44B-235EDE272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41908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E7705B-BE8E-CD75-70B2-B7FF1BAAD06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41389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2D97B54-FDE0-15C8-A226-197DA1D6F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54228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EA44C5-EFD8-0B30-D5B7-D0B866EE35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54747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EEF653A-A3F6-0603-BCF5-11786E9C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66738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0B9832-5B15-3557-95B7-02263AF5A8A2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66218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C98D3B-FB97-2CED-889A-D5340C9F2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79057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5473C8-7A8C-06CB-518D-7DD49D34467B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79577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9DC6D1-9D89-5ED9-DBAB-0DAF6F31163F}"/>
                </a:ext>
              </a:extLst>
            </p:cNvPr>
            <p:cNvCxnSpPr>
              <a:cxnSpLocks/>
            </p:cNvCxnSpPr>
            <p:nvPr/>
          </p:nvCxnSpPr>
          <p:spPr>
            <a:xfrm>
              <a:off x="5685574" y="1509314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9A80AD-D6BD-653D-76E1-31A188E1160F}"/>
                </a:ext>
              </a:extLst>
            </p:cNvPr>
            <p:cNvCxnSpPr>
              <a:cxnSpLocks/>
            </p:cNvCxnSpPr>
            <p:nvPr/>
          </p:nvCxnSpPr>
          <p:spPr>
            <a:xfrm>
              <a:off x="7002731" y="1515935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29D8696-F002-A6D9-E19F-EC18A2B45CA4}"/>
                </a:ext>
              </a:extLst>
            </p:cNvPr>
            <p:cNvSpPr/>
            <p:nvPr/>
          </p:nvSpPr>
          <p:spPr>
            <a:xfrm>
              <a:off x="5932468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5DBC28-D8E0-FF72-60C2-129C7922EE19}"/>
                </a:ext>
              </a:extLst>
            </p:cNvPr>
            <p:cNvSpPr/>
            <p:nvPr/>
          </p:nvSpPr>
          <p:spPr>
            <a:xfrm>
              <a:off x="6963032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80396236-D399-B238-3840-B36582C2DB32}"/>
                </a:ext>
              </a:extLst>
            </p:cNvPr>
            <p:cNvSpPr/>
            <p:nvPr/>
          </p:nvSpPr>
          <p:spPr>
            <a:xfrm rot="3653847">
              <a:off x="6101579" y="1259583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D88DE27-3A4D-2E66-FCEA-CE27B7F452FE}"/>
                </a:ext>
              </a:extLst>
            </p:cNvPr>
            <p:cNvSpPr/>
            <p:nvPr/>
          </p:nvSpPr>
          <p:spPr>
            <a:xfrm rot="16200000" flipV="1">
              <a:off x="6703163" y="301157"/>
              <a:ext cx="243140" cy="172801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9A236D-BA21-9B2E-9E86-C7FA0DE60597}"/>
                </a:ext>
              </a:extLst>
            </p:cNvPr>
            <p:cNvCxnSpPr/>
            <p:nvPr/>
          </p:nvCxnSpPr>
          <p:spPr>
            <a:xfrm flipH="1">
              <a:off x="6648385" y="1171849"/>
              <a:ext cx="14774" cy="6680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F8473AB6-8396-D456-63CF-0673E698F1AE}"/>
                </a:ext>
              </a:extLst>
            </p:cNvPr>
            <p:cNvSpPr/>
            <p:nvPr/>
          </p:nvSpPr>
          <p:spPr>
            <a:xfrm rot="17946153" flipH="1">
              <a:off x="6962441" y="1267198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62007DC9-1451-BCDC-BDE2-BB84BDFBD64F}"/>
                </a:ext>
              </a:extLst>
            </p:cNvPr>
            <p:cNvSpPr/>
            <p:nvPr/>
          </p:nvSpPr>
          <p:spPr>
            <a:xfrm flipV="1">
              <a:off x="6353610" y="815879"/>
              <a:ext cx="619097" cy="619097"/>
            </a:xfrm>
            <a:prstGeom prst="blockArc">
              <a:avLst>
                <a:gd name="adj1" fmla="val 14017464"/>
                <a:gd name="adj2" fmla="val 18461169"/>
                <a:gd name="adj3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3" name="Content Placeholder 14">
              <a:extLst>
                <a:ext uri="{FF2B5EF4-FFF2-40B4-BE49-F238E27FC236}">
                  <a16:creationId xmlns:a16="http://schemas.microsoft.com/office/drawing/2014/main" id="{1FA3939F-35E2-287B-9B2B-42C59C6039E8}"/>
                </a:ext>
              </a:extLst>
            </p:cNvPr>
            <p:cNvSpPr txBox="1">
              <a:spLocks/>
            </p:cNvSpPr>
            <p:nvPr/>
          </p:nvSpPr>
          <p:spPr>
            <a:xfrm>
              <a:off x="5482687" y="752490"/>
              <a:ext cx="1070011" cy="36259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fingers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76472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66712</TotalTime>
  <Words>1039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Trebuchet MS</vt:lpstr>
      <vt:lpstr>Wingdings</vt:lpstr>
      <vt:lpstr>Wingdings 3</vt:lpstr>
      <vt:lpstr>Facet</vt:lpstr>
      <vt:lpstr>An Evening of Bonsai Session B: Bonsai Aesthetics</vt:lpstr>
      <vt:lpstr>Learning Outcomes </vt:lpstr>
      <vt:lpstr>Recap</vt:lpstr>
      <vt:lpstr>Bonsai: Art &amp; Science </vt:lpstr>
      <vt:lpstr>I Had One Once, But It Died What a bonsai needs to survive</vt:lpstr>
      <vt:lpstr>Authenticity &amp; Drama</vt:lpstr>
      <vt:lpstr>Arboriculture 101 What shapes a tree?</vt:lpstr>
      <vt:lpstr>Authenticity &amp; Age What makes a tree look mature?</vt:lpstr>
      <vt:lpstr>Art à la Japan Catching the eye</vt:lpstr>
      <vt:lpstr>Drama &amp; Perspective What makes a tree stand out?</vt:lpstr>
      <vt:lpstr>Flaws What gives the game away?</vt:lpstr>
      <vt:lpstr>Bonsai Styles The most common four archetypes of… thirty?  Really?!?</vt:lpstr>
      <vt:lpstr>Appendices</vt:lpstr>
      <vt:lpstr>Repotting step-by-step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Bonsai On A Budget</dc:title>
  <dc:creator>Alex Labram</dc:creator>
  <cp:lastModifiedBy>Alex Labram</cp:lastModifiedBy>
  <cp:revision>53</cp:revision>
  <dcterms:created xsi:type="dcterms:W3CDTF">2024-04-06T11:33:48Z</dcterms:created>
  <dcterms:modified xsi:type="dcterms:W3CDTF">2025-10-08T16:25:36Z</dcterms:modified>
</cp:coreProperties>
</file>