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0" r:id="rId1"/>
  </p:sldMasterIdLst>
  <p:notesMasterIdLst>
    <p:notesMasterId r:id="rId56"/>
  </p:notesMasterIdLst>
  <p:sldIdLst>
    <p:sldId id="256" r:id="rId2"/>
    <p:sldId id="257" r:id="rId3"/>
    <p:sldId id="282" r:id="rId4"/>
    <p:sldId id="258" r:id="rId5"/>
    <p:sldId id="260" r:id="rId6"/>
    <p:sldId id="262" r:id="rId7"/>
    <p:sldId id="265" r:id="rId8"/>
    <p:sldId id="266" r:id="rId9"/>
    <p:sldId id="283" r:id="rId10"/>
    <p:sldId id="263" r:id="rId11"/>
    <p:sldId id="277" r:id="rId12"/>
    <p:sldId id="267" r:id="rId13"/>
    <p:sldId id="281" r:id="rId14"/>
    <p:sldId id="271" r:id="rId15"/>
    <p:sldId id="272" r:id="rId16"/>
    <p:sldId id="259" r:id="rId17"/>
    <p:sldId id="264" r:id="rId18"/>
    <p:sldId id="279" r:id="rId19"/>
    <p:sldId id="290" r:id="rId20"/>
    <p:sldId id="315" r:id="rId21"/>
    <p:sldId id="299" r:id="rId22"/>
    <p:sldId id="300" r:id="rId23"/>
    <p:sldId id="302" r:id="rId24"/>
    <p:sldId id="273" r:id="rId25"/>
    <p:sldId id="293" r:id="rId26"/>
    <p:sldId id="301" r:id="rId27"/>
    <p:sldId id="294" r:id="rId28"/>
    <p:sldId id="295" r:id="rId29"/>
    <p:sldId id="318" r:id="rId30"/>
    <p:sldId id="319" r:id="rId31"/>
    <p:sldId id="303" r:id="rId32"/>
    <p:sldId id="289" r:id="rId33"/>
    <p:sldId id="296" r:id="rId34"/>
    <p:sldId id="297" r:id="rId35"/>
    <p:sldId id="276" r:id="rId36"/>
    <p:sldId id="278" r:id="rId37"/>
    <p:sldId id="286" r:id="rId38"/>
    <p:sldId id="261" r:id="rId39"/>
    <p:sldId id="285" r:id="rId40"/>
    <p:sldId id="298" r:id="rId41"/>
    <p:sldId id="317" r:id="rId42"/>
    <p:sldId id="316" r:id="rId43"/>
    <p:sldId id="275" r:id="rId44"/>
    <p:sldId id="304" r:id="rId45"/>
    <p:sldId id="305" r:id="rId46"/>
    <p:sldId id="306" r:id="rId47"/>
    <p:sldId id="308" r:id="rId48"/>
    <p:sldId id="287" r:id="rId49"/>
    <p:sldId id="309" r:id="rId50"/>
    <p:sldId id="310" r:id="rId51"/>
    <p:sldId id="311" r:id="rId52"/>
    <p:sldId id="312" r:id="rId53"/>
    <p:sldId id="313" r:id="rId54"/>
    <p:sldId id="314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9000DBD-DD57-B9F5-1E22-669DF19DD1E1}" name="Alex Labram" initials="AL" userId="1b91434870779e5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4E5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9" autoAdjust="0"/>
    <p:restoredTop sz="94660"/>
  </p:normalViewPr>
  <p:slideViewPr>
    <p:cSldViewPr snapToGrid="0">
      <p:cViewPr varScale="1">
        <p:scale>
          <a:sx n="71" d="100"/>
          <a:sy n="71" d="100"/>
        </p:scale>
        <p:origin x="7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8/10/relationships/authors" Target="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04D6C-E348-4888-BF53-7D9093580813}" type="datetimeFigureOut">
              <a:rPr lang="en-GB" smtClean="0"/>
              <a:t>29/12/2025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E7104-07E6-4433-AFA2-7ACC21A327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047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DE7104-07E6-4433-AFA2-7ACC21A3279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335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182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9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561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96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0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471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34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30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47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944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5069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4819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78208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675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0448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98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776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Bonsai On A Budget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MMM YYYY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0FED29D-3814-2F10-FB43-1B9F6C93C75F}"/>
              </a:ext>
            </a:extLst>
          </p:cNvPr>
          <p:cNvGrpSpPr/>
          <p:nvPr/>
        </p:nvGrpSpPr>
        <p:grpSpPr>
          <a:xfrm>
            <a:off x="606114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662E7D7-465D-67E7-297B-300075C201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0982023-5837-5127-BA43-D3D613DB4D9F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44657419-78E6-1361-CF7A-12B75EC3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997" y="4914253"/>
            <a:ext cx="2649282" cy="1240600"/>
          </a:xfrm>
          <a:prstGeom prst="rect">
            <a:avLst/>
          </a:prstGeom>
          <a:solidFill>
            <a:srgbClr val="4E5F3F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6F5E04-C1D0-78A3-64DD-C1230C15C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0926" y="4599282"/>
            <a:ext cx="1943746" cy="194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73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985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What &amp; Why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Defining bonsai</a:t>
            </a:r>
          </a:p>
          <a:p>
            <a:r>
              <a:rPr lang="en-US" sz="1600" dirty="0"/>
              <a:t>A bonsai is a </a:t>
            </a:r>
            <a:r>
              <a:rPr lang="en-US" sz="1600" b="1" dirty="0"/>
              <a:t>living trompe-l’oeil</a:t>
            </a:r>
            <a:r>
              <a:rPr lang="en-US" sz="1600" dirty="0"/>
              <a:t>: a small tree that appears to be a scaled-down large tree.</a:t>
            </a:r>
          </a:p>
          <a:p>
            <a:r>
              <a:rPr lang="en-US" sz="1600" dirty="0"/>
              <a:t>Almost any kind of tree can become a bonsai (plus a few things that aren’t trees!)</a:t>
            </a:r>
          </a:p>
          <a:p>
            <a:r>
              <a:rPr lang="en-US" sz="1600" dirty="0"/>
              <a:t>“Bonsai” traditionally referred to Japanese schools, but has become a generic term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’Sai?</a:t>
            </a:r>
          </a:p>
          <a:p>
            <a:r>
              <a:rPr lang="en-GB" sz="1600" dirty="0"/>
              <a:t>Hands-on education in plant science!</a:t>
            </a:r>
          </a:p>
          <a:p>
            <a:r>
              <a:rPr lang="en-GB" sz="1600" dirty="0"/>
              <a:t>Learn to see extra layers of beauty in nature</a:t>
            </a:r>
          </a:p>
          <a:p>
            <a:r>
              <a:rPr lang="en-GB" sz="1600" dirty="0"/>
              <a:t>Good practical hobby with interesting culture</a:t>
            </a:r>
          </a:p>
          <a:p>
            <a:r>
              <a:rPr lang="en-GB" sz="1600" dirty="0"/>
              <a:t>Sense of control and responsibility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2CAF1D-A5FB-F9D5-7210-B2FB0EDB66D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B62CF5-074B-90CC-9EEB-FCF172E4DA6F}"/>
              </a:ext>
            </a:extLst>
          </p:cNvPr>
          <p:cNvSpPr txBox="1">
            <a:spLocks/>
          </p:cNvSpPr>
          <p:nvPr/>
        </p:nvSpPr>
        <p:spPr>
          <a:xfrm>
            <a:off x="5715000" y="3862388"/>
            <a:ext cx="5069540" cy="2484624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To see a World in a Grain of Sand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a Heaven in a Wild Flower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Hold Infinity in the palm of your hand</a:t>
            </a:r>
          </a:p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And Eternity in an hour</a:t>
            </a:r>
          </a:p>
          <a:p>
            <a:pPr marL="0" indent="0" algn="r">
              <a:buNone/>
            </a:pPr>
            <a:r>
              <a:rPr lang="en-US" sz="2000" dirty="0">
                <a:solidFill>
                  <a:schemeClr val="accent2"/>
                </a:solidFill>
              </a:rPr>
              <a:t>- William Blake</a:t>
            </a:r>
            <a:endParaRPr lang="en-GB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12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 Potted History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83215"/>
            <a:ext cx="10107207" cy="49026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China</a:t>
            </a:r>
          </a:p>
          <a:p>
            <a:r>
              <a:rPr lang="en-US" dirty="0"/>
              <a:t>Daoist mysticism: recreation of magical sites in miniature</a:t>
            </a:r>
          </a:p>
          <a:p>
            <a:r>
              <a:rPr lang="en-US" dirty="0" err="1"/>
              <a:t>Penjing</a:t>
            </a:r>
            <a:r>
              <a:rPr lang="en-US" dirty="0"/>
              <a:t> (</a:t>
            </a:r>
            <a:r>
              <a:rPr lang="ja-JP" altLang="en-US" dirty="0">
                <a:effectLst/>
              </a:rPr>
              <a:t>盆景</a:t>
            </a:r>
            <a:r>
              <a:rPr lang="en-US" dirty="0"/>
              <a:t>) / </a:t>
            </a:r>
            <a:r>
              <a:rPr lang="en-US" dirty="0" err="1"/>
              <a:t>Penzei</a:t>
            </a:r>
            <a:r>
              <a:rPr lang="en-US" dirty="0"/>
              <a:t> (</a:t>
            </a:r>
            <a:r>
              <a:rPr lang="ja-JP" altLang="en-US" dirty="0"/>
              <a:t>盆栽</a:t>
            </a:r>
            <a:r>
              <a:rPr lang="en-US" dirty="0"/>
              <a:t>) = the art of miniature landscapes (pre 600AD)</a:t>
            </a:r>
          </a:p>
          <a:p>
            <a:r>
              <a:rPr lang="en-US" dirty="0"/>
              <a:t>Popular amongst Buddhist monks, and – later – aristocracy</a:t>
            </a:r>
          </a:p>
          <a:p>
            <a:r>
              <a:rPr lang="en-US" dirty="0"/>
              <a:t>Heavily impacted by Mao’s Cultural Revolution: seen as a bourgeois pastime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Japan</a:t>
            </a:r>
          </a:p>
          <a:p>
            <a:r>
              <a:rPr lang="en-US" dirty="0"/>
              <a:t>First records c. 1200AD; known as </a:t>
            </a:r>
            <a:r>
              <a:rPr lang="en-US" dirty="0" err="1"/>
              <a:t>Hachi</a:t>
            </a:r>
            <a:r>
              <a:rPr lang="en-US" dirty="0"/>
              <a:t>-no-Ki (“potted trees” – also the name of a famous play!)</a:t>
            </a:r>
          </a:p>
          <a:p>
            <a:r>
              <a:rPr lang="en-US" dirty="0"/>
              <a:t>Heavy Zen / Chan Buddhist influence: beauty through austerity, sophistication in simplicity and perfection from imperfection (“wabi-sabi”)</a:t>
            </a:r>
          </a:p>
          <a:p>
            <a:r>
              <a:rPr lang="en-US" dirty="0"/>
              <a:t>Increasingly popular from 1800s onwards; term “bonsai” (</a:t>
            </a:r>
            <a:r>
              <a:rPr lang="ja-JP" altLang="en-US" dirty="0"/>
              <a:t>盆栽 </a:t>
            </a:r>
            <a:r>
              <a:rPr lang="en-US" altLang="ja-JP" dirty="0"/>
              <a:t>– “tray planting”</a:t>
            </a:r>
            <a:r>
              <a:rPr lang="en-US" dirty="0"/>
              <a:t>) adopted</a:t>
            </a:r>
          </a:p>
          <a:p>
            <a:r>
              <a:rPr lang="en-US" dirty="0"/>
              <a:t>Development of distinct styles (dramatic archetypes)</a:t>
            </a:r>
          </a:p>
          <a:p>
            <a:r>
              <a:rPr lang="en-US" dirty="0"/>
              <a:t>Hit hard by World War 2, but revived in the aftermath (partly from enthusiasm of GIs)</a:t>
            </a:r>
          </a:p>
          <a:p>
            <a:r>
              <a:rPr lang="en-US" dirty="0"/>
              <a:t>Exported to West from 1960s onwards, in parallel with Japan’s “economic miracle”</a:t>
            </a:r>
          </a:p>
          <a:p>
            <a:pPr lvl="1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BBD31-D23E-DEE7-716A-DD9882C77ED3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5425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Bonsai: Art &amp; Science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5"/>
            <a:ext cx="4681307" cy="461234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Good bonsai practice is: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Authentic</a:t>
            </a:r>
            <a:r>
              <a:rPr lang="en-US" dirty="0"/>
              <a:t> - makes you think “tree”</a:t>
            </a:r>
          </a:p>
          <a:p>
            <a:pPr marL="457200" lvl="1" indent="0">
              <a:buNone/>
            </a:pPr>
            <a:r>
              <a:rPr lang="en-US" dirty="0"/>
              <a:t>Tree as biological / ecological process</a:t>
            </a:r>
          </a:p>
          <a:p>
            <a:endParaRPr lang="en-US" dirty="0"/>
          </a:p>
          <a:p>
            <a:r>
              <a:rPr lang="en-US" b="1" u="sng" dirty="0"/>
              <a:t>Dramatic</a:t>
            </a:r>
            <a:r>
              <a:rPr lang="en-US" dirty="0"/>
              <a:t> – makes you think “TREE”</a:t>
            </a:r>
          </a:p>
          <a:p>
            <a:pPr marL="457200" lvl="1" indent="0">
              <a:buNone/>
            </a:pPr>
            <a:r>
              <a:rPr lang="en-US" dirty="0"/>
              <a:t>Tree as compositional element</a:t>
            </a:r>
          </a:p>
          <a:p>
            <a:endParaRPr lang="en-US" dirty="0"/>
          </a:p>
          <a:p>
            <a:r>
              <a:rPr lang="en-US" b="1" u="sng" dirty="0"/>
              <a:t>Pragmatic</a:t>
            </a:r>
            <a:r>
              <a:rPr lang="en-US" dirty="0"/>
              <a:t> – doesn’t make you think “</a:t>
            </a:r>
            <a:r>
              <a:rPr lang="en-US" i="1" dirty="0"/>
              <a:t>dead</a:t>
            </a:r>
            <a:r>
              <a:rPr lang="en-US" dirty="0"/>
              <a:t> tree”…</a:t>
            </a:r>
          </a:p>
          <a:p>
            <a:pPr marL="457200" lvl="1" indent="0">
              <a:buNone/>
            </a:pPr>
            <a:r>
              <a:rPr lang="en-US" dirty="0"/>
              <a:t>Tree as living clay</a:t>
            </a:r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22EB1-64F4-9A9A-348D-46422403BBA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3D940F-928E-4F3F-1A35-15843355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96035"/>
            <a:ext cx="4070047" cy="40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52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1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Not To Kill Your Tree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72158-87AA-13C1-6A71-3F22A9373E8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8186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What Kind Of Tree Is A “Bonsai”, Anyway?</a:t>
            </a:r>
            <a:br>
              <a:rPr lang="en-US" dirty="0"/>
            </a:br>
            <a:r>
              <a:rPr lang="en-US" sz="2800" dirty="0"/>
              <a:t>Trick question alert!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5163668" cy="49619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Tree: “</a:t>
            </a:r>
            <a:r>
              <a:rPr lang="en-US" i="1" dirty="0"/>
              <a:t>a large, tall, woody, perennial plant with a single, unbranched, erect, self-supporting stem holding an elevated and distinct crown of branches with a total height greater than ten feet and a diameter greater than three inches</a:t>
            </a:r>
            <a:r>
              <a:rPr lang="en-US" dirty="0"/>
              <a:t>” – oy vey!</a:t>
            </a:r>
          </a:p>
          <a:p>
            <a:r>
              <a:rPr lang="en-US" dirty="0"/>
              <a:t>Almost any tree species can be trained into a bonsai; many smaller plants can too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Requirements for bonsai-</a:t>
            </a:r>
            <a:r>
              <a:rPr lang="en-US" dirty="0" err="1"/>
              <a:t>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Vascular plant (no mosses!)</a:t>
            </a:r>
          </a:p>
          <a:p>
            <a:pPr lvl="1"/>
            <a:r>
              <a:rPr lang="en-US" dirty="0"/>
              <a:t>Woody growth / “lignification” (no daisies!)</a:t>
            </a:r>
          </a:p>
          <a:p>
            <a:pPr lvl="1"/>
            <a:r>
              <a:rPr lang="en-US" dirty="0"/>
              <a:t>Secondary growth of trunk (no palms!)</a:t>
            </a:r>
          </a:p>
          <a:p>
            <a:pPr lvl="1"/>
            <a:r>
              <a:rPr lang="en-US" dirty="0"/>
              <a:t>Free-standing (no lianas!)</a:t>
            </a:r>
          </a:p>
          <a:p>
            <a:pPr lvl="1"/>
            <a:r>
              <a:rPr lang="en-US" dirty="0"/>
              <a:t>Deep roots (no grasses!)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CE5F4F-D2EC-5305-FFC1-A32E55F1C249}"/>
              </a:ext>
            </a:extLst>
          </p:cNvPr>
          <p:cNvSpPr txBox="1">
            <a:spLocks/>
          </p:cNvSpPr>
          <p:nvPr/>
        </p:nvSpPr>
        <p:spPr>
          <a:xfrm>
            <a:off x="5841002" y="1896035"/>
            <a:ext cx="4943538" cy="4612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Desirable features</a:t>
            </a:r>
          </a:p>
          <a:p>
            <a:pPr lvl="1"/>
            <a:r>
              <a:rPr lang="en-GB" dirty="0"/>
              <a:t>Attractive / interesting species</a:t>
            </a:r>
          </a:p>
          <a:p>
            <a:pPr lvl="1"/>
            <a:r>
              <a:rPr lang="en-GB" dirty="0"/>
              <a:t>Small or pinnate leaves</a:t>
            </a:r>
          </a:p>
          <a:p>
            <a:pPr lvl="1"/>
            <a:r>
              <a:rPr lang="en-GB" dirty="0"/>
              <a:t>Long-lived</a:t>
            </a:r>
          </a:p>
          <a:p>
            <a:pPr lvl="1"/>
            <a:r>
              <a:rPr lang="en-GB" dirty="0"/>
              <a:t>Reasonably fast-growing</a:t>
            </a:r>
          </a:p>
          <a:p>
            <a:pPr lvl="1"/>
            <a:r>
              <a:rPr lang="en-GB" dirty="0"/>
              <a:t>Easy to maintain / shape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“Honorary” bonsai species</a:t>
            </a:r>
          </a:p>
          <a:p>
            <a:pPr lvl="1"/>
            <a:r>
              <a:rPr lang="en-US" dirty="0"/>
              <a:t>Woody climbers: ivy, wisteria, honeysuckle</a:t>
            </a:r>
          </a:p>
          <a:p>
            <a:pPr lvl="1"/>
            <a:r>
              <a:rPr lang="en-US" dirty="0"/>
              <a:t>Succulent / fleshy: dwarf jade, geranium</a:t>
            </a:r>
          </a:p>
          <a:p>
            <a:pPr lvl="1"/>
            <a:r>
              <a:rPr lang="en-US" dirty="0"/>
              <a:t>Chrysanthemum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8860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</p:spTree>
    <p:extLst>
      <p:ext uri="{BB962C8B-B14F-4D97-AF65-F5344CB8AC3E}">
        <p14:creationId xmlns:p14="http://schemas.microsoft.com/office/powerpoint/2010/main" val="3529928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Watering Your Bonsai</a:t>
            </a:r>
            <a:br>
              <a:rPr lang="en-US" dirty="0"/>
            </a:br>
            <a:r>
              <a:rPr lang="en-US" sz="2800" dirty="0"/>
              <a:t>No, seriously, this is important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170138" cy="45510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so serious?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Trees usually have deep tap-roots to draw water; they don’t handle drying out well</a:t>
            </a:r>
          </a:p>
          <a:p>
            <a:pPr lvl="1"/>
            <a:r>
              <a:rPr lang="en-US" dirty="0"/>
              <a:t>…Especially conifers, for some reason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Good-quality bonsai soils / pots have really good drainage… so can dry off quickly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Bonsai soil is very compact and often moss-covered… so water tends to run off the surface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Traditional bonsai soil is inorganic, so lacks the “capillaries” of plant </a:t>
            </a:r>
            <a:r>
              <a:rPr lang="en-US" sz="1600" dirty="0" err="1"/>
              <a:t>fibre</a:t>
            </a:r>
            <a:r>
              <a:rPr lang="en-US" sz="1600" dirty="0"/>
              <a:t> that let water rise up through the pot</a:t>
            </a:r>
          </a:p>
          <a:p>
            <a:pPr>
              <a:buFont typeface="+mj-lt"/>
              <a:buAutoNum type="arabicPeriod"/>
            </a:pPr>
            <a:r>
              <a:rPr lang="en-US" sz="1600" dirty="0"/>
              <a:t>Even gardening experts routinely kill their first bonsai!</a:t>
            </a:r>
          </a:p>
          <a:p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173260-C06C-E64C-308E-C5B49B4F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7472" y="1930400"/>
            <a:ext cx="5170137" cy="45510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Watering methods</a:t>
            </a:r>
          </a:p>
          <a:p>
            <a:r>
              <a:rPr lang="en-GB" sz="1600" dirty="0"/>
              <a:t>Put in bucket of water (to just below brim) and wait for water to bubble up</a:t>
            </a:r>
          </a:p>
          <a:p>
            <a:pPr lvl="1"/>
            <a:r>
              <a:rPr lang="en-GB" dirty="0"/>
              <a:t>…Then take out and allow to drain fully.  </a:t>
            </a:r>
            <a:r>
              <a:rPr lang="en-GB" i="1" dirty="0"/>
              <a:t>Never</a:t>
            </a:r>
            <a:r>
              <a:rPr lang="en-GB" dirty="0"/>
              <a:t> leave standing in water for long periods – roots need oxygen too!</a:t>
            </a:r>
          </a:p>
          <a:p>
            <a:r>
              <a:rPr lang="en-GB" sz="1600" dirty="0"/>
              <a:t>Water from above three times, allowing the water to sink in between passes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Is it watered enough?</a:t>
            </a:r>
          </a:p>
          <a:p>
            <a:r>
              <a:rPr lang="en-GB" sz="1600" dirty="0"/>
              <a:t>Surface feels damp to back of hand</a:t>
            </a:r>
          </a:p>
          <a:p>
            <a:r>
              <a:rPr lang="en-GB" sz="1600" dirty="0"/>
              <a:t>Pot significantly heavier</a:t>
            </a:r>
          </a:p>
          <a:p>
            <a:r>
              <a:rPr lang="en-GB" sz="1600" dirty="0"/>
              <a:t>Water running out of hole in bottom</a:t>
            </a:r>
          </a:p>
        </p:txBody>
      </p:sp>
    </p:spTree>
    <p:extLst>
      <p:ext uri="{BB962C8B-B14F-4D97-AF65-F5344CB8AC3E}">
        <p14:creationId xmlns:p14="http://schemas.microsoft.com/office/powerpoint/2010/main" val="75705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Authenticity &amp; Drama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Thinking Like A Tree (That’s Seen Some S**t)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5B3308-3AEB-09DF-29FB-427646E6086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83822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Arboriculture 101</a:t>
            </a:r>
            <a:br>
              <a:rPr lang="en-US" dirty="0"/>
            </a:br>
            <a:r>
              <a:rPr lang="en-US" sz="2800" dirty="0"/>
              <a:t>What shapes a tree?</a:t>
            </a:r>
            <a:endParaRPr lang="en-GB" sz="2800" dirty="0"/>
          </a:p>
        </p:txBody>
      </p:sp>
      <p:sp>
        <p:nvSpPr>
          <p:cNvPr id="12" name="Trapezoid 11">
            <a:extLst>
              <a:ext uri="{FF2B5EF4-FFF2-40B4-BE49-F238E27FC236}">
                <a16:creationId xmlns:a16="http://schemas.microsoft.com/office/drawing/2014/main" id="{5BDDDF55-8F62-34A3-0522-D37C6EA4B2D6}"/>
              </a:ext>
            </a:extLst>
          </p:cNvPr>
          <p:cNvSpPr/>
          <p:nvPr/>
        </p:nvSpPr>
        <p:spPr>
          <a:xfrm rot="16708167">
            <a:off x="4737357" y="4344386"/>
            <a:ext cx="439270" cy="134133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rapezoid 13">
            <a:extLst>
              <a:ext uri="{FF2B5EF4-FFF2-40B4-BE49-F238E27FC236}">
                <a16:creationId xmlns:a16="http://schemas.microsoft.com/office/drawing/2014/main" id="{8C5D4CF2-461E-D233-F427-0FCADD4B05DE}"/>
              </a:ext>
            </a:extLst>
          </p:cNvPr>
          <p:cNvSpPr/>
          <p:nvPr/>
        </p:nvSpPr>
        <p:spPr>
          <a:xfrm rot="3784477">
            <a:off x="5982135" y="3660461"/>
            <a:ext cx="459337" cy="1499519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4E8FB6D7-C0C0-3169-7710-915437885FE5}"/>
              </a:ext>
            </a:extLst>
          </p:cNvPr>
          <p:cNvSpPr/>
          <p:nvPr/>
        </p:nvSpPr>
        <p:spPr>
          <a:xfrm rot="19018870">
            <a:off x="5032178" y="3379601"/>
            <a:ext cx="311814" cy="1151965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5FD77786-7517-4BA7-8B52-C875228FFF91}"/>
              </a:ext>
            </a:extLst>
          </p:cNvPr>
          <p:cNvSpPr/>
          <p:nvPr/>
        </p:nvSpPr>
        <p:spPr>
          <a:xfrm>
            <a:off x="5333634" y="3092728"/>
            <a:ext cx="572626" cy="311971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12527A6D-5691-1C6F-B914-9DEE0667F1E4}"/>
              </a:ext>
            </a:extLst>
          </p:cNvPr>
          <p:cNvSpPr/>
          <p:nvPr/>
        </p:nvSpPr>
        <p:spPr>
          <a:xfrm>
            <a:off x="3902352" y="3323997"/>
            <a:ext cx="1648392" cy="59839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BD18C168-712D-FEC6-4ABC-E2F23BBD2316}"/>
              </a:ext>
            </a:extLst>
          </p:cNvPr>
          <p:cNvSpPr/>
          <p:nvPr/>
        </p:nvSpPr>
        <p:spPr>
          <a:xfrm>
            <a:off x="5814057" y="3509586"/>
            <a:ext cx="1896362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443D6607-CDBF-3735-A010-7CA81BE661BD}"/>
              </a:ext>
            </a:extLst>
          </p:cNvPr>
          <p:cNvSpPr/>
          <p:nvPr/>
        </p:nvSpPr>
        <p:spPr>
          <a:xfrm>
            <a:off x="3006863" y="425976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F5559165-D24C-E3D2-42EF-F5F4C4304969}"/>
              </a:ext>
            </a:extLst>
          </p:cNvPr>
          <p:cNvSpPr/>
          <p:nvPr/>
        </p:nvSpPr>
        <p:spPr>
          <a:xfrm>
            <a:off x="4261794" y="2299352"/>
            <a:ext cx="2716306" cy="102197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9ACBE3AB-0D8F-28D6-5E24-F2C2B1BB28EA}"/>
              </a:ext>
            </a:extLst>
          </p:cNvPr>
          <p:cNvSpPr txBox="1">
            <a:spLocks/>
          </p:cNvSpPr>
          <p:nvPr/>
        </p:nvSpPr>
        <p:spPr>
          <a:xfrm>
            <a:off x="5897810" y="940066"/>
            <a:ext cx="1149979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Sunlight</a:t>
            </a:r>
            <a:endParaRPr lang="en-GB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DEB1D32-E877-82DB-7F19-6F25B60746F6}"/>
              </a:ext>
            </a:extLst>
          </p:cNvPr>
          <p:cNvSpPr/>
          <p:nvPr/>
        </p:nvSpPr>
        <p:spPr>
          <a:xfrm>
            <a:off x="7710419" y="242047"/>
            <a:ext cx="900953" cy="900953"/>
          </a:xfrm>
          <a:prstGeom prst="ellipse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1C4EB1-2B4C-01E3-D381-F0D3ED1D30B7}"/>
              </a:ext>
            </a:extLst>
          </p:cNvPr>
          <p:cNvCxnSpPr>
            <a:cxnSpLocks/>
          </p:cNvCxnSpPr>
          <p:nvPr/>
        </p:nvCxnSpPr>
        <p:spPr>
          <a:xfrm flipH="1">
            <a:off x="6211803" y="1011658"/>
            <a:ext cx="1345444" cy="918742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25E0FC0-BF35-5292-BD77-2A5F55EEB636}"/>
              </a:ext>
            </a:extLst>
          </p:cNvPr>
          <p:cNvCxnSpPr>
            <a:cxnSpLocks/>
          </p:cNvCxnSpPr>
          <p:nvPr/>
        </p:nvCxnSpPr>
        <p:spPr>
          <a:xfrm flipH="1">
            <a:off x="6941194" y="1161692"/>
            <a:ext cx="828602" cy="1030889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A930C9-69B0-4B8D-0B08-F23DF0ADEA3D}"/>
              </a:ext>
            </a:extLst>
          </p:cNvPr>
          <p:cNvCxnSpPr>
            <a:cxnSpLocks/>
          </p:cNvCxnSpPr>
          <p:nvPr/>
        </p:nvCxnSpPr>
        <p:spPr>
          <a:xfrm flipH="1">
            <a:off x="7911845" y="1236526"/>
            <a:ext cx="130822" cy="1245966"/>
          </a:xfrm>
          <a:prstGeom prst="line">
            <a:avLst/>
          </a:prstGeom>
          <a:ln w="7620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2" name="Content Placeholder 14">
            <a:extLst>
              <a:ext uri="{FF2B5EF4-FFF2-40B4-BE49-F238E27FC236}">
                <a16:creationId xmlns:a16="http://schemas.microsoft.com/office/drawing/2014/main" id="{48925E3E-54CC-623B-FDB3-BF0710A648A2}"/>
              </a:ext>
            </a:extLst>
          </p:cNvPr>
          <p:cNvSpPr txBox="1">
            <a:spLocks/>
          </p:cNvSpPr>
          <p:nvPr/>
        </p:nvSpPr>
        <p:spPr>
          <a:xfrm>
            <a:off x="9673755" y="3798097"/>
            <a:ext cx="908458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Shade</a:t>
            </a:r>
            <a:endParaRPr lang="en-GB" dirty="0"/>
          </a:p>
        </p:txBody>
      </p:sp>
      <p:sp>
        <p:nvSpPr>
          <p:cNvPr id="33" name="Trapezoid 32">
            <a:extLst>
              <a:ext uri="{FF2B5EF4-FFF2-40B4-BE49-F238E27FC236}">
                <a16:creationId xmlns:a16="http://schemas.microsoft.com/office/drawing/2014/main" id="{FC6857CF-16E9-1455-6642-FCE883F37F48}"/>
              </a:ext>
            </a:extLst>
          </p:cNvPr>
          <p:cNvSpPr/>
          <p:nvPr/>
        </p:nvSpPr>
        <p:spPr>
          <a:xfrm rot="16708167">
            <a:off x="9949164" y="2178964"/>
            <a:ext cx="439270" cy="2495203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E70F377A-037A-CE36-577A-2866BAB1F716}"/>
              </a:ext>
            </a:extLst>
          </p:cNvPr>
          <p:cNvSpPr/>
          <p:nvPr/>
        </p:nvSpPr>
        <p:spPr>
          <a:xfrm>
            <a:off x="7648030" y="2586307"/>
            <a:ext cx="2221227" cy="8785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29E2542-7FBE-CE9D-96D6-2A24F4F92A2F}"/>
              </a:ext>
            </a:extLst>
          </p:cNvPr>
          <p:cNvCxnSpPr>
            <a:cxnSpLocks/>
          </p:cNvCxnSpPr>
          <p:nvPr/>
        </p:nvCxnSpPr>
        <p:spPr>
          <a:xfrm flipH="1">
            <a:off x="7975354" y="3623194"/>
            <a:ext cx="67313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05852B-2C3D-8F02-B6D2-4CFFC7DF0DB5}"/>
              </a:ext>
            </a:extLst>
          </p:cNvPr>
          <p:cNvCxnSpPr>
            <a:cxnSpLocks/>
          </p:cNvCxnSpPr>
          <p:nvPr/>
        </p:nvCxnSpPr>
        <p:spPr>
          <a:xfrm>
            <a:off x="8390213" y="3623194"/>
            <a:ext cx="29118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D85397A-236B-5618-F94D-11F70448C54F}"/>
              </a:ext>
            </a:extLst>
          </p:cNvPr>
          <p:cNvCxnSpPr>
            <a:cxnSpLocks/>
          </p:cNvCxnSpPr>
          <p:nvPr/>
        </p:nvCxnSpPr>
        <p:spPr>
          <a:xfrm>
            <a:off x="8739925" y="3623194"/>
            <a:ext cx="6391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CCC3361-0C41-AF94-BDE9-38B0567B8791}"/>
              </a:ext>
            </a:extLst>
          </p:cNvPr>
          <p:cNvCxnSpPr>
            <a:cxnSpLocks/>
          </p:cNvCxnSpPr>
          <p:nvPr/>
        </p:nvCxnSpPr>
        <p:spPr>
          <a:xfrm>
            <a:off x="9053382" y="3627053"/>
            <a:ext cx="140074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1B080FD-2CBB-1935-17EF-23573737156A}"/>
              </a:ext>
            </a:extLst>
          </p:cNvPr>
          <p:cNvCxnSpPr>
            <a:cxnSpLocks/>
          </p:cNvCxnSpPr>
          <p:nvPr/>
        </p:nvCxnSpPr>
        <p:spPr>
          <a:xfrm>
            <a:off x="9359376" y="3623194"/>
            <a:ext cx="251990" cy="1515113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Arrow: Down 47">
            <a:extLst>
              <a:ext uri="{FF2B5EF4-FFF2-40B4-BE49-F238E27FC236}">
                <a16:creationId xmlns:a16="http://schemas.microsoft.com/office/drawing/2014/main" id="{78F66C4E-9E4D-0908-8A6D-6E7A3D55662F}"/>
              </a:ext>
            </a:extLst>
          </p:cNvPr>
          <p:cNvSpPr/>
          <p:nvPr/>
        </p:nvSpPr>
        <p:spPr>
          <a:xfrm>
            <a:off x="1343821" y="2359457"/>
            <a:ext cx="1255047" cy="35438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Content Placeholder 14">
            <a:extLst>
              <a:ext uri="{FF2B5EF4-FFF2-40B4-BE49-F238E27FC236}">
                <a16:creationId xmlns:a16="http://schemas.microsoft.com/office/drawing/2014/main" id="{BD2C420D-A225-D2F7-F0D7-5FD6FF7C63D1}"/>
              </a:ext>
            </a:extLst>
          </p:cNvPr>
          <p:cNvSpPr txBox="1">
            <a:spLocks/>
          </p:cNvSpPr>
          <p:nvPr/>
        </p:nvSpPr>
        <p:spPr>
          <a:xfrm>
            <a:off x="612535" y="2865809"/>
            <a:ext cx="997252" cy="1056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Gravity / load</a:t>
            </a:r>
            <a:endParaRPr lang="en-GB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C7B06E0-1908-3BEE-34E0-3932FF762613}"/>
              </a:ext>
            </a:extLst>
          </p:cNvPr>
          <p:cNvSpPr/>
          <p:nvPr/>
        </p:nvSpPr>
        <p:spPr>
          <a:xfrm>
            <a:off x="2880926" y="4212066"/>
            <a:ext cx="4598895" cy="757973"/>
          </a:xfrm>
          <a:custGeom>
            <a:avLst/>
            <a:gdLst>
              <a:gd name="connsiteX0" fmla="*/ 0 w 4598895"/>
              <a:gd name="connsiteY0" fmla="*/ 578532 h 757973"/>
              <a:gd name="connsiteX1" fmla="*/ 1304365 w 4598895"/>
              <a:gd name="connsiteY1" fmla="*/ 309 h 757973"/>
              <a:gd name="connsiteX2" fmla="*/ 2796989 w 4598895"/>
              <a:gd name="connsiteY2" fmla="*/ 645768 h 757973"/>
              <a:gd name="connsiteX3" fmla="*/ 4598895 w 4598895"/>
              <a:gd name="connsiteY3" fmla="*/ 753344 h 75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98895" h="757973">
                <a:moveTo>
                  <a:pt x="0" y="578532"/>
                </a:moveTo>
                <a:cubicBezTo>
                  <a:pt x="419100" y="283817"/>
                  <a:pt x="838200" y="-10897"/>
                  <a:pt x="1304365" y="309"/>
                </a:cubicBezTo>
                <a:cubicBezTo>
                  <a:pt x="1770530" y="11515"/>
                  <a:pt x="2247901" y="520262"/>
                  <a:pt x="2796989" y="645768"/>
                </a:cubicBezTo>
                <a:cubicBezTo>
                  <a:pt x="3346077" y="771274"/>
                  <a:pt x="4332195" y="762309"/>
                  <a:pt x="4598895" y="753344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3B8000F-423E-C978-0774-A8EF0D8831C9}"/>
              </a:ext>
            </a:extLst>
          </p:cNvPr>
          <p:cNvSpPr/>
          <p:nvPr/>
        </p:nvSpPr>
        <p:spPr>
          <a:xfrm>
            <a:off x="2944906" y="2097552"/>
            <a:ext cx="4988859" cy="743455"/>
          </a:xfrm>
          <a:custGeom>
            <a:avLst/>
            <a:gdLst>
              <a:gd name="connsiteX0" fmla="*/ 0 w 4988859"/>
              <a:gd name="connsiteY0" fmla="*/ 685989 h 743455"/>
              <a:gd name="connsiteX1" fmla="*/ 1627094 w 4988859"/>
              <a:gd name="connsiteY1" fmla="*/ 591860 h 743455"/>
              <a:gd name="connsiteX2" fmla="*/ 2689412 w 4988859"/>
              <a:gd name="connsiteY2" fmla="*/ 189 h 743455"/>
              <a:gd name="connsiteX3" fmla="*/ 3576918 w 4988859"/>
              <a:gd name="connsiteY3" fmla="*/ 659095 h 743455"/>
              <a:gd name="connsiteX4" fmla="*/ 4988859 w 4988859"/>
              <a:gd name="connsiteY4" fmla="*/ 712883 h 74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88859" h="743455">
                <a:moveTo>
                  <a:pt x="0" y="685989"/>
                </a:moveTo>
                <a:cubicBezTo>
                  <a:pt x="589429" y="696074"/>
                  <a:pt x="1178859" y="706160"/>
                  <a:pt x="1627094" y="591860"/>
                </a:cubicBezTo>
                <a:cubicBezTo>
                  <a:pt x="2075329" y="477560"/>
                  <a:pt x="2364441" y="-11017"/>
                  <a:pt x="2689412" y="189"/>
                </a:cubicBezTo>
                <a:cubicBezTo>
                  <a:pt x="3014383" y="11395"/>
                  <a:pt x="3193677" y="540313"/>
                  <a:pt x="3576918" y="659095"/>
                </a:cubicBezTo>
                <a:cubicBezTo>
                  <a:pt x="3960159" y="777877"/>
                  <a:pt x="4937312" y="746501"/>
                  <a:pt x="4988859" y="712883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BC566CC-2BB8-F112-2CB9-B06EDCFCB556}"/>
              </a:ext>
            </a:extLst>
          </p:cNvPr>
          <p:cNvSpPr/>
          <p:nvPr/>
        </p:nvSpPr>
        <p:spPr>
          <a:xfrm>
            <a:off x="3123068" y="3464847"/>
            <a:ext cx="4371263" cy="591086"/>
          </a:xfrm>
          <a:custGeom>
            <a:avLst/>
            <a:gdLst>
              <a:gd name="connsiteX0" fmla="*/ 4693023 w 4693023"/>
              <a:gd name="connsiteY0" fmla="*/ 308623 h 782272"/>
              <a:gd name="connsiteX1" fmla="*/ 3845859 w 4693023"/>
              <a:gd name="connsiteY1" fmla="*/ 12788 h 782272"/>
              <a:gd name="connsiteX2" fmla="*/ 2528047 w 4693023"/>
              <a:gd name="connsiteY2" fmla="*/ 685141 h 782272"/>
              <a:gd name="connsiteX3" fmla="*/ 0 w 4693023"/>
              <a:gd name="connsiteY3" fmla="*/ 779270 h 782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3023" h="782272">
                <a:moveTo>
                  <a:pt x="4693023" y="308623"/>
                </a:moveTo>
                <a:cubicBezTo>
                  <a:pt x="4449855" y="129329"/>
                  <a:pt x="4206688" y="-49965"/>
                  <a:pt x="3845859" y="12788"/>
                </a:cubicBezTo>
                <a:cubicBezTo>
                  <a:pt x="3485030" y="75541"/>
                  <a:pt x="3169023" y="557394"/>
                  <a:pt x="2528047" y="685141"/>
                </a:cubicBezTo>
                <a:cubicBezTo>
                  <a:pt x="1887070" y="812888"/>
                  <a:pt x="351865" y="777029"/>
                  <a:pt x="0" y="779270"/>
                </a:cubicBezTo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2626E6D-F36D-E0C1-4965-D31E1EDF585F}"/>
              </a:ext>
            </a:extLst>
          </p:cNvPr>
          <p:cNvCxnSpPr/>
          <p:nvPr/>
        </p:nvCxnSpPr>
        <p:spPr>
          <a:xfrm>
            <a:off x="2848411" y="5390028"/>
            <a:ext cx="4647005" cy="1784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14">
            <a:extLst>
              <a:ext uri="{FF2B5EF4-FFF2-40B4-BE49-F238E27FC236}">
                <a16:creationId xmlns:a16="http://schemas.microsoft.com/office/drawing/2014/main" id="{CD4047F2-6D1C-B6DA-458A-73BCF55FC957}"/>
              </a:ext>
            </a:extLst>
          </p:cNvPr>
          <p:cNvSpPr txBox="1">
            <a:spLocks/>
          </p:cNvSpPr>
          <p:nvPr/>
        </p:nvSpPr>
        <p:spPr>
          <a:xfrm>
            <a:off x="3185774" y="235473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Airflow</a:t>
            </a:r>
            <a:endParaRPr lang="en-GB" dirty="0"/>
          </a:p>
        </p:txBody>
      </p:sp>
      <p:sp>
        <p:nvSpPr>
          <p:cNvPr id="58" name="Partial Circle 57">
            <a:extLst>
              <a:ext uri="{FF2B5EF4-FFF2-40B4-BE49-F238E27FC236}">
                <a16:creationId xmlns:a16="http://schemas.microsoft.com/office/drawing/2014/main" id="{F75C891F-7132-5A8B-21B3-5DC9D575A5CA}"/>
              </a:ext>
            </a:extLst>
          </p:cNvPr>
          <p:cNvSpPr/>
          <p:nvPr/>
        </p:nvSpPr>
        <p:spPr>
          <a:xfrm rot="19451740">
            <a:off x="3568431" y="5304323"/>
            <a:ext cx="936963" cy="546508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Content Placeholder 14">
            <a:extLst>
              <a:ext uri="{FF2B5EF4-FFF2-40B4-BE49-F238E27FC236}">
                <a16:creationId xmlns:a16="http://schemas.microsoft.com/office/drawing/2014/main" id="{AD0250E6-81D7-5276-2A27-B89A947D9AAC}"/>
              </a:ext>
            </a:extLst>
          </p:cNvPr>
          <p:cNvSpPr txBox="1">
            <a:spLocks/>
          </p:cNvSpPr>
          <p:nvPr/>
        </p:nvSpPr>
        <p:spPr>
          <a:xfrm>
            <a:off x="3468308" y="5953749"/>
            <a:ext cx="1585960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Animals</a:t>
            </a:r>
            <a:endParaRPr lang="en-GB" dirty="0"/>
          </a:p>
        </p:txBody>
      </p:sp>
      <p:sp>
        <p:nvSpPr>
          <p:cNvPr id="60" name="Partial Circle 59">
            <a:extLst>
              <a:ext uri="{FF2B5EF4-FFF2-40B4-BE49-F238E27FC236}">
                <a16:creationId xmlns:a16="http://schemas.microsoft.com/office/drawing/2014/main" id="{81CA912A-6C19-ADAF-1639-4D98D517725B}"/>
              </a:ext>
            </a:extLst>
          </p:cNvPr>
          <p:cNvSpPr/>
          <p:nvPr/>
        </p:nvSpPr>
        <p:spPr>
          <a:xfrm rot="2148260" flipH="1">
            <a:off x="5958172" y="5594317"/>
            <a:ext cx="786076" cy="460287"/>
          </a:xfrm>
          <a:prstGeom prst="pie">
            <a:avLst>
              <a:gd name="adj1" fmla="val 1149389"/>
              <a:gd name="adj2" fmla="val 2092650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707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Authenticity &amp; Age</a:t>
            </a:r>
            <a:br>
              <a:rPr lang="en-US" dirty="0"/>
            </a:br>
            <a:r>
              <a:rPr lang="en-US" sz="2800" dirty="0"/>
              <a:t>What makes a tree look mature?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Canopy shape</a:t>
            </a:r>
          </a:p>
          <a:p>
            <a:pPr lvl="1"/>
            <a:r>
              <a:rPr lang="en-US" dirty="0"/>
              <a:t>Rounded triangle</a:t>
            </a:r>
          </a:p>
          <a:p>
            <a:pPr lvl="1"/>
            <a:r>
              <a:rPr lang="en-US" dirty="0"/>
              <a:t>Composed of rounded-triangle “pads” (for species that back-bud less readily)</a:t>
            </a:r>
          </a:p>
          <a:p>
            <a:r>
              <a:rPr lang="en-US" dirty="0"/>
              <a:t>Trunk &amp; branch </a:t>
            </a:r>
            <a:r>
              <a:rPr lang="en-US" dirty="0" err="1"/>
              <a:t>behaviour</a:t>
            </a:r>
            <a:endParaRPr lang="en-US" dirty="0"/>
          </a:p>
          <a:p>
            <a:pPr lvl="1"/>
            <a:r>
              <a:rPr lang="en-US" dirty="0"/>
              <a:t>Short inter-node distance</a:t>
            </a:r>
          </a:p>
          <a:p>
            <a:pPr lvl="1"/>
            <a:r>
              <a:rPr lang="en-US" dirty="0"/>
              <a:t>“Ramification”: fractal splitting of branches</a:t>
            </a:r>
          </a:p>
          <a:p>
            <a:pPr lvl="1"/>
            <a:r>
              <a:rPr lang="en-US" dirty="0"/>
              <a:t>“Square-cube law”: big tree = proportionally heavier load = more curvature</a:t>
            </a:r>
          </a:p>
          <a:p>
            <a:pPr lvl="1"/>
            <a:r>
              <a:rPr lang="en-US" dirty="0"/>
              <a:t>“Ruptures”: jagged direction changes</a:t>
            </a:r>
          </a:p>
          <a:p>
            <a:r>
              <a:rPr lang="en-US" dirty="0"/>
              <a:t>Texture</a:t>
            </a:r>
          </a:p>
          <a:p>
            <a:pPr lvl="1"/>
            <a:r>
              <a:rPr lang="en-US" dirty="0"/>
              <a:t>Bark</a:t>
            </a:r>
          </a:p>
          <a:p>
            <a:pPr lvl="1"/>
            <a:r>
              <a:rPr lang="en-US" dirty="0"/>
              <a:t>Dead-wood: advanced bonsai topic!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F16A0E5-9919-8CC8-FE83-C647510D232A}"/>
              </a:ext>
            </a:extLst>
          </p:cNvPr>
          <p:cNvSpPr txBox="1">
            <a:spLocks/>
          </p:cNvSpPr>
          <p:nvPr/>
        </p:nvSpPr>
        <p:spPr>
          <a:xfrm>
            <a:off x="677334" y="4948517"/>
            <a:ext cx="5177116" cy="1909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Taper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Nebari</a:t>
            </a:r>
            <a:r>
              <a:rPr lang="en-US" dirty="0"/>
              <a:t>” (</a:t>
            </a:r>
            <a:r>
              <a:rPr lang="ja-JP" altLang="en-US" dirty="0"/>
              <a:t>根張り</a:t>
            </a:r>
            <a:r>
              <a:rPr lang="en-US" dirty="0"/>
              <a:t>) = root flare / buttress</a:t>
            </a:r>
          </a:p>
          <a:p>
            <a:pPr lvl="1"/>
            <a:r>
              <a:rPr lang="en-US" dirty="0"/>
              <a:t>Trunk &amp; branch flare: from base to apex / tip</a:t>
            </a:r>
          </a:p>
          <a:p>
            <a:pPr lvl="1"/>
            <a:r>
              <a:rPr lang="en-US" dirty="0"/>
              <a:t>Trunk-to-branch (and branch to sub-branch) ratio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280E11-2DA9-F19A-F603-F0E36737500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8577" y="1842246"/>
            <a:ext cx="3736152" cy="280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25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Art à la Japan</a:t>
            </a:r>
            <a:br>
              <a:rPr lang="en-US" dirty="0"/>
            </a:br>
            <a:r>
              <a:rPr lang="en-US" sz="2800" dirty="0"/>
              <a:t>Catching the eye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583214"/>
            <a:ext cx="5634317" cy="52747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elements of visual design:</a:t>
            </a:r>
          </a:p>
          <a:p>
            <a:r>
              <a:rPr lang="en-US" dirty="0"/>
              <a:t>Movement &amp; rhythm</a:t>
            </a:r>
          </a:p>
          <a:p>
            <a:r>
              <a:rPr lang="en-US" dirty="0"/>
              <a:t>Balance: symmetry vs asymmetry</a:t>
            </a:r>
          </a:p>
          <a:p>
            <a:r>
              <a:rPr lang="en-US" dirty="0"/>
              <a:t>Similarity &amp; harmony vs contrast &amp; variety</a:t>
            </a:r>
          </a:p>
          <a:p>
            <a:r>
              <a:rPr lang="en-US" dirty="0"/>
              <a:t>Perspective &amp; proportion</a:t>
            </a:r>
          </a:p>
          <a:p>
            <a:r>
              <a:rPr lang="en-US" dirty="0"/>
              <a:t>Repetition &amp; continuation</a:t>
            </a:r>
          </a:p>
          <a:p>
            <a:r>
              <a:rPr lang="en-US" dirty="0"/>
              <a:t>Unity: wow factor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Japan-specific additions:</a:t>
            </a:r>
          </a:p>
          <a:p>
            <a:r>
              <a:rPr lang="en-US" dirty="0"/>
              <a:t>“</a:t>
            </a:r>
            <a:r>
              <a:rPr lang="en-US" dirty="0" err="1"/>
              <a:t>Wabisabi</a:t>
            </a:r>
            <a:r>
              <a:rPr lang="en-US" dirty="0"/>
              <a:t>” (</a:t>
            </a:r>
            <a:r>
              <a:rPr lang="ja-JP" altLang="en-US" dirty="0"/>
              <a:t>侘び寂び</a:t>
            </a:r>
            <a:r>
              <a:rPr lang="en-US" dirty="0"/>
              <a:t> – literally “forlorn rusticism”): austere, naturalistic, often hard-worn beauty and elegance</a:t>
            </a:r>
          </a:p>
          <a:p>
            <a:r>
              <a:rPr lang="en-US" dirty="0"/>
              <a:t>Top-right to bottom-left traditional reading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3FC98BA-4B9A-F5AB-188B-57B429CF9F30}"/>
              </a:ext>
            </a:extLst>
          </p:cNvPr>
          <p:cNvSpPr txBox="1">
            <a:spLocks/>
          </p:cNvSpPr>
          <p:nvPr/>
        </p:nvSpPr>
        <p:spPr>
          <a:xfrm>
            <a:off x="884332" y="5467529"/>
            <a:ext cx="4206808" cy="1151965"/>
          </a:xfrm>
          <a:prstGeom prst="rect">
            <a:avLst/>
          </a:prstGeom>
          <a:ln>
            <a:solidFill>
              <a:schemeClr val="accent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lvl="1" indent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It is self-evident that nothing concerning art is self-evident.</a:t>
            </a:r>
          </a:p>
          <a:p>
            <a:pPr marL="0" indent="0" algn="r">
              <a:buNone/>
            </a:pPr>
            <a:r>
              <a:rPr lang="en-US" dirty="0">
                <a:solidFill>
                  <a:schemeClr val="accent2"/>
                </a:solidFill>
              </a:rPr>
              <a:t>- Theodore Adorno (1969)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196C86-3601-0048-86C2-673D2B26FF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7" t="15585" r="2614" b="10910"/>
          <a:stretch/>
        </p:blipFill>
        <p:spPr>
          <a:xfrm>
            <a:off x="884332" y="2012522"/>
            <a:ext cx="4206808" cy="3218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07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Drama &amp; Perspective</a:t>
            </a:r>
            <a:br>
              <a:rPr lang="en-US" dirty="0"/>
            </a:br>
            <a:r>
              <a:rPr lang="en-US" sz="2800" dirty="0"/>
              <a:t>What makes a tree stand out?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4" y="1896034"/>
            <a:ext cx="5177116" cy="4961965"/>
          </a:xfrm>
        </p:spPr>
        <p:txBody>
          <a:bodyPr>
            <a:normAutofit/>
          </a:bodyPr>
          <a:lstStyle/>
          <a:p>
            <a:r>
              <a:rPr lang="en-US" dirty="0"/>
              <a:t>Taper (again!) </a:t>
            </a:r>
          </a:p>
          <a:p>
            <a:pPr lvl="1"/>
            <a:r>
              <a:rPr lang="en-US" dirty="0"/>
              <a:t>Taper appears stronger from viewpoint at base of tree</a:t>
            </a:r>
          </a:p>
          <a:p>
            <a:r>
              <a:rPr lang="en-US" dirty="0"/>
              <a:t>Pot: picture-frame for tree</a:t>
            </a:r>
          </a:p>
          <a:p>
            <a:pPr lvl="1"/>
            <a:r>
              <a:rPr lang="en-US" dirty="0"/>
              <a:t>“Heavy” earthenware vs “light” glazed</a:t>
            </a:r>
          </a:p>
          <a:p>
            <a:pPr lvl="1"/>
            <a:r>
              <a:rPr lang="en-US" dirty="0"/>
              <a:t>Depth ≈ trunk thickness; width ≈ 2/3 canopy height (tall tree) or width (wide tree)</a:t>
            </a:r>
          </a:p>
          <a:p>
            <a:pPr lvl="1"/>
            <a:r>
              <a:rPr lang="en-US" dirty="0"/>
              <a:t>Style: heavy vs light, plain vs ornate</a:t>
            </a:r>
          </a:p>
          <a:p>
            <a:r>
              <a:rPr lang="en-US" dirty="0"/>
              <a:t>Use of negative space</a:t>
            </a:r>
          </a:p>
          <a:p>
            <a:pPr lvl="1"/>
            <a:r>
              <a:rPr lang="en-US" dirty="0"/>
              <a:t>…Often in imitation of wind-flow or trunk death in full-scale trees</a:t>
            </a:r>
          </a:p>
          <a:p>
            <a:r>
              <a:rPr lang="en-US" dirty="0"/>
              <a:t>Scaled-down decorations</a:t>
            </a:r>
          </a:p>
          <a:p>
            <a:pPr lvl="1"/>
            <a:r>
              <a:rPr lang="en-US" dirty="0"/>
              <a:t>Moss “grass”, accent plants, rocks (“</a:t>
            </a:r>
            <a:r>
              <a:rPr lang="en-US" dirty="0" err="1"/>
              <a:t>suiseki</a:t>
            </a:r>
            <a:r>
              <a:rPr lang="en-US" dirty="0"/>
              <a:t>”)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B0135E5-977D-1EF9-1FB5-19C7441D6167}"/>
              </a:ext>
            </a:extLst>
          </p:cNvPr>
          <p:cNvSpPr txBox="1">
            <a:spLocks/>
          </p:cNvSpPr>
          <p:nvPr/>
        </p:nvSpPr>
        <p:spPr>
          <a:xfrm>
            <a:off x="677334" y="4381496"/>
            <a:ext cx="5177116" cy="2402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Well-defined “front”</a:t>
            </a:r>
          </a:p>
          <a:p>
            <a:pPr lvl="1"/>
            <a:r>
              <a:rPr lang="en-US" dirty="0"/>
              <a:t>Style is firmly established</a:t>
            </a:r>
          </a:p>
          <a:p>
            <a:pPr lvl="1"/>
            <a:r>
              <a:rPr lang="en-US" dirty="0"/>
              <a:t>Sense of strength or movement captured</a:t>
            </a:r>
          </a:p>
          <a:p>
            <a:pPr lvl="1"/>
            <a:r>
              <a:rPr lang="en-US" dirty="0"/>
              <a:t>Clear view of lower trunk</a:t>
            </a:r>
          </a:p>
          <a:p>
            <a:pPr lvl="1"/>
            <a:r>
              <a:rPr lang="en-US" dirty="0"/>
              <a:t>No crossed branches</a:t>
            </a:r>
          </a:p>
          <a:p>
            <a:pPr lvl="1"/>
            <a:r>
              <a:rPr lang="en-US" dirty="0"/>
              <a:t>Tree’s “</a:t>
            </a:r>
            <a:r>
              <a:rPr lang="en-US" dirty="0" err="1"/>
              <a:t>centre</a:t>
            </a:r>
            <a:r>
              <a:rPr lang="en-US" dirty="0"/>
              <a:t> of mass” is in middle of pot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E8B13A-76DF-3BAB-9EBF-FECB3ED08D6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5526" y="1761564"/>
            <a:ext cx="3303244" cy="247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442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entagon 35">
            <a:extLst>
              <a:ext uri="{FF2B5EF4-FFF2-40B4-BE49-F238E27FC236}">
                <a16:creationId xmlns:a16="http://schemas.microsoft.com/office/drawing/2014/main" id="{C53C465C-E89A-7AF3-7F3B-DCADDE1359B0}"/>
              </a:ext>
            </a:extLst>
          </p:cNvPr>
          <p:cNvSpPr/>
          <p:nvPr/>
        </p:nvSpPr>
        <p:spPr>
          <a:xfrm>
            <a:off x="1806030" y="3362113"/>
            <a:ext cx="151649" cy="159316"/>
          </a:xfrm>
          <a:prstGeom prst="pentagon">
            <a:avLst/>
          </a:prstGeom>
          <a:solidFill>
            <a:srgbClr val="4E5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Pentagon 36">
            <a:extLst>
              <a:ext uri="{FF2B5EF4-FFF2-40B4-BE49-F238E27FC236}">
                <a16:creationId xmlns:a16="http://schemas.microsoft.com/office/drawing/2014/main" id="{76FF5051-DEBD-AECB-F8A5-74646C887746}"/>
              </a:ext>
            </a:extLst>
          </p:cNvPr>
          <p:cNvSpPr/>
          <p:nvPr/>
        </p:nvSpPr>
        <p:spPr>
          <a:xfrm rot="1319334">
            <a:off x="1910985" y="3327896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Pentagon 37">
            <a:extLst>
              <a:ext uri="{FF2B5EF4-FFF2-40B4-BE49-F238E27FC236}">
                <a16:creationId xmlns:a16="http://schemas.microsoft.com/office/drawing/2014/main" id="{37937DA1-1921-39C1-5D4C-344DB3ADCF6A}"/>
              </a:ext>
            </a:extLst>
          </p:cNvPr>
          <p:cNvSpPr/>
          <p:nvPr/>
        </p:nvSpPr>
        <p:spPr>
          <a:xfrm rot="676979">
            <a:off x="2030453" y="3360898"/>
            <a:ext cx="151649" cy="159316"/>
          </a:xfrm>
          <a:prstGeom prst="pentagon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86FD01-352E-4B79-4995-BE6631C0AA7D}"/>
              </a:ext>
            </a:extLst>
          </p:cNvPr>
          <p:cNvSpPr/>
          <p:nvPr/>
        </p:nvSpPr>
        <p:spPr>
          <a:xfrm>
            <a:off x="3351568" y="3109015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691E47-2641-D59C-9C09-FC2458E2C8D4}"/>
              </a:ext>
            </a:extLst>
          </p:cNvPr>
          <p:cNvSpPr/>
          <p:nvPr/>
        </p:nvSpPr>
        <p:spPr>
          <a:xfrm>
            <a:off x="1960282" y="3113742"/>
            <a:ext cx="412377" cy="102591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Flaws</a:t>
            </a:r>
            <a:br>
              <a:rPr lang="en-US" dirty="0"/>
            </a:br>
            <a:r>
              <a:rPr lang="en-US" sz="2800" dirty="0"/>
              <a:t>What gives the game away?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7423" y="1896034"/>
            <a:ext cx="5634317" cy="4961965"/>
          </a:xfrm>
        </p:spPr>
        <p:txBody>
          <a:bodyPr>
            <a:normAutofit/>
          </a:bodyPr>
          <a:lstStyle/>
          <a:p>
            <a:r>
              <a:rPr lang="en-US" dirty="0"/>
              <a:t>Obvious tool marks</a:t>
            </a:r>
          </a:p>
          <a:p>
            <a:pPr lvl="1"/>
            <a:r>
              <a:rPr lang="en-US" dirty="0"/>
              <a:t>…Including wire scarring</a:t>
            </a:r>
          </a:p>
          <a:p>
            <a:r>
              <a:rPr lang="en-US" dirty="0"/>
              <a:t>Excessive symmetry</a:t>
            </a:r>
          </a:p>
          <a:p>
            <a:pPr lvl="1"/>
            <a:r>
              <a:rPr lang="en-US" dirty="0"/>
              <a:t>…Especially handlebar branches</a:t>
            </a:r>
          </a:p>
          <a:p>
            <a:pPr lvl="1"/>
            <a:r>
              <a:rPr lang="en-US" dirty="0"/>
              <a:t>Asymmetry is a common theme in Japanese gardening!</a:t>
            </a:r>
          </a:p>
          <a:p>
            <a:r>
              <a:rPr lang="en-US" dirty="0"/>
              <a:t>“Reverse taper”</a:t>
            </a:r>
          </a:p>
          <a:p>
            <a:r>
              <a:rPr lang="en-US" dirty="0"/>
              <a:t>Unusual “habit” for species / genus</a:t>
            </a:r>
          </a:p>
          <a:p>
            <a:pPr lvl="1"/>
            <a:r>
              <a:rPr lang="en-US" dirty="0"/>
              <a:t>Google for pictures of wild tree to get ideas!</a:t>
            </a:r>
          </a:p>
          <a:p>
            <a:pPr lvl="1"/>
            <a:r>
              <a:rPr lang="en-US" dirty="0"/>
              <a:t>This rule is frequently ignored: e.g. small shrubs portrayed as large trees, boringly-shaped species made interesting, unrealistic pads</a:t>
            </a:r>
          </a:p>
          <a:p>
            <a:r>
              <a:rPr lang="en-US" dirty="0"/>
              <a:t>Dead leaves and (unwanted) deadwood</a:t>
            </a: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D0AFEB3-8E62-C899-A368-55C2FEA2AF98}"/>
              </a:ext>
            </a:extLst>
          </p:cNvPr>
          <p:cNvSpPr txBox="1">
            <a:spLocks/>
          </p:cNvSpPr>
          <p:nvPr/>
        </p:nvSpPr>
        <p:spPr>
          <a:xfrm>
            <a:off x="677334" y="4377016"/>
            <a:ext cx="5069541" cy="2480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Weak / immature-looking branches</a:t>
            </a:r>
          </a:p>
          <a:p>
            <a:pPr lvl="1"/>
            <a:r>
              <a:rPr lang="en-US" dirty="0"/>
              <a:t>Suckers</a:t>
            </a:r>
          </a:p>
          <a:p>
            <a:pPr lvl="1"/>
            <a:r>
              <a:rPr lang="en-US" dirty="0"/>
              <a:t>Congested nodes</a:t>
            </a:r>
          </a:p>
          <a:p>
            <a:pPr lvl="1"/>
            <a:r>
              <a:rPr lang="en-US" dirty="0"/>
              <a:t>Under-slung / elbow branches</a:t>
            </a:r>
          </a:p>
          <a:p>
            <a:pPr lvl="1"/>
            <a:r>
              <a:rPr lang="en-US" dirty="0"/>
              <a:t>Lack of clear “leader” (dominant trunk / branch)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07E75B2-92A3-0846-F602-094528681DB8}"/>
              </a:ext>
            </a:extLst>
          </p:cNvPr>
          <p:cNvSpPr/>
          <p:nvPr/>
        </p:nvSpPr>
        <p:spPr>
          <a:xfrm>
            <a:off x="1353610" y="2102435"/>
            <a:ext cx="2921653" cy="873067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rapezoid 8">
            <a:extLst>
              <a:ext uri="{FF2B5EF4-FFF2-40B4-BE49-F238E27FC236}">
                <a16:creationId xmlns:a16="http://schemas.microsoft.com/office/drawing/2014/main" id="{0CB8ACAE-042F-7B14-69E1-BB2A74B28DC5}"/>
              </a:ext>
            </a:extLst>
          </p:cNvPr>
          <p:cNvSpPr/>
          <p:nvPr/>
        </p:nvSpPr>
        <p:spPr>
          <a:xfrm flipV="1">
            <a:off x="2148792" y="2650321"/>
            <a:ext cx="1376161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981887C-D465-26A8-9E73-30F8FF6FEF42}"/>
              </a:ext>
            </a:extLst>
          </p:cNvPr>
          <p:cNvSpPr/>
          <p:nvPr/>
        </p:nvSpPr>
        <p:spPr>
          <a:xfrm>
            <a:off x="1797628" y="2102435"/>
            <a:ext cx="2033618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rapezoid 10">
            <a:extLst>
              <a:ext uri="{FF2B5EF4-FFF2-40B4-BE49-F238E27FC236}">
                <a16:creationId xmlns:a16="http://schemas.microsoft.com/office/drawing/2014/main" id="{4B3AADB7-038E-90B5-54EE-0094F6A998B0}"/>
              </a:ext>
            </a:extLst>
          </p:cNvPr>
          <p:cNvSpPr/>
          <p:nvPr/>
        </p:nvSpPr>
        <p:spPr>
          <a:xfrm flipV="1">
            <a:off x="1645118" y="3423949"/>
            <a:ext cx="2338636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278BA5-8254-8945-E60F-C2203D50C465}"/>
              </a:ext>
            </a:extLst>
          </p:cNvPr>
          <p:cNvCxnSpPr>
            <a:cxnSpLocks/>
          </p:cNvCxnSpPr>
          <p:nvPr/>
        </p:nvCxnSpPr>
        <p:spPr>
          <a:xfrm flipV="1">
            <a:off x="2372659" y="3187918"/>
            <a:ext cx="999191" cy="185885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A8DDB7-BB56-036B-328A-85DC17EE6523}"/>
              </a:ext>
            </a:extLst>
          </p:cNvPr>
          <p:cNvCxnSpPr>
            <a:cxnSpLocks/>
          </p:cNvCxnSpPr>
          <p:nvPr/>
        </p:nvCxnSpPr>
        <p:spPr>
          <a:xfrm flipV="1">
            <a:off x="2314575" y="2975502"/>
            <a:ext cx="1103966" cy="240831"/>
          </a:xfrm>
          <a:prstGeom prst="line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16A06E-C831-DAAF-7B1D-7CB7CF33AAC9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2190750" y="3039484"/>
            <a:ext cx="68392" cy="522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1DD2B7-6A06-56A5-FCC7-8BA985DF1E57}"/>
              </a:ext>
            </a:extLst>
          </p:cNvPr>
          <p:cNvCxnSpPr>
            <a:cxnSpLocks/>
          </p:cNvCxnSpPr>
          <p:nvPr/>
        </p:nvCxnSpPr>
        <p:spPr>
          <a:xfrm>
            <a:off x="2166470" y="3090500"/>
            <a:ext cx="92672" cy="39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ADAECB4-2E0D-7990-A548-D6501460C620}"/>
              </a:ext>
            </a:extLst>
          </p:cNvPr>
          <p:cNvCxnSpPr>
            <a:cxnSpLocks/>
          </p:cNvCxnSpPr>
          <p:nvPr/>
        </p:nvCxnSpPr>
        <p:spPr>
          <a:xfrm flipH="1">
            <a:off x="2208163" y="3211606"/>
            <a:ext cx="78729" cy="91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&quot;Not Allowed&quot; Symbol 12">
            <a:extLst>
              <a:ext uri="{FF2B5EF4-FFF2-40B4-BE49-F238E27FC236}">
                <a16:creationId xmlns:a16="http://schemas.microsoft.com/office/drawing/2014/main" id="{C2DD34AB-EA13-3345-1614-23DB9C23D066}"/>
              </a:ext>
            </a:extLst>
          </p:cNvPr>
          <p:cNvSpPr/>
          <p:nvPr/>
        </p:nvSpPr>
        <p:spPr>
          <a:xfrm>
            <a:off x="1332038" y="1701952"/>
            <a:ext cx="2943225" cy="2675064"/>
          </a:xfrm>
          <a:prstGeom prst="noSmoking">
            <a:avLst>
              <a:gd name="adj" fmla="val 7051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A9496C1-991B-312C-0031-96670D7474D6}"/>
              </a:ext>
            </a:extLst>
          </p:cNvPr>
          <p:cNvSpPr/>
          <p:nvPr/>
        </p:nvSpPr>
        <p:spPr>
          <a:xfrm>
            <a:off x="1112251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A14DA106-6BF0-F94B-67FD-60FB7426E165}"/>
              </a:ext>
            </a:extLst>
          </p:cNvPr>
          <p:cNvSpPr/>
          <p:nvPr/>
        </p:nvSpPr>
        <p:spPr>
          <a:xfrm flipH="1">
            <a:off x="3403940" y="2791770"/>
            <a:ext cx="1152832" cy="474358"/>
          </a:xfrm>
          <a:prstGeom prst="triangle">
            <a:avLst>
              <a:gd name="adj" fmla="val 4168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37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F677A24D-A5C0-159B-9A24-F2173B61C58D}"/>
              </a:ext>
            </a:extLst>
          </p:cNvPr>
          <p:cNvSpPr/>
          <p:nvPr/>
        </p:nvSpPr>
        <p:spPr>
          <a:xfrm>
            <a:off x="660748" y="5098220"/>
            <a:ext cx="1552469" cy="474358"/>
          </a:xfrm>
          <a:prstGeom prst="triangle">
            <a:avLst>
              <a:gd name="adj" fmla="val 316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08DD37-E2CD-7281-2F42-FFAF252F1DBA}"/>
              </a:ext>
            </a:extLst>
          </p:cNvPr>
          <p:cNvSpPr/>
          <p:nvPr/>
        </p:nvSpPr>
        <p:spPr>
          <a:xfrm>
            <a:off x="651891" y="2305878"/>
            <a:ext cx="1822368" cy="1085483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Styles</a:t>
            </a:r>
            <a:br>
              <a:rPr lang="en-US" dirty="0"/>
            </a:br>
            <a:r>
              <a:rPr lang="en-US" sz="2800" dirty="0"/>
              <a:t>The most common four archetypes of… </a:t>
            </a:r>
            <a:r>
              <a:rPr lang="en-US" sz="2800" i="1" dirty="0"/>
              <a:t>thirty?</a:t>
            </a:r>
            <a:r>
              <a:rPr lang="en-US" sz="2800" dirty="0"/>
              <a:t>  Really?!?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08274"/>
            <a:ext cx="2576854" cy="39704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Formal Upright</a:t>
            </a: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631E4C-7D6E-8C66-D3EA-BAA5DED689F3}"/>
              </a:ext>
            </a:extLst>
          </p:cNvPr>
          <p:cNvSpPr txBox="1">
            <a:spLocks/>
          </p:cNvSpPr>
          <p:nvPr/>
        </p:nvSpPr>
        <p:spPr>
          <a:xfrm>
            <a:off x="2627158" y="2165678"/>
            <a:ext cx="3024696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Strong, proud, “yang”</a:t>
            </a:r>
          </a:p>
          <a:p>
            <a:r>
              <a:rPr lang="en-US" sz="1400" dirty="0"/>
              <a:t>Pot: unglazed earthenware; simple shape; bulging</a:t>
            </a:r>
          </a:p>
          <a:p>
            <a:r>
              <a:rPr lang="en-US" sz="1400" dirty="0"/>
              <a:t>Can be hard to develop taper, especially on conifers</a:t>
            </a:r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A8D2AAA-9063-612C-8ED3-7BB0257EB117}"/>
              </a:ext>
            </a:extLst>
          </p:cNvPr>
          <p:cNvSpPr txBox="1">
            <a:spLocks/>
          </p:cNvSpPr>
          <p:nvPr/>
        </p:nvSpPr>
        <p:spPr>
          <a:xfrm>
            <a:off x="6102108" y="1808274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Cascade</a:t>
            </a:r>
            <a:endParaRPr lang="en-GB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EF1174-AC1B-04C0-3B0D-656CB6274625}"/>
              </a:ext>
            </a:extLst>
          </p:cNvPr>
          <p:cNvSpPr txBox="1">
            <a:spLocks/>
          </p:cNvSpPr>
          <p:nvPr/>
        </p:nvSpPr>
        <p:spPr>
          <a:xfrm>
            <a:off x="8052493" y="2165678"/>
            <a:ext cx="3189247" cy="1675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Flowing, falling</a:t>
            </a:r>
          </a:p>
          <a:p>
            <a:r>
              <a:rPr lang="en-US" sz="1400" dirty="0"/>
              <a:t>Pot: deep to make space</a:t>
            </a:r>
          </a:p>
          <a:p>
            <a:r>
              <a:rPr lang="en-US" sz="1400" dirty="0"/>
              <a:t>“Half-cascade” runs to base of pot; “cascade” goes below that</a:t>
            </a:r>
          </a:p>
          <a:p>
            <a:endParaRPr lang="en-US" sz="1400" dirty="0"/>
          </a:p>
          <a:p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800CBD3-C4C2-8ACF-8499-D4DF3DB0DA94}"/>
              </a:ext>
            </a:extLst>
          </p:cNvPr>
          <p:cNvSpPr txBox="1">
            <a:spLocks/>
          </p:cNvSpPr>
          <p:nvPr/>
        </p:nvSpPr>
        <p:spPr>
          <a:xfrm>
            <a:off x="677334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Informal Upright</a:t>
            </a:r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C718798-79AE-377D-880B-52DBF5A45C31}"/>
              </a:ext>
            </a:extLst>
          </p:cNvPr>
          <p:cNvSpPr txBox="1">
            <a:spLocks/>
          </p:cNvSpPr>
          <p:nvPr/>
        </p:nvSpPr>
        <p:spPr>
          <a:xfrm>
            <a:off x="2627158" y="4616585"/>
            <a:ext cx="3024696" cy="15669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Relaxed, elegant, “yin”</a:t>
            </a:r>
          </a:p>
          <a:p>
            <a:r>
              <a:rPr lang="en-US" sz="1400" dirty="0"/>
              <a:t>Pot: glazed; fluting; flowery</a:t>
            </a:r>
          </a:p>
          <a:p>
            <a:r>
              <a:rPr lang="en-US" sz="1400" dirty="0"/>
              <a:t>Broad range of possible shapes</a:t>
            </a:r>
          </a:p>
          <a:p>
            <a:r>
              <a:rPr lang="en-US" sz="1400" dirty="0"/>
              <a:t>Basically the default style!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C20FBA2-97AC-D995-7F46-814530763315}"/>
              </a:ext>
            </a:extLst>
          </p:cNvPr>
          <p:cNvSpPr txBox="1">
            <a:spLocks/>
          </p:cNvSpPr>
          <p:nvPr/>
        </p:nvSpPr>
        <p:spPr>
          <a:xfrm>
            <a:off x="6096000" y="4259181"/>
            <a:ext cx="2576854" cy="3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dirty="0"/>
              <a:t>Literati</a:t>
            </a:r>
            <a:endParaRPr lang="en-GB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56A22B6-2C00-7452-E641-D711821B9CEF}"/>
              </a:ext>
            </a:extLst>
          </p:cNvPr>
          <p:cNvSpPr txBox="1">
            <a:spLocks/>
          </p:cNvSpPr>
          <p:nvPr/>
        </p:nvSpPr>
        <p:spPr>
          <a:xfrm>
            <a:off x="8045824" y="4616584"/>
            <a:ext cx="3024696" cy="209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Solitary, melancholy, bleak</a:t>
            </a:r>
          </a:p>
          <a:p>
            <a:r>
              <a:rPr lang="en-US" sz="1400" dirty="0"/>
              <a:t>Trunk: bare, ruptured, calligraphic</a:t>
            </a:r>
          </a:p>
          <a:p>
            <a:r>
              <a:rPr lang="en-US" sz="1400" dirty="0"/>
              <a:t>Pot: small to </a:t>
            </a:r>
            <a:r>
              <a:rPr lang="en-US" sz="1400" dirty="0" err="1"/>
              <a:t>emphasise</a:t>
            </a:r>
            <a:r>
              <a:rPr lang="en-US" sz="1400" dirty="0"/>
              <a:t> plant’s extravagant loneliness</a:t>
            </a:r>
          </a:p>
          <a:p>
            <a:r>
              <a:rPr lang="en-US" sz="1400" dirty="0"/>
              <a:t>Style derived from woodcuts in classic Chinese drawing guide</a:t>
            </a:r>
            <a:endParaRPr lang="en-GB" sz="1400" dirty="0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5E2CE244-7E50-FFC0-A1CB-EEC86F0EB208}"/>
              </a:ext>
            </a:extLst>
          </p:cNvPr>
          <p:cNvSpPr/>
          <p:nvPr/>
        </p:nvSpPr>
        <p:spPr>
          <a:xfrm>
            <a:off x="1147882" y="2853764"/>
            <a:ext cx="858374" cy="882798"/>
          </a:xfrm>
          <a:prstGeom prst="trapezoid">
            <a:avLst/>
          </a:prstGeom>
          <a:solidFill>
            <a:srgbClr val="9966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A1088223-DBA3-D266-8F29-9A20353CB975}"/>
              </a:ext>
            </a:extLst>
          </p:cNvPr>
          <p:cNvSpPr/>
          <p:nvPr/>
        </p:nvSpPr>
        <p:spPr>
          <a:xfrm>
            <a:off x="928845" y="2305878"/>
            <a:ext cx="1268460" cy="75191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rapezoid 17">
            <a:extLst>
              <a:ext uri="{FF2B5EF4-FFF2-40B4-BE49-F238E27FC236}">
                <a16:creationId xmlns:a16="http://schemas.microsoft.com/office/drawing/2014/main" id="{DACC2588-F4F0-9B75-1A34-1DE78D037377}"/>
              </a:ext>
            </a:extLst>
          </p:cNvPr>
          <p:cNvSpPr/>
          <p:nvPr/>
        </p:nvSpPr>
        <p:spPr>
          <a:xfrm flipV="1">
            <a:off x="833718" y="3627392"/>
            <a:ext cx="1458714" cy="397044"/>
          </a:xfrm>
          <a:prstGeom prst="trapezoid">
            <a:avLst>
              <a:gd name="adj" fmla="val 182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947CB1-9DA4-4939-05F5-D160E8DEB58E}"/>
              </a:ext>
            </a:extLst>
          </p:cNvPr>
          <p:cNvSpPr/>
          <p:nvPr/>
        </p:nvSpPr>
        <p:spPr>
          <a:xfrm>
            <a:off x="1354861" y="4816334"/>
            <a:ext cx="444415" cy="1236424"/>
          </a:xfrm>
          <a:custGeom>
            <a:avLst/>
            <a:gdLst>
              <a:gd name="connsiteX0" fmla="*/ 255494 w 444415"/>
              <a:gd name="connsiteY0" fmla="*/ 1236424 h 1236424"/>
              <a:gd name="connsiteX1" fmla="*/ 107576 w 444415"/>
              <a:gd name="connsiteY1" fmla="*/ 873354 h 1236424"/>
              <a:gd name="connsiteX2" fmla="*/ 443753 w 444415"/>
              <a:gd name="connsiteY2" fmla="*/ 537177 h 1236424"/>
              <a:gd name="connsiteX3" fmla="*/ 188259 w 444415"/>
              <a:gd name="connsiteY3" fmla="*/ 12742 h 1236424"/>
              <a:gd name="connsiteX4" fmla="*/ 0 w 444415"/>
              <a:gd name="connsiteY4" fmla="*/ 160660 h 1236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4415" h="1236424">
                <a:moveTo>
                  <a:pt x="255494" y="1236424"/>
                </a:moveTo>
                <a:cubicBezTo>
                  <a:pt x="165846" y="1113159"/>
                  <a:pt x="76199" y="989895"/>
                  <a:pt x="107576" y="873354"/>
                </a:cubicBezTo>
                <a:cubicBezTo>
                  <a:pt x="138952" y="756813"/>
                  <a:pt x="430306" y="680612"/>
                  <a:pt x="443753" y="537177"/>
                </a:cubicBezTo>
                <a:cubicBezTo>
                  <a:pt x="457200" y="393742"/>
                  <a:pt x="262218" y="75495"/>
                  <a:pt x="188259" y="12742"/>
                </a:cubicBezTo>
                <a:cubicBezTo>
                  <a:pt x="114300" y="-50011"/>
                  <a:pt x="26894" y="138248"/>
                  <a:pt x="0" y="160660"/>
                </a:cubicBezTo>
              </a:path>
            </a:pathLst>
          </a:custGeom>
          <a:noFill/>
          <a:ln w="228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44154427-6386-C906-BC32-CB49DA45C293}"/>
              </a:ext>
            </a:extLst>
          </p:cNvPr>
          <p:cNvSpPr/>
          <p:nvPr/>
        </p:nvSpPr>
        <p:spPr>
          <a:xfrm flipV="1">
            <a:off x="829916" y="5889811"/>
            <a:ext cx="1458714" cy="293709"/>
          </a:xfrm>
          <a:prstGeom prst="trapezoid">
            <a:avLst>
              <a:gd name="adj" fmla="val 4870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028FB484-0C07-9E36-089F-B673E87B3FB8}"/>
              </a:ext>
            </a:extLst>
          </p:cNvPr>
          <p:cNvSpPr/>
          <p:nvPr/>
        </p:nvSpPr>
        <p:spPr>
          <a:xfrm>
            <a:off x="919736" y="4581582"/>
            <a:ext cx="1359785" cy="55362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0E40B26-21E0-C2BE-04E9-E6372E1C9DD9}"/>
              </a:ext>
            </a:extLst>
          </p:cNvPr>
          <p:cNvSpPr/>
          <p:nvPr/>
        </p:nvSpPr>
        <p:spPr>
          <a:xfrm>
            <a:off x="6497021" y="2645640"/>
            <a:ext cx="1398494" cy="1122073"/>
          </a:xfrm>
          <a:custGeom>
            <a:avLst/>
            <a:gdLst>
              <a:gd name="connsiteX0" fmla="*/ 0 w 1398494"/>
              <a:gd name="connsiteY0" fmla="*/ 543515 h 1122073"/>
              <a:gd name="connsiteX1" fmla="*/ 242047 w 1398494"/>
              <a:gd name="connsiteY1" fmla="*/ 32527 h 1122073"/>
              <a:gd name="connsiteX2" fmla="*/ 685800 w 1398494"/>
              <a:gd name="connsiteY2" fmla="*/ 99762 h 1122073"/>
              <a:gd name="connsiteX3" fmla="*/ 927847 w 1398494"/>
              <a:gd name="connsiteY3" fmla="*/ 489727 h 1122073"/>
              <a:gd name="connsiteX4" fmla="*/ 699247 w 1398494"/>
              <a:gd name="connsiteY4" fmla="*/ 718327 h 1122073"/>
              <a:gd name="connsiteX5" fmla="*/ 1021977 w 1398494"/>
              <a:gd name="connsiteY5" fmla="*/ 852798 h 1122073"/>
              <a:gd name="connsiteX6" fmla="*/ 739588 w 1398494"/>
              <a:gd name="connsiteY6" fmla="*/ 987268 h 1122073"/>
              <a:gd name="connsiteX7" fmla="*/ 1398494 w 1398494"/>
              <a:gd name="connsiteY7" fmla="*/ 1121739 h 1122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98494" h="1122073">
                <a:moveTo>
                  <a:pt x="0" y="543515"/>
                </a:moveTo>
                <a:cubicBezTo>
                  <a:pt x="63873" y="325000"/>
                  <a:pt x="127747" y="106486"/>
                  <a:pt x="242047" y="32527"/>
                </a:cubicBezTo>
                <a:cubicBezTo>
                  <a:pt x="356347" y="-41432"/>
                  <a:pt x="571500" y="23562"/>
                  <a:pt x="685800" y="99762"/>
                </a:cubicBezTo>
                <a:cubicBezTo>
                  <a:pt x="800100" y="175962"/>
                  <a:pt x="925606" y="386633"/>
                  <a:pt x="927847" y="489727"/>
                </a:cubicBezTo>
                <a:cubicBezTo>
                  <a:pt x="930088" y="592821"/>
                  <a:pt x="683559" y="657815"/>
                  <a:pt x="699247" y="718327"/>
                </a:cubicBezTo>
                <a:cubicBezTo>
                  <a:pt x="714935" y="778839"/>
                  <a:pt x="1015254" y="807975"/>
                  <a:pt x="1021977" y="852798"/>
                </a:cubicBezTo>
                <a:cubicBezTo>
                  <a:pt x="1028700" y="897621"/>
                  <a:pt x="676835" y="942445"/>
                  <a:pt x="739588" y="987268"/>
                </a:cubicBezTo>
                <a:cubicBezTo>
                  <a:pt x="802341" y="1032092"/>
                  <a:pt x="1329018" y="1128462"/>
                  <a:pt x="1398494" y="1121739"/>
                </a:cubicBezTo>
              </a:path>
            </a:pathLst>
          </a:custGeom>
          <a:noFill/>
          <a:ln w="1016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rapezoid 25">
            <a:extLst>
              <a:ext uri="{FF2B5EF4-FFF2-40B4-BE49-F238E27FC236}">
                <a16:creationId xmlns:a16="http://schemas.microsoft.com/office/drawing/2014/main" id="{CEE1803A-2129-D414-2C1D-C7DA64F1A04A}"/>
              </a:ext>
            </a:extLst>
          </p:cNvPr>
          <p:cNvSpPr/>
          <p:nvPr/>
        </p:nvSpPr>
        <p:spPr>
          <a:xfrm flipV="1">
            <a:off x="6081707" y="2949975"/>
            <a:ext cx="850814" cy="684336"/>
          </a:xfrm>
          <a:prstGeom prst="trapezoid">
            <a:avLst>
              <a:gd name="adj" fmla="val 2055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35EC5AD5-C9C0-6597-8276-AC6F5604991D}"/>
              </a:ext>
            </a:extLst>
          </p:cNvPr>
          <p:cNvSpPr/>
          <p:nvPr/>
        </p:nvSpPr>
        <p:spPr>
          <a:xfrm>
            <a:off x="6819546" y="2274325"/>
            <a:ext cx="1050588" cy="47116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B056FC23-AD84-3346-0119-9B3E923F64A8}"/>
              </a:ext>
            </a:extLst>
          </p:cNvPr>
          <p:cNvSpPr/>
          <p:nvPr/>
        </p:nvSpPr>
        <p:spPr>
          <a:xfrm>
            <a:off x="6098714" y="2466846"/>
            <a:ext cx="643062" cy="312781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08FD15-C66B-8CB1-A7A7-8FED5A3501C6}"/>
              </a:ext>
            </a:extLst>
          </p:cNvPr>
          <p:cNvSpPr/>
          <p:nvPr/>
        </p:nvSpPr>
        <p:spPr>
          <a:xfrm>
            <a:off x="6807686" y="2929704"/>
            <a:ext cx="651180" cy="4412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879D670-A028-604F-1809-8BD75A672B76}"/>
              </a:ext>
            </a:extLst>
          </p:cNvPr>
          <p:cNvSpPr/>
          <p:nvPr/>
        </p:nvSpPr>
        <p:spPr>
          <a:xfrm>
            <a:off x="7435390" y="3391361"/>
            <a:ext cx="858432" cy="565398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7FAC7FB-5F6C-76BB-8329-D5414813E0EB}"/>
              </a:ext>
            </a:extLst>
          </p:cNvPr>
          <p:cNvSpPr/>
          <p:nvPr/>
        </p:nvSpPr>
        <p:spPr>
          <a:xfrm>
            <a:off x="6358191" y="4919631"/>
            <a:ext cx="723935" cy="1133127"/>
          </a:xfrm>
          <a:custGeom>
            <a:avLst/>
            <a:gdLst>
              <a:gd name="connsiteX0" fmla="*/ 408161 w 723935"/>
              <a:gd name="connsiteY0" fmla="*/ 1101341 h 1101341"/>
              <a:gd name="connsiteX1" fmla="*/ 520702 w 723935"/>
              <a:gd name="connsiteY1" fmla="*/ 693378 h 1101341"/>
              <a:gd name="connsiteX2" fmla="*/ 14265 w 723935"/>
              <a:gd name="connsiteY2" fmla="*/ 172874 h 1101341"/>
              <a:gd name="connsiteX3" fmla="*/ 169010 w 723935"/>
              <a:gd name="connsiteY3" fmla="*/ 215077 h 1101341"/>
              <a:gd name="connsiteX4" fmla="*/ 478499 w 723935"/>
              <a:gd name="connsiteY4" fmla="*/ 201009 h 1101341"/>
              <a:gd name="connsiteX5" fmla="*/ 717650 w 723935"/>
              <a:gd name="connsiteY5" fmla="*/ 46264 h 1101341"/>
              <a:gd name="connsiteX6" fmla="*/ 633244 w 723935"/>
              <a:gd name="connsiteY6" fmla="*/ 4061 h 1101341"/>
              <a:gd name="connsiteX7" fmla="*/ 408161 w 723935"/>
              <a:gd name="connsiteY7" fmla="*/ 4061 h 1101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3935" h="1101341">
                <a:moveTo>
                  <a:pt x="408161" y="1101341"/>
                </a:moveTo>
                <a:cubicBezTo>
                  <a:pt x="497256" y="974731"/>
                  <a:pt x="586351" y="848122"/>
                  <a:pt x="520702" y="693378"/>
                </a:cubicBezTo>
                <a:cubicBezTo>
                  <a:pt x="455053" y="538634"/>
                  <a:pt x="72880" y="252591"/>
                  <a:pt x="14265" y="172874"/>
                </a:cubicBezTo>
                <a:cubicBezTo>
                  <a:pt x="-44350" y="93157"/>
                  <a:pt x="91638" y="210388"/>
                  <a:pt x="169010" y="215077"/>
                </a:cubicBezTo>
                <a:cubicBezTo>
                  <a:pt x="246382" y="219766"/>
                  <a:pt x="387059" y="229144"/>
                  <a:pt x="478499" y="201009"/>
                </a:cubicBezTo>
                <a:cubicBezTo>
                  <a:pt x="569939" y="172874"/>
                  <a:pt x="691859" y="79089"/>
                  <a:pt x="717650" y="46264"/>
                </a:cubicBezTo>
                <a:cubicBezTo>
                  <a:pt x="743441" y="13439"/>
                  <a:pt x="684825" y="11095"/>
                  <a:pt x="633244" y="4061"/>
                </a:cubicBezTo>
                <a:cubicBezTo>
                  <a:pt x="581663" y="-2973"/>
                  <a:pt x="494912" y="544"/>
                  <a:pt x="408161" y="4061"/>
                </a:cubicBezTo>
              </a:path>
            </a:pathLst>
          </a:custGeom>
          <a:noFill/>
          <a:ln w="88900">
            <a:solidFill>
              <a:srgbClr val="996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8B34B69E-6200-0A4F-1D6A-1615D536189B}"/>
              </a:ext>
            </a:extLst>
          </p:cNvPr>
          <p:cNvSpPr/>
          <p:nvPr/>
        </p:nvSpPr>
        <p:spPr>
          <a:xfrm rot="897493">
            <a:off x="6623921" y="4702728"/>
            <a:ext cx="843548" cy="349757"/>
          </a:xfrm>
          <a:prstGeom prst="triangle">
            <a:avLst>
              <a:gd name="adj" fmla="val 3227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rapezoid 31">
            <a:extLst>
              <a:ext uri="{FF2B5EF4-FFF2-40B4-BE49-F238E27FC236}">
                <a16:creationId xmlns:a16="http://schemas.microsoft.com/office/drawing/2014/main" id="{FEAAF144-F458-9FB3-9F36-F49D14EDB6CB}"/>
              </a:ext>
            </a:extLst>
          </p:cNvPr>
          <p:cNvSpPr/>
          <p:nvPr/>
        </p:nvSpPr>
        <p:spPr>
          <a:xfrm flipV="1">
            <a:off x="6261497" y="5867940"/>
            <a:ext cx="936058" cy="337450"/>
          </a:xfrm>
          <a:prstGeom prst="trapezoid">
            <a:avLst>
              <a:gd name="adj" fmla="val 301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64841AEB-06AF-20C1-66BB-4098825498BB}"/>
              </a:ext>
            </a:extLst>
          </p:cNvPr>
          <p:cNvSpPr/>
          <p:nvPr/>
        </p:nvSpPr>
        <p:spPr>
          <a:xfrm>
            <a:off x="1426179" y="5093118"/>
            <a:ext cx="933769" cy="293710"/>
          </a:xfrm>
          <a:prstGeom prst="triangle">
            <a:avLst>
              <a:gd name="adj" fmla="val 6975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845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Pragmatism 2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Making Life In Miniature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90E97-43B8-BBE0-EC22-ABBB6353524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Minor graphics fixes x3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1209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Bonsai Lifecycle</a:t>
            </a:r>
            <a:br>
              <a:rPr lang="en-US" dirty="0"/>
            </a:br>
            <a:endParaRPr lang="en-GB" sz="28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1C3EA-AE42-BB4B-5ADE-FBBFA44111C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cartoons for each stage</a:t>
            </a:r>
          </a:p>
          <a:p>
            <a:pPr algn="ctr"/>
            <a:r>
              <a:rPr lang="en-US" dirty="0"/>
              <a:t>Make flow diagram less monochrome</a:t>
            </a:r>
            <a:endParaRPr lang="en-GB" dirty="0"/>
          </a:p>
        </p:txBody>
      </p:sp>
      <p:sp>
        <p:nvSpPr>
          <p:cNvPr id="3" name="Trapezoid 2">
            <a:extLst>
              <a:ext uri="{FF2B5EF4-FFF2-40B4-BE49-F238E27FC236}">
                <a16:creationId xmlns:a16="http://schemas.microsoft.com/office/drawing/2014/main" id="{0FD17420-724E-03B3-BF2C-7E8CFE4B1F07}"/>
              </a:ext>
            </a:extLst>
          </p:cNvPr>
          <p:cNvSpPr/>
          <p:nvPr/>
        </p:nvSpPr>
        <p:spPr>
          <a:xfrm rot="5400000">
            <a:off x="1414997" y="3085270"/>
            <a:ext cx="2998694" cy="1008529"/>
          </a:xfrm>
          <a:prstGeom prst="trapezoid">
            <a:avLst>
              <a:gd name="adj" fmla="val 130333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F4E7DE31-1BCD-7A06-DA17-64BB1D58FF7C}"/>
              </a:ext>
            </a:extLst>
          </p:cNvPr>
          <p:cNvSpPr txBox="1">
            <a:spLocks/>
          </p:cNvSpPr>
          <p:nvPr/>
        </p:nvSpPr>
        <p:spPr>
          <a:xfrm>
            <a:off x="548862" y="2227688"/>
            <a:ext cx="1843387" cy="4387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Slow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Seeds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Cuttings</a:t>
            </a:r>
          </a:p>
          <a:p>
            <a:pPr marL="0" indent="0">
              <a:buNone/>
            </a:pPr>
            <a:r>
              <a:rPr lang="en-GB" sz="1400" dirty="0"/>
              <a:t>Fast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seedlings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Scavenging</a:t>
            </a:r>
          </a:p>
          <a:p>
            <a:pPr marL="0" indent="0">
              <a:buNone/>
            </a:pPr>
            <a:r>
              <a:rPr lang="en-GB" sz="1400" dirty="0"/>
              <a:t>Pot-ready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“</a:t>
            </a:r>
            <a:r>
              <a:rPr lang="en-GB" sz="1400" dirty="0" err="1"/>
              <a:t>Nonsai</a:t>
            </a:r>
            <a:r>
              <a:rPr lang="en-GB" sz="1400" dirty="0"/>
              <a:t>”</a:t>
            </a:r>
          </a:p>
          <a:p>
            <a:pPr>
              <a:spcBef>
                <a:spcPts val="300"/>
              </a:spcBef>
            </a:pPr>
            <a:r>
              <a:rPr lang="en-GB" sz="1400" dirty="0"/>
              <a:t>Garden centre mature trees</a:t>
            </a:r>
          </a:p>
          <a:p>
            <a:pPr>
              <a:spcBef>
                <a:spcPts val="300"/>
              </a:spcBef>
            </a:pPr>
            <a:r>
              <a:rPr lang="en-GB" sz="1400" dirty="0" err="1"/>
              <a:t>Yamadori</a:t>
            </a:r>
            <a:endParaRPr lang="en-GB" sz="1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9405C5-0BCF-8E4B-4DA6-60782FDED66A}"/>
              </a:ext>
            </a:extLst>
          </p:cNvPr>
          <p:cNvGrpSpPr/>
          <p:nvPr/>
        </p:nvGrpSpPr>
        <p:grpSpPr>
          <a:xfrm>
            <a:off x="4247708" y="2556311"/>
            <a:ext cx="1888900" cy="2019380"/>
            <a:chOff x="3731971" y="2290401"/>
            <a:chExt cx="1888900" cy="2019380"/>
          </a:xfrm>
        </p:grpSpPr>
        <p:sp>
          <p:nvSpPr>
            <p:cNvPr id="30" name="Arrow: Circular 29">
              <a:extLst>
                <a:ext uri="{FF2B5EF4-FFF2-40B4-BE49-F238E27FC236}">
                  <a16:creationId xmlns:a16="http://schemas.microsoft.com/office/drawing/2014/main" id="{A1FEDF06-78B1-8B94-8CBD-8F3392C69691}"/>
                </a:ext>
              </a:extLst>
            </p:cNvPr>
            <p:cNvSpPr/>
            <p:nvPr/>
          </p:nvSpPr>
          <p:spPr>
            <a:xfrm>
              <a:off x="3731971" y="2290401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1" name="Arrow: Circular 30">
              <a:extLst>
                <a:ext uri="{FF2B5EF4-FFF2-40B4-BE49-F238E27FC236}">
                  <a16:creationId xmlns:a16="http://schemas.microsoft.com/office/drawing/2014/main" id="{E20B37C9-28C9-6F6E-899A-BCA213E1BC58}"/>
                </a:ext>
              </a:extLst>
            </p:cNvPr>
            <p:cNvSpPr/>
            <p:nvPr/>
          </p:nvSpPr>
          <p:spPr>
            <a:xfrm rot="10800000">
              <a:off x="3731971" y="2337464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2DB0C-B25B-0615-CD2A-6D7D56836B57}"/>
              </a:ext>
            </a:extLst>
          </p:cNvPr>
          <p:cNvSpPr/>
          <p:nvPr/>
        </p:nvSpPr>
        <p:spPr>
          <a:xfrm>
            <a:off x="3532344" y="3278191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10DC050C-1620-C940-E4E3-4855DC3C468D}"/>
              </a:ext>
            </a:extLst>
          </p:cNvPr>
          <p:cNvSpPr/>
          <p:nvPr/>
        </p:nvSpPr>
        <p:spPr>
          <a:xfrm>
            <a:off x="6183107" y="3254658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AAB8448-5EB7-5DD9-C9B6-6AD2B12791E2}"/>
              </a:ext>
            </a:extLst>
          </p:cNvPr>
          <p:cNvGrpSpPr/>
          <p:nvPr/>
        </p:nvGrpSpPr>
        <p:grpSpPr>
          <a:xfrm>
            <a:off x="6965706" y="2561873"/>
            <a:ext cx="1888900" cy="2019380"/>
            <a:chOff x="6308474" y="2233250"/>
            <a:chExt cx="1888900" cy="2019380"/>
          </a:xfrm>
        </p:grpSpPr>
        <p:sp>
          <p:nvSpPr>
            <p:cNvPr id="35" name="Arrow: Circular 34">
              <a:extLst>
                <a:ext uri="{FF2B5EF4-FFF2-40B4-BE49-F238E27FC236}">
                  <a16:creationId xmlns:a16="http://schemas.microsoft.com/office/drawing/2014/main" id="{B9E4F5E7-5A0D-9298-A73E-23F7DE9DE7C9}"/>
                </a:ext>
              </a:extLst>
            </p:cNvPr>
            <p:cNvSpPr/>
            <p:nvPr/>
          </p:nvSpPr>
          <p:spPr>
            <a:xfrm>
              <a:off x="6308474" y="2233250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6" name="Arrow: Circular 35">
              <a:extLst>
                <a:ext uri="{FF2B5EF4-FFF2-40B4-BE49-F238E27FC236}">
                  <a16:creationId xmlns:a16="http://schemas.microsoft.com/office/drawing/2014/main" id="{31BD712B-9228-B13C-8BC1-30807E26F37C}"/>
                </a:ext>
              </a:extLst>
            </p:cNvPr>
            <p:cNvSpPr/>
            <p:nvPr/>
          </p:nvSpPr>
          <p:spPr>
            <a:xfrm rot="10800000">
              <a:off x="6308474" y="2280313"/>
              <a:ext cx="1888900" cy="1972317"/>
            </a:xfrm>
            <a:prstGeom prst="circular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7" name="Content Placeholder 14">
            <a:extLst>
              <a:ext uri="{FF2B5EF4-FFF2-40B4-BE49-F238E27FC236}">
                <a16:creationId xmlns:a16="http://schemas.microsoft.com/office/drawing/2014/main" id="{1E58A750-96BA-7065-9AF3-29AFE93CC721}"/>
              </a:ext>
            </a:extLst>
          </p:cNvPr>
          <p:cNvSpPr txBox="1">
            <a:spLocks/>
          </p:cNvSpPr>
          <p:nvPr/>
        </p:nvSpPr>
        <p:spPr>
          <a:xfrm>
            <a:off x="4617820" y="1703300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Training</a:t>
            </a:r>
            <a:endParaRPr lang="en-GB" dirty="0"/>
          </a:p>
        </p:txBody>
      </p:sp>
      <p:sp>
        <p:nvSpPr>
          <p:cNvPr id="38" name="Content Placeholder 14">
            <a:extLst>
              <a:ext uri="{FF2B5EF4-FFF2-40B4-BE49-F238E27FC236}">
                <a16:creationId xmlns:a16="http://schemas.microsoft.com/office/drawing/2014/main" id="{1F7C515D-F5FE-B67B-C076-B9BD7B0206F7}"/>
              </a:ext>
            </a:extLst>
          </p:cNvPr>
          <p:cNvSpPr txBox="1">
            <a:spLocks/>
          </p:cNvSpPr>
          <p:nvPr/>
        </p:nvSpPr>
        <p:spPr>
          <a:xfrm>
            <a:off x="7165608" y="1706658"/>
            <a:ext cx="1573306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Refinement</a:t>
            </a:r>
            <a:endParaRPr lang="en-GB" dirty="0"/>
          </a:p>
        </p:txBody>
      </p:sp>
      <p:sp>
        <p:nvSpPr>
          <p:cNvPr id="39" name="Content Placeholder 14">
            <a:extLst>
              <a:ext uri="{FF2B5EF4-FFF2-40B4-BE49-F238E27FC236}">
                <a16:creationId xmlns:a16="http://schemas.microsoft.com/office/drawing/2014/main" id="{1DBC4C8A-6869-0169-CD53-30429BC6C8B0}"/>
              </a:ext>
            </a:extLst>
          </p:cNvPr>
          <p:cNvSpPr txBox="1">
            <a:spLocks/>
          </p:cNvSpPr>
          <p:nvPr/>
        </p:nvSpPr>
        <p:spPr>
          <a:xfrm>
            <a:off x="3072803" y="305790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On-boarding</a:t>
            </a:r>
            <a:endParaRPr lang="en-GB" sz="1400" dirty="0"/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3256BD72-A453-35CD-0265-2500544BF176}"/>
              </a:ext>
            </a:extLst>
          </p:cNvPr>
          <p:cNvSpPr/>
          <p:nvPr/>
        </p:nvSpPr>
        <p:spPr>
          <a:xfrm rot="10800000">
            <a:off x="5051671" y="3331744"/>
            <a:ext cx="2848026" cy="2288514"/>
          </a:xfrm>
          <a:prstGeom prst="circularArrow">
            <a:avLst>
              <a:gd name="adj1" fmla="val 8803"/>
              <a:gd name="adj2" fmla="val 1035701"/>
              <a:gd name="adj3" fmla="val 20525840"/>
              <a:gd name="adj4" fmla="val 10800000"/>
              <a:gd name="adj5" fmla="val 12358"/>
            </a:avLst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33EB69EF-05CD-C855-3018-0E80BD41F779}"/>
              </a:ext>
            </a:extLst>
          </p:cNvPr>
          <p:cNvSpPr/>
          <p:nvPr/>
        </p:nvSpPr>
        <p:spPr>
          <a:xfrm rot="19956879">
            <a:off x="8747812" y="2561806"/>
            <a:ext cx="1184853" cy="575621"/>
          </a:xfrm>
          <a:prstGeom prst="left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Content Placeholder 14">
            <a:extLst>
              <a:ext uri="{FF2B5EF4-FFF2-40B4-BE49-F238E27FC236}">
                <a16:creationId xmlns:a16="http://schemas.microsoft.com/office/drawing/2014/main" id="{D9AE710E-B206-E281-84FE-3A431B3F132F}"/>
              </a:ext>
            </a:extLst>
          </p:cNvPr>
          <p:cNvSpPr txBox="1">
            <a:spLocks/>
          </p:cNvSpPr>
          <p:nvPr/>
        </p:nvSpPr>
        <p:spPr>
          <a:xfrm>
            <a:off x="4379221" y="2983880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44" name="Content Placeholder 14">
            <a:extLst>
              <a:ext uri="{FF2B5EF4-FFF2-40B4-BE49-F238E27FC236}">
                <a16:creationId xmlns:a16="http://schemas.microsoft.com/office/drawing/2014/main" id="{9AD9B883-56C7-0676-0DAA-5B791FEDF134}"/>
              </a:ext>
            </a:extLst>
          </p:cNvPr>
          <p:cNvSpPr txBox="1">
            <a:spLocks/>
          </p:cNvSpPr>
          <p:nvPr/>
        </p:nvSpPr>
        <p:spPr>
          <a:xfrm>
            <a:off x="4386830" y="3828432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  <a:endParaRPr lang="en-GB" sz="1400" dirty="0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57868C75-8184-31A7-A206-96E45AA56769}"/>
              </a:ext>
            </a:extLst>
          </p:cNvPr>
          <p:cNvSpPr/>
          <p:nvPr/>
        </p:nvSpPr>
        <p:spPr>
          <a:xfrm rot="2834032">
            <a:off x="8236638" y="4697991"/>
            <a:ext cx="190530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Content Placeholder 14">
            <a:extLst>
              <a:ext uri="{FF2B5EF4-FFF2-40B4-BE49-F238E27FC236}">
                <a16:creationId xmlns:a16="http://schemas.microsoft.com/office/drawing/2014/main" id="{EBAF9273-B89E-2145-1495-7CD9B56C5C37}"/>
              </a:ext>
            </a:extLst>
          </p:cNvPr>
          <p:cNvSpPr txBox="1">
            <a:spLocks/>
          </p:cNvSpPr>
          <p:nvPr/>
        </p:nvSpPr>
        <p:spPr>
          <a:xfrm>
            <a:off x="9204271" y="5719948"/>
            <a:ext cx="1604887" cy="714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Dead </a:t>
            </a:r>
            <a:r>
              <a:rPr lang="en-US" sz="1400" dirty="0">
                <a:sym typeface="Wingdings" panose="05000000000000000000" pitchFamily="2" charset="2"/>
              </a:rPr>
              <a:t></a:t>
            </a:r>
            <a:endParaRPr lang="en-GB" sz="1400" dirty="0"/>
          </a:p>
        </p:txBody>
      </p:sp>
      <p:sp>
        <p:nvSpPr>
          <p:cNvPr id="47" name="Content Placeholder 14">
            <a:extLst>
              <a:ext uri="{FF2B5EF4-FFF2-40B4-BE49-F238E27FC236}">
                <a16:creationId xmlns:a16="http://schemas.microsoft.com/office/drawing/2014/main" id="{88148D45-26C0-5824-6474-C75FAE072D69}"/>
              </a:ext>
            </a:extLst>
          </p:cNvPr>
          <p:cNvSpPr txBox="1">
            <a:spLocks/>
          </p:cNvSpPr>
          <p:nvPr/>
        </p:nvSpPr>
        <p:spPr>
          <a:xfrm>
            <a:off x="7120490" y="3048257"/>
            <a:ext cx="1604887" cy="1242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Re-pot</a:t>
            </a:r>
          </a:p>
          <a:p>
            <a:pPr marL="0" indent="0" algn="ctr">
              <a:buNone/>
            </a:pPr>
            <a:r>
              <a:rPr lang="en-US" sz="1400" dirty="0"/>
              <a:t>Prune</a:t>
            </a:r>
          </a:p>
          <a:p>
            <a:pPr marL="0" indent="0" algn="ctr">
              <a:buNone/>
            </a:pPr>
            <a:r>
              <a:rPr lang="en-US" sz="1400" dirty="0"/>
              <a:t>Wire</a:t>
            </a:r>
            <a:endParaRPr lang="en-GB" sz="1400" dirty="0"/>
          </a:p>
        </p:txBody>
      </p:sp>
      <p:sp>
        <p:nvSpPr>
          <p:cNvPr id="48" name="Content Placeholder 14">
            <a:extLst>
              <a:ext uri="{FF2B5EF4-FFF2-40B4-BE49-F238E27FC236}">
                <a16:creationId xmlns:a16="http://schemas.microsoft.com/office/drawing/2014/main" id="{A338A10E-89EB-3CCD-4D82-0CF2EFF5012A}"/>
              </a:ext>
            </a:extLst>
          </p:cNvPr>
          <p:cNvSpPr txBox="1">
            <a:spLocks/>
          </p:cNvSpPr>
          <p:nvPr/>
        </p:nvSpPr>
        <p:spPr>
          <a:xfrm>
            <a:off x="560010" y="1706387"/>
            <a:ext cx="1075514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Sources</a:t>
            </a:r>
            <a:endParaRPr lang="en-GB" dirty="0"/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E05F1373-288F-7ED0-C790-4FB916610FC3}"/>
              </a:ext>
            </a:extLst>
          </p:cNvPr>
          <p:cNvSpPr txBox="1">
            <a:spLocks/>
          </p:cNvSpPr>
          <p:nvPr/>
        </p:nvSpPr>
        <p:spPr>
          <a:xfrm>
            <a:off x="9924594" y="2274900"/>
            <a:ext cx="1843387" cy="1042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Display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Exhibition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Photography</a:t>
            </a:r>
          </a:p>
        </p:txBody>
      </p:sp>
      <p:sp>
        <p:nvSpPr>
          <p:cNvPr id="8" name="Content Placeholder 14">
            <a:extLst>
              <a:ext uri="{FF2B5EF4-FFF2-40B4-BE49-F238E27FC236}">
                <a16:creationId xmlns:a16="http://schemas.microsoft.com/office/drawing/2014/main" id="{EBE6A40A-61A2-8680-63E9-7C52C7FC44BD}"/>
              </a:ext>
            </a:extLst>
          </p:cNvPr>
          <p:cNvSpPr txBox="1">
            <a:spLocks/>
          </p:cNvSpPr>
          <p:nvPr/>
        </p:nvSpPr>
        <p:spPr>
          <a:xfrm>
            <a:off x="5723126" y="5487637"/>
            <a:ext cx="2025420" cy="1162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Major intervention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Restyling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Air layering</a:t>
            </a:r>
          </a:p>
          <a:p>
            <a:pPr>
              <a:spcBef>
                <a:spcPts val="300"/>
              </a:spcBef>
            </a:pPr>
            <a:r>
              <a:rPr lang="en-US" sz="1400" dirty="0"/>
              <a:t>Deadwood</a:t>
            </a:r>
          </a:p>
        </p:txBody>
      </p:sp>
    </p:spTree>
    <p:extLst>
      <p:ext uri="{BB962C8B-B14F-4D97-AF65-F5344CB8AC3E}">
        <p14:creationId xmlns:p14="http://schemas.microsoft.com/office/powerpoint/2010/main" val="847133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Why We Prune</a:t>
            </a:r>
            <a:br>
              <a:rPr lang="en-US" dirty="0"/>
            </a:br>
            <a:r>
              <a:rPr lang="en-US" sz="2800" dirty="0"/>
              <a:t>It’s not just repressed sadism, honest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/>
          </a:bodyPr>
          <a:lstStyle/>
          <a:p>
            <a:r>
              <a:rPr lang="en-GB" dirty="0"/>
              <a:t>Shape the tree</a:t>
            </a:r>
          </a:p>
          <a:p>
            <a:pPr lvl="1"/>
            <a:r>
              <a:rPr lang="en-GB" dirty="0"/>
              <a:t>“Structural” pruning to shape trunk + primary branches and fit a bonsai style / archetype</a:t>
            </a:r>
          </a:p>
          <a:p>
            <a:pPr lvl="1"/>
            <a:r>
              <a:rPr lang="en-GB" dirty="0"/>
              <a:t>Canopy pruning to create rounded-triangle shape(s)</a:t>
            </a:r>
          </a:p>
          <a:p>
            <a:r>
              <a:rPr lang="en-GB" dirty="0"/>
              <a:t>Shape the branch - encourage ramification and taper</a:t>
            </a:r>
          </a:p>
          <a:p>
            <a:pPr lvl="1"/>
            <a:r>
              <a:rPr lang="en-GB" dirty="0"/>
              <a:t>Encouraging lateral growth by removing terminal / apical buds</a:t>
            </a:r>
          </a:p>
          <a:p>
            <a:pPr lvl="1"/>
            <a:r>
              <a:rPr lang="en-GB" dirty="0"/>
              <a:t>Continuing the ramification process past the eye’s limits makes</a:t>
            </a:r>
            <a:br>
              <a:rPr lang="en-GB" dirty="0"/>
            </a:br>
            <a:r>
              <a:rPr lang="en-GB" dirty="0"/>
              <a:t>judging scale difficult and creates the illusion of great size </a:t>
            </a:r>
          </a:p>
          <a:p>
            <a:r>
              <a:rPr lang="en-GB" dirty="0"/>
              <a:t>Pick winners - before the tree can pick for us!</a:t>
            </a:r>
          </a:p>
          <a:p>
            <a:pPr lvl="1"/>
            <a:r>
              <a:rPr lang="en-GB" dirty="0"/>
              <a:t>Improve spacing and remove congestion and “fluff”</a:t>
            </a:r>
          </a:p>
          <a:p>
            <a:pPr lvl="1"/>
            <a:r>
              <a:rPr lang="en-GB" dirty="0"/>
              <a:t>“Balance energy”: force growth away from the apex towards more interesting (to us) areas</a:t>
            </a:r>
          </a:p>
          <a:p>
            <a:r>
              <a:rPr lang="en-GB" dirty="0"/>
              <a:t>Crowd management - reduction of green mass</a:t>
            </a:r>
          </a:p>
          <a:p>
            <a:pPr lvl="1"/>
            <a:r>
              <a:rPr lang="en-GB" dirty="0"/>
              <a:t>Let light through to lower areas of the tree (pruning for “inner growth”)</a:t>
            </a:r>
          </a:p>
          <a:p>
            <a:pPr lvl="1"/>
            <a:r>
              <a:rPr lang="en-GB" dirty="0"/>
              <a:t>Reduce water shock when re-potting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417E18-8FBC-F29E-544E-05CC635A49B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89DE1-5065-0A78-297D-01F71A48B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149" y="2859121"/>
            <a:ext cx="2245157" cy="182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01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CE145-4FC4-3AD6-3AFE-76C38F53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58358601-A6C9-F83A-9245-B33795AE8C2E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FBF618-F971-8331-4D68-2D346D41F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How We Prune</a:t>
            </a:r>
            <a:br>
              <a:rPr lang="en-US" dirty="0"/>
            </a:br>
            <a:r>
              <a:rPr lang="en-US" sz="2800" dirty="0"/>
              <a:t>A high-level introduction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8C945-C1B7-AA64-4B6F-D8CDE1ADB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961966"/>
          </a:xfrm>
        </p:spPr>
        <p:txBody>
          <a:bodyPr>
            <a:normAutofit fontScale="92500" lnSpcReduction="10000"/>
          </a:bodyPr>
          <a:lstStyle/>
          <a:p>
            <a:pPr>
              <a:buFont typeface="+mj-lt"/>
              <a:buAutoNum type="arabicPeriod"/>
            </a:pPr>
            <a:r>
              <a:rPr lang="en-GB" u="sng" dirty="0"/>
              <a:t>Clear</a:t>
            </a:r>
            <a:r>
              <a:rPr lang="en-GB" dirty="0"/>
              <a:t> the base of the trunk or branch</a:t>
            </a:r>
          </a:p>
          <a:p>
            <a:pPr lvl="1"/>
            <a:r>
              <a:rPr lang="en-GB" dirty="0"/>
              <a:t>Remove fluff from around the base of the limb</a:t>
            </a:r>
          </a:p>
          <a:p>
            <a:pPr lvl="1"/>
            <a:r>
              <a:rPr lang="en-GB" dirty="0"/>
              <a:t>Create “inter-node distance” where none exists</a:t>
            </a:r>
          </a:p>
          <a:p>
            <a:pPr lvl="1"/>
            <a:r>
              <a:rPr lang="en-GB" dirty="0"/>
              <a:t>Force development of </a:t>
            </a:r>
            <a:r>
              <a:rPr lang="en-GB" dirty="0" err="1"/>
              <a:t>oldwood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u="sng" dirty="0"/>
              <a:t>Chop</a:t>
            </a:r>
            <a:r>
              <a:rPr lang="en-GB" dirty="0"/>
              <a:t> the end</a:t>
            </a:r>
          </a:p>
          <a:p>
            <a:pPr lvl="1"/>
            <a:r>
              <a:rPr lang="en-GB" dirty="0"/>
              <a:t>Reduce “</a:t>
            </a:r>
            <a:r>
              <a:rPr lang="en-GB" dirty="0" err="1"/>
              <a:t>legginess</a:t>
            </a:r>
            <a:r>
              <a:rPr lang="en-GB" dirty="0"/>
              <a:t>” and encourage growth further back</a:t>
            </a:r>
          </a:p>
          <a:p>
            <a:pPr lvl="1"/>
            <a:r>
              <a:rPr lang="en-GB" dirty="0"/>
              <a:t>Cut some way back from the intended canopy so</a:t>
            </a:r>
            <a:br>
              <a:rPr lang="en-GB" dirty="0"/>
            </a:br>
            <a:r>
              <a:rPr lang="en-GB" dirty="0"/>
              <a:t>the limb can grow to fill it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Control</a:t>
            </a:r>
            <a:r>
              <a:rPr lang="en-GB" dirty="0"/>
              <a:t> the middle</a:t>
            </a:r>
          </a:p>
          <a:p>
            <a:pPr lvl="1"/>
            <a:r>
              <a:rPr lang="en-GB" dirty="0"/>
              <a:t>Choose which side-branches to keep</a:t>
            </a:r>
          </a:p>
          <a:p>
            <a:pPr lvl="1"/>
            <a:r>
              <a:rPr lang="en-GB" dirty="0"/>
              <a:t>Always start from the base!</a:t>
            </a:r>
          </a:p>
          <a:p>
            <a:pPr lvl="1"/>
            <a:r>
              <a:rPr lang="en-GB" dirty="0"/>
              <a:t>First retained side-branch should be thickest</a:t>
            </a:r>
          </a:p>
          <a:p>
            <a:pPr>
              <a:buFont typeface="+mj-lt"/>
              <a:buAutoNum type="arabicPeriod"/>
            </a:pPr>
            <a:r>
              <a:rPr lang="en-GB" u="sng" dirty="0"/>
              <a:t>Continue</a:t>
            </a:r>
            <a:r>
              <a:rPr lang="en-GB" dirty="0"/>
              <a:t> the process with side-branches</a:t>
            </a:r>
          </a:p>
          <a:p>
            <a:pPr lvl="1"/>
            <a:r>
              <a:rPr lang="en-GB" dirty="0"/>
              <a:t>…making this a “recursive” or “fractal” process</a:t>
            </a:r>
          </a:p>
          <a:p>
            <a:pPr lvl="1"/>
            <a:r>
              <a:rPr lang="en-GB" dirty="0"/>
              <a:t>For smaller side-branches, just use a “canopy cut”</a:t>
            </a:r>
          </a:p>
          <a:p>
            <a:pPr lvl="1"/>
            <a:endParaRPr lang="en-GB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20FE2AF-8B09-BF08-563B-8B34E5F5486B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6515377" y="-457247"/>
            <a:ext cx="1380840" cy="3361600"/>
            <a:chOff x="5993220" y="745508"/>
            <a:chExt cx="1917832" cy="4668889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0BFD12D3-F115-356B-6F18-909A19E82D2D}"/>
                </a:ext>
              </a:extLst>
            </p:cNvPr>
            <p:cNvSpPr/>
            <p:nvPr/>
          </p:nvSpPr>
          <p:spPr>
            <a:xfrm>
              <a:off x="5993220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E30D55A-2E4D-5B96-3369-1AAB5C389ED6}"/>
                </a:ext>
              </a:extLst>
            </p:cNvPr>
            <p:cNvSpPr/>
            <p:nvPr/>
          </p:nvSpPr>
          <p:spPr>
            <a:xfrm flipH="1">
              <a:off x="6667239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D83B50A-9416-37FC-9588-297E55F47C76}"/>
              </a:ext>
            </a:extLst>
          </p:cNvPr>
          <p:cNvGrpSpPr>
            <a:grpSpLocks noChangeAspect="1"/>
          </p:cNvGrpSpPr>
          <p:nvPr/>
        </p:nvGrpSpPr>
        <p:grpSpPr>
          <a:xfrm rot="3600000">
            <a:off x="8640010" y="623871"/>
            <a:ext cx="1380839" cy="3361600"/>
            <a:chOff x="8616325" y="745508"/>
            <a:chExt cx="1917832" cy="4668889"/>
          </a:xfrm>
        </p:grpSpPr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E2CA21FD-FC8F-C3E4-8F72-0F2AA000FA98}"/>
                </a:ext>
              </a:extLst>
            </p:cNvPr>
            <p:cNvSpPr/>
            <p:nvPr/>
          </p:nvSpPr>
          <p:spPr>
            <a:xfrm>
              <a:off x="8616325" y="74550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B8CA96A-1ED1-29FF-28A8-5CE402303656}"/>
                </a:ext>
              </a:extLst>
            </p:cNvPr>
            <p:cNvSpPr/>
            <p:nvPr/>
          </p:nvSpPr>
          <p:spPr>
            <a:xfrm>
              <a:off x="8616325" y="441063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5" name="Trapezoid 84">
              <a:extLst>
                <a:ext uri="{FF2B5EF4-FFF2-40B4-BE49-F238E27FC236}">
                  <a16:creationId xmlns:a16="http://schemas.microsoft.com/office/drawing/2014/main" id="{A155750C-151F-19BA-B56B-A91FFB723EF3}"/>
                </a:ext>
              </a:extLst>
            </p:cNvPr>
            <p:cNvSpPr/>
            <p:nvPr/>
          </p:nvSpPr>
          <p:spPr>
            <a:xfrm flipH="1">
              <a:off x="9290344" y="119225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852F82F-275D-BD3D-790F-6D698C741348}"/>
              </a:ext>
            </a:extLst>
          </p:cNvPr>
          <p:cNvGrpSpPr/>
          <p:nvPr/>
        </p:nvGrpSpPr>
        <p:grpSpPr>
          <a:xfrm>
            <a:off x="12686401" y="1027744"/>
            <a:ext cx="2370744" cy="4852213"/>
            <a:chOff x="8313944" y="1345704"/>
            <a:chExt cx="2370744" cy="4852213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9E8B775-BC4D-9AE8-9E54-B88B119B7FB6}"/>
                </a:ext>
              </a:extLst>
            </p:cNvPr>
            <p:cNvSpPr/>
            <p:nvPr/>
          </p:nvSpPr>
          <p:spPr>
            <a:xfrm>
              <a:off x="8540400" y="152902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870CC11E-A307-2D15-7BE7-BCA44DCEDF90}"/>
                </a:ext>
              </a:extLst>
            </p:cNvPr>
            <p:cNvSpPr/>
            <p:nvPr/>
          </p:nvSpPr>
          <p:spPr>
            <a:xfrm>
              <a:off x="8540400" y="519415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2" name="Trapezoid 91">
              <a:extLst>
                <a:ext uri="{FF2B5EF4-FFF2-40B4-BE49-F238E27FC236}">
                  <a16:creationId xmlns:a16="http://schemas.microsoft.com/office/drawing/2014/main" id="{6C632DCB-A80E-7B56-B9C4-B4C9F9B6C2E1}"/>
                </a:ext>
              </a:extLst>
            </p:cNvPr>
            <p:cNvSpPr/>
            <p:nvPr/>
          </p:nvSpPr>
          <p:spPr>
            <a:xfrm flipH="1">
              <a:off x="9214419" y="197577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3" name="Trapezoid 92">
              <a:extLst>
                <a:ext uri="{FF2B5EF4-FFF2-40B4-BE49-F238E27FC236}">
                  <a16:creationId xmlns:a16="http://schemas.microsoft.com/office/drawing/2014/main" id="{FB17A5EC-992C-5DFA-0B58-0486729A6C20}"/>
                </a:ext>
              </a:extLst>
            </p:cNvPr>
            <p:cNvSpPr/>
            <p:nvPr/>
          </p:nvSpPr>
          <p:spPr>
            <a:xfrm flipV="1">
              <a:off x="8313944" y="3160058"/>
              <a:ext cx="2370744" cy="510987"/>
            </a:xfrm>
            <a:prstGeom prst="trapezoid">
              <a:avLst>
                <a:gd name="adj" fmla="val 21561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B2EFB64-C7F0-0DBF-CA79-84F5A9F25AA5}"/>
                </a:ext>
              </a:extLst>
            </p:cNvPr>
            <p:cNvSpPr/>
            <p:nvPr/>
          </p:nvSpPr>
          <p:spPr>
            <a:xfrm>
              <a:off x="8417859" y="1345704"/>
              <a:ext cx="2162914" cy="18143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99" name="Picture 98">
            <a:extLst>
              <a:ext uri="{FF2B5EF4-FFF2-40B4-BE49-F238E27FC236}">
                <a16:creationId xmlns:a16="http://schemas.microsoft.com/office/drawing/2014/main" id="{E4BA4459-78D9-1C4C-1BA9-B9DF77768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0">
            <a:off x="6524807" y="3409694"/>
            <a:ext cx="1447038" cy="211912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733E63-F9D5-C4D6-6515-61752F5A1C28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6EE68D-2B90-2A5F-6653-841A2620F8D0}"/>
              </a:ext>
            </a:extLst>
          </p:cNvPr>
          <p:cNvGrpSpPr/>
          <p:nvPr/>
        </p:nvGrpSpPr>
        <p:grpSpPr>
          <a:xfrm rot="3600000">
            <a:off x="8848163" y="4140742"/>
            <a:ext cx="1819317" cy="2126939"/>
            <a:chOff x="2819860" y="3445339"/>
            <a:chExt cx="2274146" cy="265867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EBF7A5D-387F-1BAC-9634-4240A8AC1B9E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51" name="Partial Circle 150">
                <a:extLst>
                  <a:ext uri="{FF2B5EF4-FFF2-40B4-BE49-F238E27FC236}">
                    <a16:creationId xmlns:a16="http://schemas.microsoft.com/office/drawing/2014/main" id="{1498F936-6BE6-35DF-A0B8-33B1DC2B198B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52" name="Trapezoid 151">
                <a:extLst>
                  <a:ext uri="{FF2B5EF4-FFF2-40B4-BE49-F238E27FC236}">
                    <a16:creationId xmlns:a16="http://schemas.microsoft.com/office/drawing/2014/main" id="{EE126801-29BC-0660-2891-B9137AC8239B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56085-B58A-522E-AEE5-28F791C2911F}"/>
                </a:ext>
              </a:extLst>
            </p:cNvPr>
            <p:cNvGrpSpPr/>
            <p:nvPr/>
          </p:nvGrpSpPr>
          <p:grpSpPr>
            <a:xfrm rot="4200000">
              <a:off x="4067236" y="4008546"/>
              <a:ext cx="690490" cy="797602"/>
              <a:chOff x="2786419" y="3445339"/>
              <a:chExt cx="2301634" cy="2658674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95C20105-540F-5594-93FF-313FECC7CD5D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49" name="Partial Circle 148">
                  <a:extLst>
                    <a:ext uri="{FF2B5EF4-FFF2-40B4-BE49-F238E27FC236}">
                      <a16:creationId xmlns:a16="http://schemas.microsoft.com/office/drawing/2014/main" id="{A3EA6135-2013-2C2B-B382-540D15498EF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50" name="Trapezoid 149">
                  <a:extLst>
                    <a:ext uri="{FF2B5EF4-FFF2-40B4-BE49-F238E27FC236}">
                      <a16:creationId xmlns:a16="http://schemas.microsoft.com/office/drawing/2014/main" id="{E0719162-7F74-E897-DA5D-23A82A9EB799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6434B57A-3F9D-9AEC-97A2-3FA60C0B3878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CC81FD4D-FBAC-5E07-FEED-A080B0E6118D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47" name="Partial Circle 146">
                    <a:extLst>
                      <a:ext uri="{FF2B5EF4-FFF2-40B4-BE49-F238E27FC236}">
                        <a16:creationId xmlns:a16="http://schemas.microsoft.com/office/drawing/2014/main" id="{DEAE9E6B-214B-12FF-B6E8-AB32338239E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8" name="Trapezoid 147">
                    <a:extLst>
                      <a:ext uri="{FF2B5EF4-FFF2-40B4-BE49-F238E27FC236}">
                        <a16:creationId xmlns:a16="http://schemas.microsoft.com/office/drawing/2014/main" id="{3FF4B741-1B85-925B-C409-2B03D4052405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D9DF2A4-5736-5F31-2714-E23C4A231E3A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57320FAF-102F-55C3-CF1E-5BC5309A671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6" name="Trapezoid 145">
                    <a:extLst>
                      <a:ext uri="{FF2B5EF4-FFF2-40B4-BE49-F238E27FC236}">
                        <a16:creationId xmlns:a16="http://schemas.microsoft.com/office/drawing/2014/main" id="{5FF85808-2857-E802-04C6-BE566AD9A96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C1D1A750-A51F-D694-F9FA-4D965755413E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43" name="Oval 142">
                    <a:extLst>
                      <a:ext uri="{FF2B5EF4-FFF2-40B4-BE49-F238E27FC236}">
                        <a16:creationId xmlns:a16="http://schemas.microsoft.com/office/drawing/2014/main" id="{C2DA587B-3718-EAC0-906F-359E7821006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4" name="Trapezoid 143">
                    <a:extLst>
                      <a:ext uri="{FF2B5EF4-FFF2-40B4-BE49-F238E27FC236}">
                        <a16:creationId xmlns:a16="http://schemas.microsoft.com/office/drawing/2014/main" id="{ABBBE061-00E7-8C28-0D26-8B95475E0B5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0" name="Group 139">
                  <a:extLst>
                    <a:ext uri="{FF2B5EF4-FFF2-40B4-BE49-F238E27FC236}">
                      <a16:creationId xmlns:a16="http://schemas.microsoft.com/office/drawing/2014/main" id="{B41A7DC3-9CF1-99B1-15D4-715C05DE8AFD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41" name="Oval 140">
                    <a:extLst>
                      <a:ext uri="{FF2B5EF4-FFF2-40B4-BE49-F238E27FC236}">
                        <a16:creationId xmlns:a16="http://schemas.microsoft.com/office/drawing/2014/main" id="{40E95A6F-E3FA-C59E-1DEC-363A29D6951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Trapezoid 141">
                    <a:extLst>
                      <a:ext uri="{FF2B5EF4-FFF2-40B4-BE49-F238E27FC236}">
                        <a16:creationId xmlns:a16="http://schemas.microsoft.com/office/drawing/2014/main" id="{66AA42E0-3EB1-3979-B26A-8E09829E494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A2C47B59-0141-5B55-4081-66F4BB07B200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9FB289CB-7A0A-A012-E2B3-3DF84B2672A3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35" name="Partial Circle 134">
                    <a:extLst>
                      <a:ext uri="{FF2B5EF4-FFF2-40B4-BE49-F238E27FC236}">
                        <a16:creationId xmlns:a16="http://schemas.microsoft.com/office/drawing/2014/main" id="{53D56EBC-04FA-73EF-FFC0-5E8DEB9BFADE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6" name="Trapezoid 135">
                    <a:extLst>
                      <a:ext uri="{FF2B5EF4-FFF2-40B4-BE49-F238E27FC236}">
                        <a16:creationId xmlns:a16="http://schemas.microsoft.com/office/drawing/2014/main" id="{E75B0056-F05A-42B2-1902-BC2F8A80DDA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408B724F-EC4F-DB2C-40AF-DCF85344336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33" name="Oval 132">
                    <a:extLst>
                      <a:ext uri="{FF2B5EF4-FFF2-40B4-BE49-F238E27FC236}">
                        <a16:creationId xmlns:a16="http://schemas.microsoft.com/office/drawing/2014/main" id="{28E62716-98C8-20EE-3368-0A41218A0F8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4" name="Trapezoid 133">
                    <a:extLst>
                      <a:ext uri="{FF2B5EF4-FFF2-40B4-BE49-F238E27FC236}">
                        <a16:creationId xmlns:a16="http://schemas.microsoft.com/office/drawing/2014/main" id="{00CFA110-ED74-F322-F2E2-15166641530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90A0F82A-4D92-E55D-DEB9-6B961E779E52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31" name="Oval 130">
                    <a:extLst>
                      <a:ext uri="{FF2B5EF4-FFF2-40B4-BE49-F238E27FC236}">
                        <a16:creationId xmlns:a16="http://schemas.microsoft.com/office/drawing/2014/main" id="{7CFFD1B8-3A42-CA69-0255-E5BA216BF20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Trapezoid 131">
                    <a:extLst>
                      <a:ext uri="{FF2B5EF4-FFF2-40B4-BE49-F238E27FC236}">
                        <a16:creationId xmlns:a16="http://schemas.microsoft.com/office/drawing/2014/main" id="{BD0911E1-297E-E594-D86A-8E86E02C71C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5EF79BA9-E325-AF54-8947-6DD76DCDB920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29" name="Oval 128">
                    <a:extLst>
                      <a:ext uri="{FF2B5EF4-FFF2-40B4-BE49-F238E27FC236}">
                        <a16:creationId xmlns:a16="http://schemas.microsoft.com/office/drawing/2014/main" id="{14F8A49B-E962-2169-0A45-1FDE520BB40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Trapezoid 129">
                    <a:extLst>
                      <a:ext uri="{FF2B5EF4-FFF2-40B4-BE49-F238E27FC236}">
                        <a16:creationId xmlns:a16="http://schemas.microsoft.com/office/drawing/2014/main" id="{AE5345E1-E166-43B7-4F0A-EC2080462BF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D5CD4C73-E096-5A5A-0CE5-5E6D38D80E8C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0F52D4AB-C931-863E-3865-CDA2D6F003A0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23" name="Partial Circle 122">
                    <a:extLst>
                      <a:ext uri="{FF2B5EF4-FFF2-40B4-BE49-F238E27FC236}">
                        <a16:creationId xmlns:a16="http://schemas.microsoft.com/office/drawing/2014/main" id="{93AF9458-CE77-6137-D37D-8C078839537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Trapezoid 123">
                    <a:extLst>
                      <a:ext uri="{FF2B5EF4-FFF2-40B4-BE49-F238E27FC236}">
                        <a16:creationId xmlns:a16="http://schemas.microsoft.com/office/drawing/2014/main" id="{21376057-4CDD-AFF9-D868-879FF1F9BC37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F418A5C3-C0AC-32F3-D7CF-B022DDAA527F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21" name="Oval 120">
                    <a:extLst>
                      <a:ext uri="{FF2B5EF4-FFF2-40B4-BE49-F238E27FC236}">
                        <a16:creationId xmlns:a16="http://schemas.microsoft.com/office/drawing/2014/main" id="{6C5C38AE-66E1-AA75-4843-7C84DF0A9BB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Trapezoid 121">
                    <a:extLst>
                      <a:ext uri="{FF2B5EF4-FFF2-40B4-BE49-F238E27FC236}">
                        <a16:creationId xmlns:a16="http://schemas.microsoft.com/office/drawing/2014/main" id="{F9F62A2F-2F10-4CDC-17E0-E3732289B5C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F5D3B30D-E39E-F18C-2A4B-5366C26D8AC7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159B7DC8-15F5-03BF-D2BB-8B226BB063CD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0" name="Trapezoid 119">
                    <a:extLst>
                      <a:ext uri="{FF2B5EF4-FFF2-40B4-BE49-F238E27FC236}">
                        <a16:creationId xmlns:a16="http://schemas.microsoft.com/office/drawing/2014/main" id="{18A05DC9-D310-23BA-D850-0E009F06855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DBA7250-67E7-AD12-F48E-CC836A36500A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DC5F4B93-11DB-9A2E-7C9A-0C436EFEB07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8" name="Trapezoid 117">
                    <a:extLst>
                      <a:ext uri="{FF2B5EF4-FFF2-40B4-BE49-F238E27FC236}">
                        <a16:creationId xmlns:a16="http://schemas.microsoft.com/office/drawing/2014/main" id="{DE4FBF35-CDCE-364C-BDC1-102A63FB9CA7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B8434C8-7386-9F94-FB3A-71CBA7E366F0}"/>
                </a:ext>
              </a:extLst>
            </p:cNvPr>
            <p:cNvGrpSpPr/>
            <p:nvPr/>
          </p:nvGrpSpPr>
          <p:grpSpPr>
            <a:xfrm rot="-4500000" flipH="1">
              <a:off x="2882342" y="4292077"/>
              <a:ext cx="805572" cy="930536"/>
              <a:chOff x="2786419" y="3445339"/>
              <a:chExt cx="2301634" cy="2658674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A7101D7E-FAA4-A9E4-7965-6448351B61E6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07" name="Partial Circle 106">
                  <a:extLst>
                    <a:ext uri="{FF2B5EF4-FFF2-40B4-BE49-F238E27FC236}">
                      <a16:creationId xmlns:a16="http://schemas.microsoft.com/office/drawing/2014/main" id="{6A307126-B6AC-73E3-931F-0DBD0E5EBF50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8" name="Trapezoid 107">
                  <a:extLst>
                    <a:ext uri="{FF2B5EF4-FFF2-40B4-BE49-F238E27FC236}">
                      <a16:creationId xmlns:a16="http://schemas.microsoft.com/office/drawing/2014/main" id="{DA033354-3638-02DA-A633-D49BBA2DEA78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87C846A0-D0E3-4048-9DBC-B2E3EA9B9AAE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61E49E0C-9C95-7531-7763-B5AB2BC06834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105" name="Partial Circle 104">
                    <a:extLst>
                      <a:ext uri="{FF2B5EF4-FFF2-40B4-BE49-F238E27FC236}">
                        <a16:creationId xmlns:a16="http://schemas.microsoft.com/office/drawing/2014/main" id="{94B3FB9F-A3EF-2792-9074-5D4A42A0B7E2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6" name="Trapezoid 105">
                    <a:extLst>
                      <a:ext uri="{FF2B5EF4-FFF2-40B4-BE49-F238E27FC236}">
                        <a16:creationId xmlns:a16="http://schemas.microsoft.com/office/drawing/2014/main" id="{A82D8474-6ED3-29C9-775D-F9CD092FB49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5" name="Group 94">
                  <a:extLst>
                    <a:ext uri="{FF2B5EF4-FFF2-40B4-BE49-F238E27FC236}">
                      <a16:creationId xmlns:a16="http://schemas.microsoft.com/office/drawing/2014/main" id="{FDD3784B-2983-4F86-B3EF-0594AFBC7AB4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103" name="Oval 102">
                    <a:extLst>
                      <a:ext uri="{FF2B5EF4-FFF2-40B4-BE49-F238E27FC236}">
                        <a16:creationId xmlns:a16="http://schemas.microsoft.com/office/drawing/2014/main" id="{8ED6C2E6-B632-4895-D847-66803B52254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4" name="Trapezoid 103">
                    <a:extLst>
                      <a:ext uri="{FF2B5EF4-FFF2-40B4-BE49-F238E27FC236}">
                        <a16:creationId xmlns:a16="http://schemas.microsoft.com/office/drawing/2014/main" id="{0563BD25-CACF-8DC0-4DD3-F4FB1CEC626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4136DC03-5C61-4880-4282-D16E3D052FA6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ABF2BE99-C010-933B-F2BD-31716ABA77B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2" name="Trapezoid 101">
                    <a:extLst>
                      <a:ext uri="{FF2B5EF4-FFF2-40B4-BE49-F238E27FC236}">
                        <a16:creationId xmlns:a16="http://schemas.microsoft.com/office/drawing/2014/main" id="{9D44F065-D614-E6AA-4709-89454AFC713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42FF49A5-ABFB-31A6-BD93-7BC52E911B7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C9C13755-3210-A02F-A140-A5A31402ACF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00" name="Trapezoid 99">
                    <a:extLst>
                      <a:ext uri="{FF2B5EF4-FFF2-40B4-BE49-F238E27FC236}">
                        <a16:creationId xmlns:a16="http://schemas.microsoft.com/office/drawing/2014/main" id="{23D46CC4-FF4D-C531-CE1B-2488C9D04E88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D566D199-A70E-0B61-8735-FCE9F5465B8F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3B9A74FE-C823-46F9-7052-25632696A719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86" name="Partial Circle 85">
                    <a:extLst>
                      <a:ext uri="{FF2B5EF4-FFF2-40B4-BE49-F238E27FC236}">
                        <a16:creationId xmlns:a16="http://schemas.microsoft.com/office/drawing/2014/main" id="{0568DBD3-348C-CB6C-FBFF-078BEC476060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7" name="Trapezoid 86">
                    <a:extLst>
                      <a:ext uri="{FF2B5EF4-FFF2-40B4-BE49-F238E27FC236}">
                        <a16:creationId xmlns:a16="http://schemas.microsoft.com/office/drawing/2014/main" id="{49BAB39C-A25D-59A8-0574-4BD062D797D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FD763AD5-BA4E-0645-D497-BD2FF9F3BFD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80" name="Oval 79">
                    <a:extLst>
                      <a:ext uri="{FF2B5EF4-FFF2-40B4-BE49-F238E27FC236}">
                        <a16:creationId xmlns:a16="http://schemas.microsoft.com/office/drawing/2014/main" id="{DC700654-E3B5-DE37-AC33-CF92225721B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1" name="Trapezoid 80">
                    <a:extLst>
                      <a:ext uri="{FF2B5EF4-FFF2-40B4-BE49-F238E27FC236}">
                        <a16:creationId xmlns:a16="http://schemas.microsoft.com/office/drawing/2014/main" id="{4B28B3F3-033D-B417-4151-4B9E9F41022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3" name="Group 72">
                  <a:extLst>
                    <a:ext uri="{FF2B5EF4-FFF2-40B4-BE49-F238E27FC236}">
                      <a16:creationId xmlns:a16="http://schemas.microsoft.com/office/drawing/2014/main" id="{F8BD998A-1FB1-A201-EC24-FF7E1ABA0B7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C8D2CDB4-BD80-0119-36F0-934DE22150F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8" name="Trapezoid 77">
                    <a:extLst>
                      <a:ext uri="{FF2B5EF4-FFF2-40B4-BE49-F238E27FC236}">
                        <a16:creationId xmlns:a16="http://schemas.microsoft.com/office/drawing/2014/main" id="{4027CBEA-B5B5-ECB3-4247-55AC11C9815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79DBBF33-4AA6-ADC9-CE21-F93C93AF14B3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75820FD1-D95D-6DD7-0B9E-33694DE98E4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6" name="Trapezoid 75">
                    <a:extLst>
                      <a:ext uri="{FF2B5EF4-FFF2-40B4-BE49-F238E27FC236}">
                        <a16:creationId xmlns:a16="http://schemas.microsoft.com/office/drawing/2014/main" id="{4E931894-C298-66FC-42B0-973EE2A1919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583BB62-DD39-1934-8F5F-42367E2A6BED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6BA55714-FB86-018A-2D62-D37C5F52B150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68" name="Partial Circle 67">
                    <a:extLst>
                      <a:ext uri="{FF2B5EF4-FFF2-40B4-BE49-F238E27FC236}">
                        <a16:creationId xmlns:a16="http://schemas.microsoft.com/office/drawing/2014/main" id="{D9BCD288-A008-DA90-1C1F-8AD6CD5AC92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0" name="Trapezoid 69">
                    <a:extLst>
                      <a:ext uri="{FF2B5EF4-FFF2-40B4-BE49-F238E27FC236}">
                        <a16:creationId xmlns:a16="http://schemas.microsoft.com/office/drawing/2014/main" id="{9390C6D8-43BB-1D87-A121-D0541733E792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1CBE4AA-7120-E528-DFE1-D8CF72E8F733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66" name="Oval 65">
                    <a:extLst>
                      <a:ext uri="{FF2B5EF4-FFF2-40B4-BE49-F238E27FC236}">
                        <a16:creationId xmlns:a16="http://schemas.microsoft.com/office/drawing/2014/main" id="{85332519-91C0-80E5-7019-B59343D24E5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7" name="Trapezoid 66">
                    <a:extLst>
                      <a:ext uri="{FF2B5EF4-FFF2-40B4-BE49-F238E27FC236}">
                        <a16:creationId xmlns:a16="http://schemas.microsoft.com/office/drawing/2014/main" id="{1543130A-A0A0-57E9-B4A0-FC6E0CF2BFB3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B0184262-8262-5F9D-4B23-D441AB8E5C7A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64" name="Oval 63">
                    <a:extLst>
                      <a:ext uri="{FF2B5EF4-FFF2-40B4-BE49-F238E27FC236}">
                        <a16:creationId xmlns:a16="http://schemas.microsoft.com/office/drawing/2014/main" id="{4056C99F-1229-61F6-E0B4-C0EEC6A578B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5" name="Trapezoid 64">
                    <a:extLst>
                      <a:ext uri="{FF2B5EF4-FFF2-40B4-BE49-F238E27FC236}">
                        <a16:creationId xmlns:a16="http://schemas.microsoft.com/office/drawing/2014/main" id="{F0C688A5-A38A-EB30-2D91-1E09616823F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6B617675-E590-067D-9B6D-52A37E01BED9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4BA7B6C3-F0B1-DBD9-7A04-294EB6EA915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3" name="Trapezoid 62">
                    <a:extLst>
                      <a:ext uri="{FF2B5EF4-FFF2-40B4-BE49-F238E27FC236}">
                        <a16:creationId xmlns:a16="http://schemas.microsoft.com/office/drawing/2014/main" id="{A12B5CEA-2AD0-8AB9-D6DE-05FB610D224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B028272-946B-7FAB-E2F3-85A3840CFF7F}"/>
                </a:ext>
              </a:extLst>
            </p:cNvPr>
            <p:cNvGrpSpPr/>
            <p:nvPr/>
          </p:nvGrpSpPr>
          <p:grpSpPr>
            <a:xfrm rot="4800000">
              <a:off x="4101944" y="4789803"/>
              <a:ext cx="920654" cy="1063470"/>
              <a:chOff x="2786419" y="3445339"/>
              <a:chExt cx="2301634" cy="265867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768C5D9-A052-73E2-7EA4-7952E173F573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52" name="Partial Circle 51">
                  <a:extLst>
                    <a:ext uri="{FF2B5EF4-FFF2-40B4-BE49-F238E27FC236}">
                      <a16:creationId xmlns:a16="http://schemas.microsoft.com/office/drawing/2014/main" id="{CD3489C1-01A2-EC6A-6983-61B1B91BACA9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53" name="Trapezoid 52">
                  <a:extLst>
                    <a:ext uri="{FF2B5EF4-FFF2-40B4-BE49-F238E27FC236}">
                      <a16:creationId xmlns:a16="http://schemas.microsoft.com/office/drawing/2014/main" id="{A33A1230-1EAE-A2E0-E04F-319911A23622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A6EE0C19-00D4-FB4B-4FA0-528CE5E8AA33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9370E9DC-FC76-0F10-8F24-F72282C0888A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50" name="Partial Circle 49">
                    <a:extLst>
                      <a:ext uri="{FF2B5EF4-FFF2-40B4-BE49-F238E27FC236}">
                        <a16:creationId xmlns:a16="http://schemas.microsoft.com/office/drawing/2014/main" id="{CAC49BEF-90AB-B21F-27CB-32645431D395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1" name="Trapezoid 50">
                    <a:extLst>
                      <a:ext uri="{FF2B5EF4-FFF2-40B4-BE49-F238E27FC236}">
                        <a16:creationId xmlns:a16="http://schemas.microsoft.com/office/drawing/2014/main" id="{422ADF69-4235-162D-5D8E-DB577EF656C5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41426EB9-1869-186C-C8A1-5853F1D917C0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BA2F5525-8808-26CE-D65D-DAD9972B1EF1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9" name="Trapezoid 48">
                    <a:extLst>
                      <a:ext uri="{FF2B5EF4-FFF2-40B4-BE49-F238E27FC236}">
                        <a16:creationId xmlns:a16="http://schemas.microsoft.com/office/drawing/2014/main" id="{9A9CA8CD-1D7D-9A30-F7DF-1EE6606AA1B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4B95D3D5-6C10-A4C2-4276-67C0060525FC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737CDE8B-827E-6BE0-0149-5B3A2AADEE0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7" name="Trapezoid 46">
                    <a:extLst>
                      <a:ext uri="{FF2B5EF4-FFF2-40B4-BE49-F238E27FC236}">
                        <a16:creationId xmlns:a16="http://schemas.microsoft.com/office/drawing/2014/main" id="{255F45B2-6C71-B838-363C-6E61E4E9A8E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56DAE7F8-95AD-1CDE-5DA8-E115A3FBCB7F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4A892DFD-A23D-CE64-71E1-4E382B7FF27D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5" name="Trapezoid 44">
                    <a:extLst>
                      <a:ext uri="{FF2B5EF4-FFF2-40B4-BE49-F238E27FC236}">
                        <a16:creationId xmlns:a16="http://schemas.microsoft.com/office/drawing/2014/main" id="{7CAA8513-491D-87E5-F312-3097D627F6D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7809874-1374-0D3C-62FC-F655E01D5A46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85C1DBFD-EB55-D8D8-8076-25BD85A9FE1F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8" name="Partial Circle 37">
                    <a:extLst>
                      <a:ext uri="{FF2B5EF4-FFF2-40B4-BE49-F238E27FC236}">
                        <a16:creationId xmlns:a16="http://schemas.microsoft.com/office/drawing/2014/main" id="{50C0CB93-C455-3B4B-DDED-0EEAEC0DBF24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9" name="Trapezoid 38">
                    <a:extLst>
                      <a:ext uri="{FF2B5EF4-FFF2-40B4-BE49-F238E27FC236}">
                        <a16:creationId xmlns:a16="http://schemas.microsoft.com/office/drawing/2014/main" id="{F862E1EE-22D1-2BF1-D04C-DBB335B775BC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7FD771A0-847C-9785-7AFA-E7AB200F570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EB863F4F-6E65-5E9E-7B10-F2B849E6A91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7" name="Trapezoid 36">
                    <a:extLst>
                      <a:ext uri="{FF2B5EF4-FFF2-40B4-BE49-F238E27FC236}">
                        <a16:creationId xmlns:a16="http://schemas.microsoft.com/office/drawing/2014/main" id="{81D759F7-2A41-42C5-ACF2-DBE1BBB2726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4D2949C0-6A00-8F9C-542D-BEA6A44F043D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B3AA5704-F742-5F8E-9602-C4D4A575001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5" name="Trapezoid 34">
                    <a:extLst>
                      <a:ext uri="{FF2B5EF4-FFF2-40B4-BE49-F238E27FC236}">
                        <a16:creationId xmlns:a16="http://schemas.microsoft.com/office/drawing/2014/main" id="{31B31EFB-AB36-8D9F-25CB-3F482BEC348E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814F1DB0-B33B-EB80-2D85-0FCD41EF2FCD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A93F569F-331C-E5D9-5911-AF0E123F320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" name="Trapezoid 32">
                    <a:extLst>
                      <a:ext uri="{FF2B5EF4-FFF2-40B4-BE49-F238E27FC236}">
                        <a16:creationId xmlns:a16="http://schemas.microsoft.com/office/drawing/2014/main" id="{C1904818-F5E6-9793-7E15-DC1D5C2C29A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E46D040-9A7F-72A6-C76C-44CB6C3EBCC6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8E3E643F-FB88-6537-7160-3878A8FC8AC7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6" name="Partial Circle 25">
                    <a:extLst>
                      <a:ext uri="{FF2B5EF4-FFF2-40B4-BE49-F238E27FC236}">
                        <a16:creationId xmlns:a16="http://schemas.microsoft.com/office/drawing/2014/main" id="{E7007F74-9301-1EDB-C005-B32528D5FCCC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" name="Trapezoid 26">
                    <a:extLst>
                      <a:ext uri="{FF2B5EF4-FFF2-40B4-BE49-F238E27FC236}">
                        <a16:creationId xmlns:a16="http://schemas.microsoft.com/office/drawing/2014/main" id="{ABB4A7F7-2954-B68D-6BE4-DC84BB69F8F3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50802DCF-D984-3A73-8794-61732C79ECC6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11D4D618-30E0-94CD-46A3-A6336321C3F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" name="Trapezoid 24">
                    <a:extLst>
                      <a:ext uri="{FF2B5EF4-FFF2-40B4-BE49-F238E27FC236}">
                        <a16:creationId xmlns:a16="http://schemas.microsoft.com/office/drawing/2014/main" id="{124B63CE-4D2A-5302-D48A-65039D672FF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A4CF3975-A74D-5968-FBDC-076BEA8E8B3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3CF8F898-0F60-FF43-E64E-CEB0C24CD38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" name="Trapezoid 22">
                    <a:extLst>
                      <a:ext uri="{FF2B5EF4-FFF2-40B4-BE49-F238E27FC236}">
                        <a16:creationId xmlns:a16="http://schemas.microsoft.com/office/drawing/2014/main" id="{52A3BA94-9860-486C-07E0-516D57B0D28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616EC9D0-D9B4-100E-C19F-DAC3D4DBED17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0B632E4F-DB6A-65D9-3DF8-2B16D862B07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1" name="Trapezoid 20">
                    <a:extLst>
                      <a:ext uri="{FF2B5EF4-FFF2-40B4-BE49-F238E27FC236}">
                        <a16:creationId xmlns:a16="http://schemas.microsoft.com/office/drawing/2014/main" id="{4B9453BC-AFF7-0EC5-3110-FF3A2D9CD06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</p:grpSp>
      <p:sp>
        <p:nvSpPr>
          <p:cNvPr id="153" name="Arrow: Right 152">
            <a:extLst>
              <a:ext uri="{FF2B5EF4-FFF2-40B4-BE49-F238E27FC236}">
                <a16:creationId xmlns:a16="http://schemas.microsoft.com/office/drawing/2014/main" id="{B31C6712-F5ED-5A8E-338D-F39F3B1D34BF}"/>
              </a:ext>
            </a:extLst>
          </p:cNvPr>
          <p:cNvSpPr/>
          <p:nvPr/>
        </p:nvSpPr>
        <p:spPr>
          <a:xfrm rot="1202238">
            <a:off x="8180965" y="4745879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Arrow: Right 153">
            <a:extLst>
              <a:ext uri="{FF2B5EF4-FFF2-40B4-BE49-F238E27FC236}">
                <a16:creationId xmlns:a16="http://schemas.microsoft.com/office/drawing/2014/main" id="{02FD749B-A750-2D38-DCE7-1817E3519133}"/>
              </a:ext>
            </a:extLst>
          </p:cNvPr>
          <p:cNvSpPr/>
          <p:nvPr/>
        </p:nvSpPr>
        <p:spPr>
          <a:xfrm rot="1552947">
            <a:off x="7389534" y="1888076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Arrow: Right 154">
            <a:extLst>
              <a:ext uri="{FF2B5EF4-FFF2-40B4-BE49-F238E27FC236}">
                <a16:creationId xmlns:a16="http://schemas.microsoft.com/office/drawing/2014/main" id="{C12E7646-B5FB-66C0-26E4-5FA7C1320679}"/>
              </a:ext>
            </a:extLst>
          </p:cNvPr>
          <p:cNvSpPr/>
          <p:nvPr/>
        </p:nvSpPr>
        <p:spPr>
          <a:xfrm rot="6678660">
            <a:off x="8096549" y="3336781"/>
            <a:ext cx="782599" cy="575621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9780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(1)</a:t>
            </a:r>
            <a:br>
              <a:rPr lang="en-US" dirty="0"/>
            </a:br>
            <a:r>
              <a:rPr lang="en-US" sz="2800" dirty="0"/>
              <a:t>Not all trees are alike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6034"/>
            <a:ext cx="8197726" cy="4961965"/>
          </a:xfrm>
        </p:spPr>
        <p:txBody>
          <a:bodyPr>
            <a:normAutofit/>
          </a:bodyPr>
          <a:lstStyle/>
          <a:p>
            <a:r>
              <a:rPr lang="en-GB" dirty="0"/>
              <a:t>Types of growth</a:t>
            </a:r>
          </a:p>
          <a:p>
            <a:pPr lvl="1"/>
            <a:r>
              <a:rPr lang="en-GB" b="1" dirty="0"/>
              <a:t>Apical</a:t>
            </a:r>
            <a:r>
              <a:rPr lang="en-GB" dirty="0"/>
              <a:t> growth from the tip of the trunk</a:t>
            </a:r>
          </a:p>
          <a:p>
            <a:pPr lvl="1"/>
            <a:r>
              <a:rPr lang="en-GB" b="1" dirty="0"/>
              <a:t>Terminal</a:t>
            </a:r>
            <a:r>
              <a:rPr lang="en-GB" dirty="0"/>
              <a:t> growth from the tip of branches</a:t>
            </a:r>
          </a:p>
          <a:p>
            <a:pPr lvl="1"/>
            <a:r>
              <a:rPr lang="en-GB" b="1" dirty="0"/>
              <a:t>Lateral</a:t>
            </a:r>
            <a:r>
              <a:rPr lang="en-GB" dirty="0"/>
              <a:t> growth from behind the tip</a:t>
            </a:r>
          </a:p>
          <a:p>
            <a:pPr lvl="1"/>
            <a:r>
              <a:rPr lang="en-GB" b="1" dirty="0"/>
              <a:t>Adventitious</a:t>
            </a:r>
            <a:r>
              <a:rPr lang="en-GB" dirty="0"/>
              <a:t> growth from the base of branches</a:t>
            </a:r>
          </a:p>
          <a:p>
            <a:pPr lvl="1"/>
            <a:r>
              <a:rPr lang="en-GB" b="1" dirty="0"/>
              <a:t>Epicormic</a:t>
            </a:r>
            <a:r>
              <a:rPr lang="en-GB" dirty="0"/>
              <a:t> growth from random spots on the trunk</a:t>
            </a:r>
          </a:p>
          <a:p>
            <a:r>
              <a:rPr lang="en-GB" dirty="0"/>
              <a:t>Back-budding (adventitious + epicormic*):  </a:t>
            </a:r>
            <a:r>
              <a:rPr lang="en-GB" sz="1600" dirty="0"/>
              <a:t>Weak back-budding </a:t>
            </a:r>
            <a:r>
              <a:rPr lang="en-US" sz="1600" dirty="0"/>
              <a:t>→</a:t>
            </a:r>
            <a:r>
              <a:rPr lang="en-GB" sz="1600" dirty="0"/>
              <a:t> we have to plan further ahead (e.g. leave sacrificial branches) to thicken the trunk</a:t>
            </a:r>
          </a:p>
          <a:p>
            <a:r>
              <a:rPr lang="en-GB" dirty="0"/>
              <a:t>Lateral growth:  </a:t>
            </a:r>
            <a:r>
              <a:rPr lang="en-GB" sz="1600" dirty="0"/>
              <a:t>Dense lateral growth </a:t>
            </a:r>
            <a:r>
              <a:rPr lang="en-US" sz="1600" dirty="0"/>
              <a:t>→</a:t>
            </a:r>
            <a:r>
              <a:rPr lang="en-GB" sz="1600" dirty="0"/>
              <a:t> more emphasis on clearing and canopy cuts than on individual side-branches</a:t>
            </a:r>
          </a:p>
          <a:p>
            <a:r>
              <a:rPr lang="en-GB" dirty="0"/>
              <a:t>Apical dominance:  </a:t>
            </a:r>
            <a:r>
              <a:rPr lang="en-GB" sz="1600" dirty="0"/>
              <a:t>Some trees (conifers especially) grow more strongly upwards</a:t>
            </a:r>
          </a:p>
          <a:p>
            <a:r>
              <a:rPr lang="en-GB" dirty="0"/>
              <a:t>Flushes: </a:t>
            </a:r>
            <a:r>
              <a:rPr lang="en-GB" sz="1600" dirty="0"/>
              <a:t> Usually two per year (Spring and Lammas) except for mountain pines</a:t>
            </a:r>
          </a:p>
          <a:p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7E3A6D-2125-2BCB-8A54-AF7F5158E3FD}"/>
              </a:ext>
            </a:extLst>
          </p:cNvPr>
          <p:cNvGrpSpPr/>
          <p:nvPr/>
        </p:nvGrpSpPr>
        <p:grpSpPr>
          <a:xfrm>
            <a:off x="9054353" y="776598"/>
            <a:ext cx="2327751" cy="5304804"/>
            <a:chOff x="9424576" y="112059"/>
            <a:chExt cx="2327751" cy="5304804"/>
          </a:xfrm>
        </p:grpSpPr>
        <p:sp>
          <p:nvSpPr>
            <p:cNvPr id="21" name="Content Placeholder 14">
              <a:extLst>
                <a:ext uri="{FF2B5EF4-FFF2-40B4-BE49-F238E27FC236}">
                  <a16:creationId xmlns:a16="http://schemas.microsoft.com/office/drawing/2014/main" id="{4CF937A7-9BF5-BF51-C278-BB81905EAB8D}"/>
                </a:ext>
              </a:extLst>
            </p:cNvPr>
            <p:cNvSpPr txBox="1">
              <a:spLocks/>
            </p:cNvSpPr>
            <p:nvPr/>
          </p:nvSpPr>
          <p:spPr>
            <a:xfrm>
              <a:off x="9424576" y="112059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Apical</a:t>
              </a:r>
              <a:endParaRPr lang="en-GB" sz="1400" dirty="0"/>
            </a:p>
          </p:txBody>
        </p:sp>
        <p:sp>
          <p:nvSpPr>
            <p:cNvPr id="23" name="Content Placeholder 14">
              <a:extLst>
                <a:ext uri="{FF2B5EF4-FFF2-40B4-BE49-F238E27FC236}">
                  <a16:creationId xmlns:a16="http://schemas.microsoft.com/office/drawing/2014/main" id="{2B0E0692-E6EF-B04D-0B85-732DDA430033}"/>
                </a:ext>
              </a:extLst>
            </p:cNvPr>
            <p:cNvSpPr txBox="1">
              <a:spLocks/>
            </p:cNvSpPr>
            <p:nvPr/>
          </p:nvSpPr>
          <p:spPr>
            <a:xfrm>
              <a:off x="10620212" y="1114066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Terminal</a:t>
              </a:r>
              <a:endParaRPr lang="en-GB" sz="1400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9A0F265-A70D-C6D8-6C27-EAE462354D4D}"/>
                </a:ext>
              </a:extLst>
            </p:cNvPr>
            <p:cNvGrpSpPr/>
            <p:nvPr/>
          </p:nvGrpSpPr>
          <p:grpSpPr>
            <a:xfrm>
              <a:off x="9733823" y="710279"/>
              <a:ext cx="1399568" cy="4706584"/>
              <a:chOff x="9784567" y="1567253"/>
              <a:chExt cx="1399568" cy="4706584"/>
            </a:xfrm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4F6B3E36-B7AA-0FF4-DC79-0B9A3AD54FAB}"/>
                  </a:ext>
                </a:extLst>
              </p:cNvPr>
              <p:cNvSpPr/>
              <p:nvPr/>
            </p:nvSpPr>
            <p:spPr>
              <a:xfrm>
                <a:off x="9784567" y="1567253"/>
                <a:ext cx="413986" cy="4706584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D0F97F60-E9EA-0456-E145-7AFBC9027336}"/>
                  </a:ext>
                </a:extLst>
              </p:cNvPr>
              <p:cNvSpPr/>
              <p:nvPr/>
            </p:nvSpPr>
            <p:spPr>
              <a:xfrm rot="3763539">
                <a:off x="10435649" y="2326730"/>
                <a:ext cx="225404" cy="1271569"/>
              </a:xfrm>
              <a:prstGeom prst="triangle">
                <a:avLst/>
              </a:prstGeom>
              <a:solidFill>
                <a:srgbClr val="C488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E4668FF-8F6B-E528-E5A5-57C727FA9F5E}"/>
                  </a:ext>
                </a:extLst>
              </p:cNvPr>
              <p:cNvSpPr/>
              <p:nvPr/>
            </p:nvSpPr>
            <p:spPr>
              <a:xfrm>
                <a:off x="9935099" y="162821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4C2079B-39BB-878D-707D-C431385E61DD}"/>
                  </a:ext>
                </a:extLst>
              </p:cNvPr>
              <p:cNvSpPr/>
              <p:nvPr/>
            </p:nvSpPr>
            <p:spPr>
              <a:xfrm>
                <a:off x="11000363" y="2623248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93CC47B-6C74-EA8B-B97A-4C417BE5C58A}"/>
                  </a:ext>
                </a:extLst>
              </p:cNvPr>
              <p:cNvSpPr/>
              <p:nvPr/>
            </p:nvSpPr>
            <p:spPr>
              <a:xfrm>
                <a:off x="10034574" y="301906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E492CC-42A9-B078-3944-251FA254E8C0}"/>
                  </a:ext>
                </a:extLst>
              </p:cNvPr>
              <p:cNvSpPr/>
              <p:nvPr/>
            </p:nvSpPr>
            <p:spPr>
              <a:xfrm>
                <a:off x="10056123" y="3284781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187D70-52E3-3D56-E5F8-4A0D39BCC7C1}"/>
                  </a:ext>
                </a:extLst>
              </p:cNvPr>
              <p:cNvSpPr/>
              <p:nvPr/>
            </p:nvSpPr>
            <p:spPr>
              <a:xfrm>
                <a:off x="10116635" y="5101959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02A37D-83F7-C4BC-0206-588C89D1A8B4}"/>
                  </a:ext>
                </a:extLst>
              </p:cNvPr>
              <p:cNvSpPr/>
              <p:nvPr/>
            </p:nvSpPr>
            <p:spPr>
              <a:xfrm>
                <a:off x="10762086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3B179014-85DE-06E4-1A45-E3F3A9EA5C34}"/>
                  </a:ext>
                </a:extLst>
              </p:cNvPr>
              <p:cNvSpPr/>
              <p:nvPr/>
            </p:nvSpPr>
            <p:spPr>
              <a:xfrm>
                <a:off x="10464302" y="2825993"/>
                <a:ext cx="121024" cy="11546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6" name="Content Placeholder 14">
              <a:extLst>
                <a:ext uri="{FF2B5EF4-FFF2-40B4-BE49-F238E27FC236}">
                  <a16:creationId xmlns:a16="http://schemas.microsoft.com/office/drawing/2014/main" id="{303D7E70-F326-F686-0CE4-12356AC88088}"/>
                </a:ext>
              </a:extLst>
            </p:cNvPr>
            <p:cNvSpPr txBox="1">
              <a:spLocks/>
            </p:cNvSpPr>
            <p:nvPr/>
          </p:nvSpPr>
          <p:spPr>
            <a:xfrm>
              <a:off x="10682316" y="1919652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Lateral</a:t>
              </a:r>
              <a:endParaRPr lang="en-GB" sz="1400" dirty="0"/>
            </a:p>
          </p:txBody>
        </p:sp>
        <p:sp>
          <p:nvSpPr>
            <p:cNvPr id="27" name="Content Placeholder 14">
              <a:extLst>
                <a:ext uri="{FF2B5EF4-FFF2-40B4-BE49-F238E27FC236}">
                  <a16:creationId xmlns:a16="http://schemas.microsoft.com/office/drawing/2014/main" id="{D8928D55-7561-B8D6-E08E-6C2A1FBBC158}"/>
                </a:ext>
              </a:extLst>
            </p:cNvPr>
            <p:cNvSpPr txBox="1">
              <a:spLocks/>
            </p:cNvSpPr>
            <p:nvPr/>
          </p:nvSpPr>
          <p:spPr>
            <a:xfrm>
              <a:off x="9944850" y="2485099"/>
              <a:ext cx="1233492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Adventitious</a:t>
              </a:r>
              <a:endParaRPr lang="en-GB" sz="1400" dirty="0"/>
            </a:p>
          </p:txBody>
        </p:sp>
        <p:sp>
          <p:nvSpPr>
            <p:cNvPr id="28" name="Content Placeholder 14">
              <a:extLst>
                <a:ext uri="{FF2B5EF4-FFF2-40B4-BE49-F238E27FC236}">
                  <a16:creationId xmlns:a16="http://schemas.microsoft.com/office/drawing/2014/main" id="{802D12E5-B941-B577-42A3-EF4976DEB272}"/>
                </a:ext>
              </a:extLst>
            </p:cNvPr>
            <p:cNvSpPr txBox="1">
              <a:spLocks/>
            </p:cNvSpPr>
            <p:nvPr/>
          </p:nvSpPr>
          <p:spPr>
            <a:xfrm>
              <a:off x="10085206" y="3827880"/>
              <a:ext cx="1070011" cy="78304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Epicormic</a:t>
              </a:r>
              <a:endParaRPr lang="en-GB" sz="1400" dirty="0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7EA8F0A-1F9C-E86D-F350-87BBAF1EC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82316" y="2084487"/>
              <a:ext cx="196346" cy="19307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D86976E-3CF8-60F0-8012-E5F604C057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087017" y="2352355"/>
              <a:ext cx="474579" cy="294636"/>
            </a:xfrm>
            <a:prstGeom prst="line">
              <a:avLst/>
            </a:prstGeom>
            <a:ln w="57150"/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06A301F-E358-DF9A-91E8-AC4F2BFADB1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2CDBE24A-2BC8-D5A2-370D-6FAAE6CD88ED}"/>
              </a:ext>
            </a:extLst>
          </p:cNvPr>
          <p:cNvSpPr txBox="1">
            <a:spLocks/>
          </p:cNvSpPr>
          <p:nvPr/>
        </p:nvSpPr>
        <p:spPr>
          <a:xfrm>
            <a:off x="3062908" y="6397637"/>
            <a:ext cx="5812152" cy="4688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* Warning: botanists use “back-budding” to mean something different!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42320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Botany &amp; Pruning (2)</a:t>
            </a:r>
            <a:br>
              <a:rPr lang="en-US" dirty="0"/>
            </a:br>
            <a:r>
              <a:rPr lang="en-US" sz="2800" dirty="0"/>
              <a:t>Three main types of foliage</a:t>
            </a:r>
            <a:endParaRPr lang="en-GB" sz="28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267C19-FC47-6081-C686-899210780598}"/>
              </a:ext>
            </a:extLst>
          </p:cNvPr>
          <p:cNvCxnSpPr>
            <a:cxnSpLocks/>
          </p:cNvCxnSpPr>
          <p:nvPr/>
        </p:nvCxnSpPr>
        <p:spPr>
          <a:xfrm flipH="1" flipV="1">
            <a:off x="5116594" y="4204448"/>
            <a:ext cx="4538394" cy="2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E9F80-5F34-D29C-EDC0-FCDB6F60329F}"/>
              </a:ext>
            </a:extLst>
          </p:cNvPr>
          <p:cNvCxnSpPr>
            <a:cxnSpLocks/>
          </p:cNvCxnSpPr>
          <p:nvPr/>
        </p:nvCxnSpPr>
        <p:spPr>
          <a:xfrm flipH="1">
            <a:off x="4377006" y="4204447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5CC529-3E5F-6B17-55E8-FB021F631C9D}"/>
              </a:ext>
            </a:extLst>
          </p:cNvPr>
          <p:cNvCxnSpPr>
            <a:cxnSpLocks/>
          </p:cNvCxnSpPr>
          <p:nvPr/>
        </p:nvCxnSpPr>
        <p:spPr>
          <a:xfrm flipH="1" flipV="1">
            <a:off x="4377006" y="1947582"/>
            <a:ext cx="739588" cy="2245659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AD2CB77D-378D-5C2B-249C-C79ED3775178}"/>
              </a:ext>
            </a:extLst>
          </p:cNvPr>
          <p:cNvSpPr txBox="1">
            <a:spLocks/>
          </p:cNvSpPr>
          <p:nvPr/>
        </p:nvSpPr>
        <p:spPr>
          <a:xfrm>
            <a:off x="953893" y="2487758"/>
            <a:ext cx="1706347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Broadleaf</a:t>
            </a:r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856DF6-674D-4B42-7490-2770FD9B49F4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or attribute pics!</a:t>
            </a:r>
            <a:endParaRPr lang="en-GB" dirty="0"/>
          </a:p>
        </p:txBody>
      </p:sp>
      <p:pic>
        <p:nvPicPr>
          <p:cNvPr id="1026" name="Picture 2" descr="The Different Oak Trees Native to the UK — An Darach Forest Therapy">
            <a:extLst>
              <a:ext uri="{FF2B5EF4-FFF2-40B4-BE49-F238E27FC236}">
                <a16:creationId xmlns:a16="http://schemas.microsoft.com/office/drawing/2014/main" id="{F9B949A5-88F6-B10D-75F6-0A7A6E03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912" y="2963962"/>
            <a:ext cx="2691640" cy="2691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uniper - Wikipedia">
            <a:extLst>
              <a:ext uri="{FF2B5EF4-FFF2-40B4-BE49-F238E27FC236}">
                <a16:creationId xmlns:a16="http://schemas.microsoft.com/office/drawing/2014/main" id="{8CF13724-585E-C35E-0EF9-F1D77E9C0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35015" y="4520787"/>
            <a:ext cx="2095500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14">
            <a:extLst>
              <a:ext uri="{FF2B5EF4-FFF2-40B4-BE49-F238E27FC236}">
                <a16:creationId xmlns:a16="http://schemas.microsoft.com/office/drawing/2014/main" id="{DDD9E606-2909-8581-3328-D1F126016104}"/>
              </a:ext>
            </a:extLst>
          </p:cNvPr>
          <p:cNvSpPr txBox="1">
            <a:spLocks/>
          </p:cNvSpPr>
          <p:nvPr/>
        </p:nvSpPr>
        <p:spPr>
          <a:xfrm>
            <a:off x="5980186" y="4453298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Spiky / scaly</a:t>
            </a:r>
            <a:endParaRPr lang="en-GB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FA7AEF6-A927-AB0A-C0DF-2C34D56CE3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46"/>
          <a:stretch/>
        </p:blipFill>
        <p:spPr bwMode="auto">
          <a:xfrm>
            <a:off x="5639920" y="1978330"/>
            <a:ext cx="3491741" cy="218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FD20B54E-05F1-C3D7-EC92-25B613105D6F}"/>
              </a:ext>
            </a:extLst>
          </p:cNvPr>
          <p:cNvSpPr txBox="1">
            <a:spLocks/>
          </p:cNvSpPr>
          <p:nvPr/>
        </p:nvSpPr>
        <p:spPr>
          <a:xfrm>
            <a:off x="5980186" y="1772771"/>
            <a:ext cx="2034261" cy="5826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Needle-bearing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4793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Structural Pruning</a:t>
            </a:r>
            <a:br>
              <a:rPr lang="en-US" dirty="0"/>
            </a:br>
            <a:r>
              <a:rPr lang="en-US" sz="2800" dirty="0"/>
              <a:t>Building a solid foundation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697702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Faster woody growth in younger trees, esp. during “training” phase</a:t>
            </a:r>
          </a:p>
          <a:p>
            <a:pPr marL="0" indent="0">
              <a:buNone/>
            </a:pPr>
            <a:r>
              <a:rPr lang="en-US" dirty="0"/>
              <a:t>Goals</a:t>
            </a:r>
            <a:endParaRPr lang="en-US" sz="1600" dirty="0"/>
          </a:p>
          <a:p>
            <a:r>
              <a:rPr lang="en-US" sz="1600" dirty="0"/>
              <a:t>Select an appropriate style for the tree</a:t>
            </a:r>
          </a:p>
          <a:p>
            <a:r>
              <a:rPr lang="en-US" sz="1600" dirty="0"/>
              <a:t>Identify and establish the trunk and first few branches</a:t>
            </a:r>
          </a:p>
          <a:p>
            <a:r>
              <a:rPr lang="en-US" sz="1600" dirty="0"/>
              <a:t>Create a base for subsequent development of smaller branches and canopy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Work upwards from the </a:t>
            </a:r>
            <a:r>
              <a:rPr lang="en-US" dirty="0" err="1"/>
              <a:t>nebari</a:t>
            </a:r>
            <a:r>
              <a:rPr lang="en-US" dirty="0"/>
              <a:t>, removing fluff and decongesting nodes</a:t>
            </a:r>
          </a:p>
          <a:p>
            <a:pPr marL="342900" lvl="1" indent="-342900"/>
            <a:r>
              <a:rPr lang="en-US" dirty="0"/>
              <a:t>To create a tree that will be </a:t>
            </a:r>
            <a:r>
              <a:rPr lang="en-US" i="1" dirty="0"/>
              <a:t>great</a:t>
            </a:r>
            <a:r>
              <a:rPr lang="en-US" dirty="0"/>
              <a:t> in the </a:t>
            </a:r>
            <a:r>
              <a:rPr lang="en-US" i="1" dirty="0"/>
              <a:t>long run</a:t>
            </a:r>
            <a:r>
              <a:rPr lang="en-US" dirty="0"/>
              <a:t>: at each node, pick smaller branches</a:t>
            </a:r>
          </a:p>
          <a:p>
            <a:pPr marL="342900" lvl="1" indent="-342900"/>
            <a:r>
              <a:rPr lang="en-US" dirty="0"/>
              <a:t>To create a tree that is </a:t>
            </a:r>
            <a:r>
              <a:rPr lang="en-US" i="1" dirty="0"/>
              <a:t>OK now</a:t>
            </a:r>
            <a:r>
              <a:rPr lang="en-US" dirty="0"/>
              <a:t>: at each node, pick larger branches</a:t>
            </a:r>
          </a:p>
          <a:p>
            <a:r>
              <a:rPr lang="en-US" sz="1600" dirty="0"/>
              <a:t>Optionally: mark out sacrificial branches to thicken the trunk / </a:t>
            </a:r>
            <a:r>
              <a:rPr lang="en-US" sz="1600" dirty="0" err="1"/>
              <a:t>nebari</a:t>
            </a:r>
            <a:endParaRPr lang="en-US" sz="16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C752524-96A0-67D7-4350-A63A65B2AF47}"/>
              </a:ext>
            </a:extLst>
          </p:cNvPr>
          <p:cNvGrpSpPr/>
          <p:nvPr/>
        </p:nvGrpSpPr>
        <p:grpSpPr>
          <a:xfrm>
            <a:off x="7181843" y="977651"/>
            <a:ext cx="3987368" cy="4902697"/>
            <a:chOff x="4862612" y="1476482"/>
            <a:chExt cx="5564277" cy="498767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CF06BB8-F5AA-56EF-4D6C-F27713B86E2D}"/>
                </a:ext>
              </a:extLst>
            </p:cNvPr>
            <p:cNvGrpSpPr/>
            <p:nvPr/>
          </p:nvGrpSpPr>
          <p:grpSpPr>
            <a:xfrm>
              <a:off x="5718410" y="1476482"/>
              <a:ext cx="4708479" cy="4334273"/>
              <a:chOff x="5718410" y="1476482"/>
              <a:chExt cx="4708479" cy="433427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D517861-55B3-CC87-CDFC-A7B10E252F4B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BDAD94D-E22F-B3B4-3D25-B17030394738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B3E9D17-2898-1002-44B6-636C14A355C2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B7461D6-D200-1E3F-8218-56100C0769C1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0210EA0-15CC-C7CF-90FC-B88935BDE90D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68BCD3B-0127-90C5-CB7B-0AE582B5D209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9C9DE99-BAAF-78A9-DD6B-169097ACF1FA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1C64325-F476-F8D1-439D-62927970A8A5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E540A71-04B3-FEAF-7E13-5398B0923E25}"/>
                </a:ext>
              </a:extLst>
            </p:cNvPr>
            <p:cNvGrpSpPr/>
            <p:nvPr/>
          </p:nvGrpSpPr>
          <p:grpSpPr>
            <a:xfrm>
              <a:off x="6310166" y="2642620"/>
              <a:ext cx="3524966" cy="3244820"/>
              <a:chOff x="5718410" y="1476482"/>
              <a:chExt cx="4708479" cy="4334273"/>
            </a:xfrm>
            <a:solidFill>
              <a:schemeClr val="accent1"/>
            </a:solidFill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063099C-3C0F-12CA-5FB7-1F0178F7517C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832186A-715E-C00B-FAC8-BE9941EFD2A9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5994FF-5989-8249-E916-06A1C41FEC94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BA7D52A-EAA6-6135-84BD-FA22581F893A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AD68CF7-AC3E-3C84-0336-257803D37219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0E7E79A-29B9-7AAE-128D-B14C42BA229B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00439CD-5FDF-7550-C819-6DC69C712E8B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D32C4CFC-15C8-40F0-BD2B-732EB0F19D9D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A76887C-2456-533B-9A8B-103553CD7A79}"/>
                </a:ext>
              </a:extLst>
            </p:cNvPr>
            <p:cNvGrpSpPr/>
            <p:nvPr/>
          </p:nvGrpSpPr>
          <p:grpSpPr>
            <a:xfrm>
              <a:off x="6727096" y="3493667"/>
              <a:ext cx="2699630" cy="2485077"/>
              <a:chOff x="5718410" y="1476482"/>
              <a:chExt cx="4708479" cy="4334273"/>
            </a:xfrm>
            <a:solidFill>
              <a:schemeClr val="bg1"/>
            </a:solidFill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70BDB44-619A-1DFA-DA39-94AAF6955AD4}"/>
                  </a:ext>
                </a:extLst>
              </p:cNvPr>
              <p:cNvSpPr/>
              <p:nvPr/>
            </p:nvSpPr>
            <p:spPr>
              <a:xfrm>
                <a:off x="7287904" y="147648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67E5BCD-CC1C-1416-5C28-72ECF1AD9F0A}"/>
                  </a:ext>
                </a:extLst>
              </p:cNvPr>
              <p:cNvSpPr/>
              <p:nvPr/>
            </p:nvSpPr>
            <p:spPr>
              <a:xfrm>
                <a:off x="6503157" y="2554167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0C6A00C-A770-5108-6D91-79B672A32AC7}"/>
                  </a:ext>
                </a:extLst>
              </p:cNvPr>
              <p:cNvSpPr/>
              <p:nvPr/>
            </p:nvSpPr>
            <p:spPr>
              <a:xfrm>
                <a:off x="8072650" y="25541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53C6965-49B6-03F9-D1B7-290C3E24D0D6}"/>
                  </a:ext>
                </a:extLst>
              </p:cNvPr>
              <p:cNvSpPr/>
              <p:nvPr/>
            </p:nvSpPr>
            <p:spPr>
              <a:xfrm>
                <a:off x="7287903" y="3636556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52A3380-8EAD-9583-E1B7-25DBE3232CF8}"/>
                  </a:ext>
                </a:extLst>
              </p:cNvPr>
              <p:cNvSpPr/>
              <p:nvPr/>
            </p:nvSpPr>
            <p:spPr>
              <a:xfrm>
                <a:off x="8857396" y="3631849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2931653-E812-ABCA-2EFE-DD0C55F5983C}"/>
                  </a:ext>
                </a:extLst>
              </p:cNvPr>
              <p:cNvSpPr/>
              <p:nvPr/>
            </p:nvSpPr>
            <p:spPr>
              <a:xfrm>
                <a:off x="5718410" y="3641265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D4EC340-152B-7089-8F59-A35834608F02}"/>
                  </a:ext>
                </a:extLst>
              </p:cNvPr>
              <p:cNvSpPr/>
              <p:nvPr/>
            </p:nvSpPr>
            <p:spPr>
              <a:xfrm>
                <a:off x="6456416" y="3641263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6186C-E349-8661-0B9D-A1BE09729364}"/>
                  </a:ext>
                </a:extLst>
              </p:cNvPr>
              <p:cNvSpPr/>
              <p:nvPr/>
            </p:nvSpPr>
            <p:spPr>
              <a:xfrm>
                <a:off x="8119390" y="3645972"/>
                <a:ext cx="1569493" cy="2164783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36" name="Trapezoid 235">
              <a:extLst>
                <a:ext uri="{FF2B5EF4-FFF2-40B4-BE49-F238E27FC236}">
                  <a16:creationId xmlns:a16="http://schemas.microsoft.com/office/drawing/2014/main" id="{B3B7F54C-FF0A-2F9F-0DA8-B6F2A35DABA1}"/>
                </a:ext>
              </a:extLst>
            </p:cNvPr>
            <p:cNvSpPr/>
            <p:nvPr/>
          </p:nvSpPr>
          <p:spPr>
            <a:xfrm flipH="1">
              <a:off x="7791674" y="4111562"/>
              <a:ext cx="596945" cy="2352593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5" name="Trapezoid 34">
              <a:extLst>
                <a:ext uri="{FF2B5EF4-FFF2-40B4-BE49-F238E27FC236}">
                  <a16:creationId xmlns:a16="http://schemas.microsoft.com/office/drawing/2014/main" id="{4B4A8D1F-6F30-88DE-64C1-0DC74E0F8EC3}"/>
                </a:ext>
              </a:extLst>
            </p:cNvPr>
            <p:cNvSpPr/>
            <p:nvPr/>
          </p:nvSpPr>
          <p:spPr>
            <a:xfrm rot="2892506" flipH="1">
              <a:off x="8254436" y="4334687"/>
              <a:ext cx="201707" cy="794940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6" name="Trapezoid 35">
              <a:extLst>
                <a:ext uri="{FF2B5EF4-FFF2-40B4-BE49-F238E27FC236}">
                  <a16:creationId xmlns:a16="http://schemas.microsoft.com/office/drawing/2014/main" id="{E992E482-94B9-DCCA-4E77-0D04414E0CA1}"/>
                </a:ext>
              </a:extLst>
            </p:cNvPr>
            <p:cNvSpPr/>
            <p:nvPr/>
          </p:nvSpPr>
          <p:spPr>
            <a:xfrm rot="4259533" flipH="1">
              <a:off x="8617352" y="4864554"/>
              <a:ext cx="314938" cy="124118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8" name="Trapezoid 37">
              <a:extLst>
                <a:ext uri="{FF2B5EF4-FFF2-40B4-BE49-F238E27FC236}">
                  <a16:creationId xmlns:a16="http://schemas.microsoft.com/office/drawing/2014/main" id="{F0176DF1-E055-EBD5-92F3-9D6C81B7ABFF}"/>
                </a:ext>
              </a:extLst>
            </p:cNvPr>
            <p:cNvSpPr/>
            <p:nvPr/>
          </p:nvSpPr>
          <p:spPr>
            <a:xfrm rot="17693626" flipH="1">
              <a:off x="7462899" y="4725636"/>
              <a:ext cx="244104" cy="962029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rapezoid 38">
              <a:extLst>
                <a:ext uri="{FF2B5EF4-FFF2-40B4-BE49-F238E27FC236}">
                  <a16:creationId xmlns:a16="http://schemas.microsoft.com/office/drawing/2014/main" id="{4A5226A8-42E2-9AA9-39C0-8056C477B4A3}"/>
                </a:ext>
              </a:extLst>
            </p:cNvPr>
            <p:cNvSpPr/>
            <p:nvPr/>
          </p:nvSpPr>
          <p:spPr>
            <a:xfrm rot="16200000" flipH="1">
              <a:off x="6664007" y="4737158"/>
              <a:ext cx="161980" cy="2772708"/>
            </a:xfrm>
            <a:prstGeom prst="trapezoid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F757AC3-1D06-5F3B-D5B4-776D6589BA9B}"/>
                </a:ext>
              </a:extLst>
            </p:cNvPr>
            <p:cNvSpPr/>
            <p:nvPr/>
          </p:nvSpPr>
          <p:spPr>
            <a:xfrm rot="5400000">
              <a:off x="5000920" y="5596543"/>
              <a:ext cx="729304" cy="10059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06C912-C1D6-51C5-2E60-1DA65DA4A8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97148" y="5978744"/>
              <a:ext cx="41394" cy="283749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324C8E4C-9F1D-EAFC-45B7-69CFD374AC3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9082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Pruning for Ramification (1)</a:t>
            </a:r>
            <a:br>
              <a:rPr lang="en-US" dirty="0"/>
            </a:br>
            <a:r>
              <a:rPr lang="en-US" sz="2800" dirty="0"/>
              <a:t>Broadleaf trees: playing in easy mode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5818"/>
            <a:ext cx="4989366" cy="51821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</a:t>
            </a:r>
          </a:p>
          <a:p>
            <a:r>
              <a:rPr lang="en-US" sz="1600" dirty="0"/>
              <a:t>Back-buds readily</a:t>
            </a:r>
          </a:p>
          <a:p>
            <a:r>
              <a:rPr lang="en-US" sz="1600" dirty="0"/>
              <a:t>Leaves may be simple or compound, </a:t>
            </a:r>
            <a:br>
              <a:rPr lang="en-US" sz="1600" dirty="0"/>
            </a:br>
            <a:r>
              <a:rPr lang="en-US" sz="1600" dirty="0"/>
              <a:t>alternating or opposite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Reduced bulk of foliage</a:t>
            </a:r>
          </a:p>
          <a:p>
            <a:pPr marL="342900" lvl="1" indent="-342900"/>
            <a:r>
              <a:rPr lang="en-US" dirty="0"/>
              <a:t>Minimal wasted growth</a:t>
            </a:r>
          </a:p>
          <a:p>
            <a:pPr marL="342900" lvl="1" indent="-342900"/>
            <a:r>
              <a:rPr lang="en-US" dirty="0"/>
              <a:t>Strong taper along branch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342900" lvl="1" indent="-342900"/>
            <a:r>
              <a:rPr lang="en-US" dirty="0"/>
              <a:t>Once a branch is well-established, cut it back to “two heirs and a spare” (at least)</a:t>
            </a:r>
          </a:p>
          <a:p>
            <a:pPr marL="742950" lvl="2" indent="-342900"/>
            <a:r>
              <a:rPr lang="en-US" dirty="0"/>
              <a:t>The spare is a sacrificial branch: it can be removed later if the heirs survive</a:t>
            </a:r>
          </a:p>
          <a:p>
            <a:pPr marL="742950" lvl="2" indent="-342900"/>
            <a:r>
              <a:rPr lang="en-US" dirty="0"/>
              <a:t>One sub-branch will become the new “leader”; the other will be a side-branch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5F604B-0C0C-3ABD-5F60-ADA03C33470C}"/>
              </a:ext>
            </a:extLst>
          </p:cNvPr>
          <p:cNvGrpSpPr/>
          <p:nvPr/>
        </p:nvGrpSpPr>
        <p:grpSpPr>
          <a:xfrm>
            <a:off x="8770861" y="1344514"/>
            <a:ext cx="2427928" cy="1410943"/>
            <a:chOff x="8770861" y="1344514"/>
            <a:chExt cx="2427928" cy="141094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2C8BC30-B240-ACB0-3B7D-D39111F9F14F}"/>
                </a:ext>
              </a:extLst>
            </p:cNvPr>
            <p:cNvSpPr/>
            <p:nvPr/>
          </p:nvSpPr>
          <p:spPr>
            <a:xfrm>
              <a:off x="8770861" y="1760375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671983-F354-1C41-49BA-A03715F4CC08}"/>
                </a:ext>
              </a:extLst>
            </p:cNvPr>
            <p:cNvSpPr/>
            <p:nvPr/>
          </p:nvSpPr>
          <p:spPr>
            <a:xfrm rot="3686647">
              <a:off x="9934616" y="728544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311D2A5-4A24-69D1-31FC-B04C83046D7D}"/>
                </a:ext>
              </a:extLst>
            </p:cNvPr>
            <p:cNvSpPr/>
            <p:nvPr/>
          </p:nvSpPr>
          <p:spPr>
            <a:xfrm>
              <a:off x="9456661" y="199788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13E1649-9785-F769-16C4-98E0E041DEC0}"/>
                </a:ext>
              </a:extLst>
            </p:cNvPr>
            <p:cNvSpPr/>
            <p:nvPr/>
          </p:nvSpPr>
          <p:spPr>
            <a:xfrm>
              <a:off x="9831153" y="201528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9CF59A-BA33-C4F6-6AD3-F561CA1D7DBF}"/>
                </a:ext>
              </a:extLst>
            </p:cNvPr>
            <p:cNvSpPr/>
            <p:nvPr/>
          </p:nvSpPr>
          <p:spPr>
            <a:xfrm>
              <a:off x="9999241" y="169749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74944A3-435B-EAA9-B7DD-0E8E8FB09EF5}"/>
                </a:ext>
              </a:extLst>
            </p:cNvPr>
            <p:cNvSpPr/>
            <p:nvPr/>
          </p:nvSpPr>
          <p:spPr>
            <a:xfrm>
              <a:off x="10434059" y="1675818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2619A06-F98D-6158-A789-FE984A04B851}"/>
                </a:ext>
              </a:extLst>
            </p:cNvPr>
            <p:cNvSpPr/>
            <p:nvPr/>
          </p:nvSpPr>
          <p:spPr>
            <a:xfrm>
              <a:off x="10650315" y="142759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C49E523-883C-13C6-2EB0-6DEDAA0B5C56}"/>
                </a:ext>
              </a:extLst>
            </p:cNvPr>
            <p:cNvSpPr/>
            <p:nvPr/>
          </p:nvSpPr>
          <p:spPr>
            <a:xfrm>
              <a:off x="10946194" y="1344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750776-2B73-137C-7D99-454DC8ADE808}"/>
              </a:ext>
            </a:extLst>
          </p:cNvPr>
          <p:cNvGrpSpPr/>
          <p:nvPr/>
        </p:nvGrpSpPr>
        <p:grpSpPr>
          <a:xfrm>
            <a:off x="5867400" y="1761564"/>
            <a:ext cx="1389531" cy="995082"/>
            <a:chOff x="5867400" y="1761564"/>
            <a:chExt cx="1389531" cy="99508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4E2F7EA-3D28-CF2F-6BFE-BBA2B06CD96E}"/>
                </a:ext>
              </a:extLst>
            </p:cNvPr>
            <p:cNvSpPr/>
            <p:nvPr/>
          </p:nvSpPr>
          <p:spPr>
            <a:xfrm>
              <a:off x="5867400" y="1761564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2FA5A203-6701-996E-2071-1426A859B6EE}"/>
                </a:ext>
              </a:extLst>
            </p:cNvPr>
            <p:cNvSpPr/>
            <p:nvPr/>
          </p:nvSpPr>
          <p:spPr>
            <a:xfrm rot="3686647">
              <a:off x="6610345" y="1560437"/>
              <a:ext cx="150172" cy="114300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2128784-B281-2858-051C-EA79C0AA490D}"/>
                </a:ext>
              </a:extLst>
            </p:cNvPr>
            <p:cNvSpPr/>
            <p:nvPr/>
          </p:nvSpPr>
          <p:spPr>
            <a:xfrm>
              <a:off x="6530787" y="202836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ECEE98C-F29C-41B0-7F64-555B2052D029}"/>
                </a:ext>
              </a:extLst>
            </p:cNvPr>
            <p:cNvSpPr/>
            <p:nvPr/>
          </p:nvSpPr>
          <p:spPr>
            <a:xfrm>
              <a:off x="6905279" y="197063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178D92-FADB-1F20-52DF-13BFA62AB352}"/>
              </a:ext>
            </a:extLst>
          </p:cNvPr>
          <p:cNvGrpSpPr/>
          <p:nvPr/>
        </p:nvGrpSpPr>
        <p:grpSpPr>
          <a:xfrm>
            <a:off x="5867400" y="5141467"/>
            <a:ext cx="1365029" cy="1016422"/>
            <a:chOff x="5867400" y="5141467"/>
            <a:chExt cx="1365029" cy="1016422"/>
          </a:xfrm>
        </p:grpSpPr>
        <p:sp>
          <p:nvSpPr>
            <p:cNvPr id="18" name="Trapezoid 17">
              <a:extLst>
                <a:ext uri="{FF2B5EF4-FFF2-40B4-BE49-F238E27FC236}">
                  <a16:creationId xmlns:a16="http://schemas.microsoft.com/office/drawing/2014/main" id="{E43C4A67-6FD7-CF5F-B6F0-E5D43F88428B}"/>
                </a:ext>
              </a:extLst>
            </p:cNvPr>
            <p:cNvSpPr/>
            <p:nvPr/>
          </p:nvSpPr>
          <p:spPr>
            <a:xfrm rot="3660000">
              <a:off x="6565996" y="4983117"/>
              <a:ext cx="235500" cy="1097366"/>
            </a:xfrm>
            <a:prstGeom prst="trapezoid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011FB3-098C-B5BD-58AA-886286FBD3E9}"/>
                </a:ext>
              </a:extLst>
            </p:cNvPr>
            <p:cNvSpPr/>
            <p:nvPr/>
          </p:nvSpPr>
          <p:spPr>
            <a:xfrm>
              <a:off x="5867400" y="5162807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A54D2-4ED8-4C21-D6EA-0227E2288CE6}"/>
                </a:ext>
              </a:extLst>
            </p:cNvPr>
            <p:cNvSpPr/>
            <p:nvPr/>
          </p:nvSpPr>
          <p:spPr>
            <a:xfrm>
              <a:off x="6474831" y="5435223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EC7EF43-687F-BFAE-7543-3803456BA3CA}"/>
                </a:ext>
              </a:extLst>
            </p:cNvPr>
            <p:cNvSpPr/>
            <p:nvPr/>
          </p:nvSpPr>
          <p:spPr>
            <a:xfrm>
              <a:off x="6849323" y="545261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7191225-A140-93E6-C5EC-BFB27FA9549B}"/>
                </a:ext>
              </a:extLst>
            </p:cNvPr>
            <p:cNvSpPr/>
            <p:nvPr/>
          </p:nvSpPr>
          <p:spPr>
            <a:xfrm>
              <a:off x="7009623" y="514146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3154347-076D-E275-4808-FB105920BA95}"/>
              </a:ext>
            </a:extLst>
          </p:cNvPr>
          <p:cNvGrpSpPr/>
          <p:nvPr/>
        </p:nvGrpSpPr>
        <p:grpSpPr>
          <a:xfrm>
            <a:off x="8770861" y="3048341"/>
            <a:ext cx="2427928" cy="1427137"/>
            <a:chOff x="8770861" y="3048341"/>
            <a:chExt cx="2427928" cy="14271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EC85259-AB47-05DB-853C-C7ACE564229B}"/>
                </a:ext>
              </a:extLst>
            </p:cNvPr>
            <p:cNvSpPr/>
            <p:nvPr/>
          </p:nvSpPr>
          <p:spPr>
            <a:xfrm>
              <a:off x="8770861" y="3480396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66DD110D-FBEE-8C82-0297-C85ACBE0D0E0}"/>
                </a:ext>
              </a:extLst>
            </p:cNvPr>
            <p:cNvSpPr/>
            <p:nvPr/>
          </p:nvSpPr>
          <p:spPr>
            <a:xfrm rot="3686647">
              <a:off x="9934616" y="2448565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B5F6B1F-06F7-10F2-BFCC-07B719F23023}"/>
                </a:ext>
              </a:extLst>
            </p:cNvPr>
            <p:cNvSpPr/>
            <p:nvPr/>
          </p:nvSpPr>
          <p:spPr>
            <a:xfrm>
              <a:off x="9456661" y="3717907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A971AB5-98A2-DDD1-D558-2FC1BAEAEA8C}"/>
                </a:ext>
              </a:extLst>
            </p:cNvPr>
            <p:cNvSpPr/>
            <p:nvPr/>
          </p:nvSpPr>
          <p:spPr>
            <a:xfrm>
              <a:off x="9831153" y="3735301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6F1785D-8DC8-5A01-653F-E925FE436493}"/>
                </a:ext>
              </a:extLst>
            </p:cNvPr>
            <p:cNvSpPr/>
            <p:nvPr/>
          </p:nvSpPr>
          <p:spPr>
            <a:xfrm>
              <a:off x="9999241" y="341751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354043B-291B-2708-D62C-D43C00F7A630}"/>
                </a:ext>
              </a:extLst>
            </p:cNvPr>
            <p:cNvSpPr/>
            <p:nvPr/>
          </p:nvSpPr>
          <p:spPr>
            <a:xfrm>
              <a:off x="10434059" y="339583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77FF68D-CBF0-30BA-89E4-936374D469E8}"/>
                </a:ext>
              </a:extLst>
            </p:cNvPr>
            <p:cNvSpPr/>
            <p:nvPr/>
          </p:nvSpPr>
          <p:spPr>
            <a:xfrm>
              <a:off x="10650315" y="3147615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C8380D4-D62B-0D52-766F-A6CC1844053A}"/>
                </a:ext>
              </a:extLst>
            </p:cNvPr>
            <p:cNvSpPr/>
            <p:nvPr/>
          </p:nvSpPr>
          <p:spPr>
            <a:xfrm>
              <a:off x="10822925" y="3048341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C9C0B5D-50E6-647B-A4F0-ADEC7DD98260}"/>
              </a:ext>
            </a:extLst>
          </p:cNvPr>
          <p:cNvGrpSpPr/>
          <p:nvPr/>
        </p:nvGrpSpPr>
        <p:grpSpPr>
          <a:xfrm>
            <a:off x="8770861" y="4475162"/>
            <a:ext cx="2427928" cy="1670461"/>
            <a:chOff x="8770861" y="4475162"/>
            <a:chExt cx="2427928" cy="167046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07725DA-A2A5-2FA1-6528-673853C61086}"/>
                </a:ext>
              </a:extLst>
            </p:cNvPr>
            <p:cNvSpPr/>
            <p:nvPr/>
          </p:nvSpPr>
          <p:spPr>
            <a:xfrm>
              <a:off x="8770861" y="5150541"/>
              <a:ext cx="457200" cy="9950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61653D2-B7B5-8C5D-E041-B8A29B5DDCBC}"/>
                </a:ext>
              </a:extLst>
            </p:cNvPr>
            <p:cNvSpPr/>
            <p:nvPr/>
          </p:nvSpPr>
          <p:spPr>
            <a:xfrm rot="3686647">
              <a:off x="9934616" y="4118710"/>
              <a:ext cx="250274" cy="2278073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D058D00-E7CC-2F87-6794-0153E66E88F7}"/>
                </a:ext>
              </a:extLst>
            </p:cNvPr>
            <p:cNvSpPr/>
            <p:nvPr/>
          </p:nvSpPr>
          <p:spPr>
            <a:xfrm>
              <a:off x="9456661" y="5388052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D2BAE93-D097-D5A8-11AE-8B822798F25B}"/>
                </a:ext>
              </a:extLst>
            </p:cNvPr>
            <p:cNvSpPr/>
            <p:nvPr/>
          </p:nvSpPr>
          <p:spPr>
            <a:xfrm>
              <a:off x="9831153" y="5405446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0D7ED8B-C201-069C-62C8-0692D4D025B1}"/>
                </a:ext>
              </a:extLst>
            </p:cNvPr>
            <p:cNvSpPr/>
            <p:nvPr/>
          </p:nvSpPr>
          <p:spPr>
            <a:xfrm>
              <a:off x="9999241" y="5087659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Isosceles Triangle 53">
              <a:extLst>
                <a:ext uri="{FF2B5EF4-FFF2-40B4-BE49-F238E27FC236}">
                  <a16:creationId xmlns:a16="http://schemas.microsoft.com/office/drawing/2014/main" id="{280D93D8-AA72-514D-43DC-8B45D1F6B3E9}"/>
                </a:ext>
              </a:extLst>
            </p:cNvPr>
            <p:cNvSpPr/>
            <p:nvPr/>
          </p:nvSpPr>
          <p:spPr>
            <a:xfrm rot="8070834">
              <a:off x="10522362" y="4991630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2AC3932-42E8-DDFF-889A-7878E3BD3C8D}"/>
                </a:ext>
              </a:extLst>
            </p:cNvPr>
            <p:cNvSpPr/>
            <p:nvPr/>
          </p:nvSpPr>
          <p:spPr>
            <a:xfrm>
              <a:off x="10822925" y="4718486"/>
              <a:ext cx="190492" cy="1985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D6D68878-840D-C949-A0A2-23D5645993FF}"/>
                </a:ext>
              </a:extLst>
            </p:cNvPr>
            <p:cNvSpPr/>
            <p:nvPr/>
          </p:nvSpPr>
          <p:spPr>
            <a:xfrm>
              <a:off x="10434059" y="5065984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261662BC-4081-DB90-BF87-4CF4D821D6B3}"/>
                </a:ext>
              </a:extLst>
            </p:cNvPr>
            <p:cNvSpPr/>
            <p:nvPr/>
          </p:nvSpPr>
          <p:spPr>
            <a:xfrm rot="21186606">
              <a:off x="10621068" y="4475162"/>
              <a:ext cx="113407" cy="411902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FA17780-DFD0-D65F-115B-CE3B54CF4D64}"/>
                </a:ext>
              </a:extLst>
            </p:cNvPr>
            <p:cNvSpPr/>
            <p:nvPr/>
          </p:nvSpPr>
          <p:spPr>
            <a:xfrm>
              <a:off x="10650315" y="4817760"/>
              <a:ext cx="121024" cy="115468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7" name="Trapezoid 56">
            <a:extLst>
              <a:ext uri="{FF2B5EF4-FFF2-40B4-BE49-F238E27FC236}">
                <a16:creationId xmlns:a16="http://schemas.microsoft.com/office/drawing/2014/main" id="{5F03A45D-8668-D3DF-36AC-0D829B7A2AD1}"/>
              </a:ext>
            </a:extLst>
          </p:cNvPr>
          <p:cNvSpPr/>
          <p:nvPr/>
        </p:nvSpPr>
        <p:spPr>
          <a:xfrm rot="3660000">
            <a:off x="6570478" y="3293165"/>
            <a:ext cx="235500" cy="1097366"/>
          </a:xfrm>
          <a:prstGeom prst="trapezoi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6CCEE9-1D7B-C9D8-EA16-B08B984396A8}"/>
              </a:ext>
            </a:extLst>
          </p:cNvPr>
          <p:cNvSpPr/>
          <p:nvPr/>
        </p:nvSpPr>
        <p:spPr>
          <a:xfrm>
            <a:off x="5871882" y="3472855"/>
            <a:ext cx="457200" cy="9950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8703B91B-715C-5899-1DD8-5325E4061C42}"/>
              </a:ext>
            </a:extLst>
          </p:cNvPr>
          <p:cNvSpPr/>
          <p:nvPr/>
        </p:nvSpPr>
        <p:spPr>
          <a:xfrm rot="294781">
            <a:off x="6492261" y="3468868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C01C67E-328C-A5F8-D4A9-59AE408DB6CD}"/>
              </a:ext>
            </a:extLst>
          </p:cNvPr>
          <p:cNvSpPr/>
          <p:nvPr/>
        </p:nvSpPr>
        <p:spPr>
          <a:xfrm>
            <a:off x="6479313" y="3745271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809035C-BF18-0D86-D018-A9F22A8F1F7C}"/>
              </a:ext>
            </a:extLst>
          </p:cNvPr>
          <p:cNvSpPr/>
          <p:nvPr/>
        </p:nvSpPr>
        <p:spPr>
          <a:xfrm rot="6748779">
            <a:off x="6945695" y="365121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12B9D95-005E-BE29-F1B0-A3E117C9955E}"/>
              </a:ext>
            </a:extLst>
          </p:cNvPr>
          <p:cNvSpPr/>
          <p:nvPr/>
        </p:nvSpPr>
        <p:spPr>
          <a:xfrm>
            <a:off x="6853805" y="376266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D13E85DD-9F22-1F43-E1A4-54135EC68DD5}"/>
              </a:ext>
            </a:extLst>
          </p:cNvPr>
          <p:cNvSpPr/>
          <p:nvPr/>
        </p:nvSpPr>
        <p:spPr>
          <a:xfrm rot="483536">
            <a:off x="7034137" y="3202024"/>
            <a:ext cx="113407" cy="411902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F9A983D-18BE-3BA1-4ECE-5451880A4CAE}"/>
              </a:ext>
            </a:extLst>
          </p:cNvPr>
          <p:cNvSpPr/>
          <p:nvPr/>
        </p:nvSpPr>
        <p:spPr>
          <a:xfrm>
            <a:off x="7014105" y="3451515"/>
            <a:ext cx="121024" cy="11546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1BF9F38-AF51-23C2-58BC-D4084E9D7D99}"/>
              </a:ext>
            </a:extLst>
          </p:cNvPr>
          <p:cNvSpPr/>
          <p:nvPr/>
        </p:nvSpPr>
        <p:spPr>
          <a:xfrm>
            <a:off x="7356047" y="2143833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4219194-CBA0-FD2B-1498-1FBF5781D0A7}"/>
              </a:ext>
            </a:extLst>
          </p:cNvPr>
          <p:cNvSpPr/>
          <p:nvPr/>
        </p:nvSpPr>
        <p:spPr>
          <a:xfrm flipH="1">
            <a:off x="7359614" y="5578348"/>
            <a:ext cx="1075742" cy="24620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661859E-335B-C5DF-7DE3-4F5892BC059A}"/>
              </a:ext>
            </a:extLst>
          </p:cNvPr>
          <p:cNvSpPr/>
          <p:nvPr/>
        </p:nvSpPr>
        <p:spPr>
          <a:xfrm rot="5400000">
            <a:off x="9104959" y="2803918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C888EC1B-0715-5F50-C250-A30DC5B9D856}"/>
              </a:ext>
            </a:extLst>
          </p:cNvPr>
          <p:cNvSpPr/>
          <p:nvPr/>
        </p:nvSpPr>
        <p:spPr>
          <a:xfrm rot="5400000">
            <a:off x="9104959" y="4517643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64EDF98-A21B-22CF-0161-E05587AB4707}"/>
              </a:ext>
            </a:extLst>
          </p:cNvPr>
          <p:cNvSpPr/>
          <p:nvPr/>
        </p:nvSpPr>
        <p:spPr>
          <a:xfrm rot="15114624" flipV="1">
            <a:off x="6141529" y="2965697"/>
            <a:ext cx="572203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32490039-CF3F-3B4E-7283-D756633AF0E5}"/>
              </a:ext>
            </a:extLst>
          </p:cNvPr>
          <p:cNvSpPr/>
          <p:nvPr/>
        </p:nvSpPr>
        <p:spPr>
          <a:xfrm rot="16200000" flipV="1">
            <a:off x="6286293" y="4504482"/>
            <a:ext cx="246204" cy="62562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ontent Placeholder 14">
            <a:extLst>
              <a:ext uri="{FF2B5EF4-FFF2-40B4-BE49-F238E27FC236}">
                <a16:creationId xmlns:a16="http://schemas.microsoft.com/office/drawing/2014/main" id="{065E6032-77DE-D0F6-73FE-4DBE51C05820}"/>
              </a:ext>
            </a:extLst>
          </p:cNvPr>
          <p:cNvSpPr txBox="1">
            <a:spLocks/>
          </p:cNvSpPr>
          <p:nvPr/>
        </p:nvSpPr>
        <p:spPr>
          <a:xfrm>
            <a:off x="7045594" y="180672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Allow to </a:t>
            </a:r>
          </a:p>
          <a:p>
            <a:pPr marL="0" indent="0" algn="ctr">
              <a:buNone/>
            </a:pPr>
            <a:r>
              <a:rPr lang="en-US" sz="1400" dirty="0"/>
              <a:t>grow out</a:t>
            </a:r>
            <a:endParaRPr lang="en-GB" sz="1400" dirty="0"/>
          </a:p>
        </p:txBody>
      </p:sp>
      <p:sp>
        <p:nvSpPr>
          <p:cNvPr id="78" name="Content Placeholder 14">
            <a:extLst>
              <a:ext uri="{FF2B5EF4-FFF2-40B4-BE49-F238E27FC236}">
                <a16:creationId xmlns:a16="http://schemas.microsoft.com/office/drawing/2014/main" id="{A7E6E3F7-6A46-9765-7014-19DB8CA7A0D9}"/>
              </a:ext>
            </a:extLst>
          </p:cNvPr>
          <p:cNvSpPr txBox="1">
            <a:spLocks/>
          </p:cNvSpPr>
          <p:nvPr/>
        </p:nvSpPr>
        <p:spPr>
          <a:xfrm>
            <a:off x="9198916" y="2631203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Pinch off tip</a:t>
            </a:r>
            <a:endParaRPr lang="en-GB" sz="1400" dirty="0"/>
          </a:p>
        </p:txBody>
      </p:sp>
      <p:sp>
        <p:nvSpPr>
          <p:cNvPr id="79" name="Content Placeholder 14">
            <a:extLst>
              <a:ext uri="{FF2B5EF4-FFF2-40B4-BE49-F238E27FC236}">
                <a16:creationId xmlns:a16="http://schemas.microsoft.com/office/drawing/2014/main" id="{A10B3F01-644F-3F9D-A387-604A8E1BD676}"/>
              </a:ext>
            </a:extLst>
          </p:cNvPr>
          <p:cNvSpPr txBox="1">
            <a:spLocks/>
          </p:cNvSpPr>
          <p:nvPr/>
        </p:nvSpPr>
        <p:spPr>
          <a:xfrm>
            <a:off x="9201234" y="4314619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0" name="Content Placeholder 14">
            <a:extLst>
              <a:ext uri="{FF2B5EF4-FFF2-40B4-BE49-F238E27FC236}">
                <a16:creationId xmlns:a16="http://schemas.microsoft.com/office/drawing/2014/main" id="{264E6619-32A2-C390-84E1-4BD09AE15D5D}"/>
              </a:ext>
            </a:extLst>
          </p:cNvPr>
          <p:cNvSpPr txBox="1">
            <a:spLocks/>
          </p:cNvSpPr>
          <p:nvPr/>
        </p:nvSpPr>
        <p:spPr>
          <a:xfrm>
            <a:off x="7130647" y="522488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Cut back</a:t>
            </a:r>
          </a:p>
          <a:p>
            <a:pPr marL="0" indent="0" algn="ctr">
              <a:buNone/>
            </a:pPr>
            <a:r>
              <a:rPr lang="en-US" sz="1400" dirty="0"/>
              <a:t>to 3 nodes*</a:t>
            </a:r>
            <a:endParaRPr lang="en-GB" sz="1400" dirty="0"/>
          </a:p>
        </p:txBody>
      </p:sp>
      <p:sp>
        <p:nvSpPr>
          <p:cNvPr id="81" name="Content Placeholder 14">
            <a:extLst>
              <a:ext uri="{FF2B5EF4-FFF2-40B4-BE49-F238E27FC236}">
                <a16:creationId xmlns:a16="http://schemas.microsoft.com/office/drawing/2014/main" id="{CF0DA239-D19B-25F6-9390-D52107E4AAA9}"/>
              </a:ext>
            </a:extLst>
          </p:cNvPr>
          <p:cNvSpPr txBox="1">
            <a:spLocks/>
          </p:cNvSpPr>
          <p:nvPr/>
        </p:nvSpPr>
        <p:spPr>
          <a:xfrm>
            <a:off x="7349480" y="6315712"/>
            <a:ext cx="3738998" cy="531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* Or 2 nodes (4 buds) for opposite leaves</a:t>
            </a:r>
            <a:endParaRPr lang="en-GB" sz="1400" dirty="0"/>
          </a:p>
        </p:txBody>
      </p:sp>
      <p:sp>
        <p:nvSpPr>
          <p:cNvPr id="82" name="Content Placeholder 14">
            <a:extLst>
              <a:ext uri="{FF2B5EF4-FFF2-40B4-BE49-F238E27FC236}">
                <a16:creationId xmlns:a16="http://schemas.microsoft.com/office/drawing/2014/main" id="{4D6F98D3-5CF9-24AE-71BE-9E3D0A925433}"/>
              </a:ext>
            </a:extLst>
          </p:cNvPr>
          <p:cNvSpPr txBox="1">
            <a:spLocks/>
          </p:cNvSpPr>
          <p:nvPr/>
        </p:nvSpPr>
        <p:spPr>
          <a:xfrm>
            <a:off x="6408810" y="4344635"/>
            <a:ext cx="1604887" cy="920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Wait for buds </a:t>
            </a:r>
            <a:br>
              <a:rPr lang="en-US" sz="1400" dirty="0"/>
            </a:br>
            <a:r>
              <a:rPr lang="en-US" sz="1400" dirty="0"/>
              <a:t>to burst</a:t>
            </a:r>
            <a:endParaRPr lang="en-GB" sz="1400" dirty="0"/>
          </a:p>
        </p:txBody>
      </p: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9B65DB14-3B75-A274-390E-9A5CF894C8E3}"/>
              </a:ext>
            </a:extLst>
          </p:cNvPr>
          <p:cNvSpPr txBox="1">
            <a:spLocks/>
          </p:cNvSpPr>
          <p:nvPr/>
        </p:nvSpPr>
        <p:spPr>
          <a:xfrm>
            <a:off x="5037282" y="2720196"/>
            <a:ext cx="1604887" cy="813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Repeat for </a:t>
            </a:r>
            <a:br>
              <a:rPr lang="en-US" sz="1400" dirty="0"/>
            </a:br>
            <a:r>
              <a:rPr lang="en-US" sz="1400" dirty="0"/>
              <a:t>each new </a:t>
            </a:r>
            <a:br>
              <a:rPr lang="en-US" sz="1400" dirty="0"/>
            </a:br>
            <a:r>
              <a:rPr lang="en-US" sz="1400" dirty="0"/>
              <a:t>branch</a:t>
            </a:r>
            <a:endParaRPr lang="en-GB" sz="1400" dirty="0"/>
          </a:p>
        </p:txBody>
      </p:sp>
      <p:sp>
        <p:nvSpPr>
          <p:cNvPr id="85" name="Arrow: Right 84">
            <a:extLst>
              <a:ext uri="{FF2B5EF4-FFF2-40B4-BE49-F238E27FC236}">
                <a16:creationId xmlns:a16="http://schemas.microsoft.com/office/drawing/2014/main" id="{D23484D9-2AB4-0174-2E6C-0BD9858F0B5F}"/>
              </a:ext>
            </a:extLst>
          </p:cNvPr>
          <p:cNvSpPr/>
          <p:nvPr/>
        </p:nvSpPr>
        <p:spPr>
          <a:xfrm rot="13225306" flipV="1">
            <a:off x="6496457" y="2725949"/>
            <a:ext cx="618764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Arrow: Right 85">
            <a:extLst>
              <a:ext uri="{FF2B5EF4-FFF2-40B4-BE49-F238E27FC236}">
                <a16:creationId xmlns:a16="http://schemas.microsoft.com/office/drawing/2014/main" id="{D4CE2FB9-7A0D-0FDF-2AC2-0CE916AAD796}"/>
              </a:ext>
            </a:extLst>
          </p:cNvPr>
          <p:cNvSpPr/>
          <p:nvPr/>
        </p:nvSpPr>
        <p:spPr>
          <a:xfrm rot="14797995" flipV="1">
            <a:off x="6163304" y="3082208"/>
            <a:ext cx="1063102" cy="368069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AC312D5-9CC8-A179-268C-FF3C9ED7853C}"/>
              </a:ext>
            </a:extLst>
          </p:cNvPr>
          <p:cNvSpPr/>
          <p:nvPr/>
        </p:nvSpPr>
        <p:spPr>
          <a:xfrm rot="20081247">
            <a:off x="6819175" y="3233777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8920422-EAB3-B1A3-3348-1CDA732C13A8}"/>
              </a:ext>
            </a:extLst>
          </p:cNvPr>
          <p:cNvSpPr/>
          <p:nvPr/>
        </p:nvSpPr>
        <p:spPr>
          <a:xfrm rot="20081247">
            <a:off x="6277197" y="3499283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CC621A3-39FF-CBC0-0731-7C36967DBEE8}"/>
              </a:ext>
            </a:extLst>
          </p:cNvPr>
          <p:cNvSpPr/>
          <p:nvPr/>
        </p:nvSpPr>
        <p:spPr>
          <a:xfrm rot="19631704">
            <a:off x="6765797" y="3705741"/>
            <a:ext cx="483494" cy="35825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CEBA4-8D9C-BE3D-5B11-2DCDDD94270D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8166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(2)</a:t>
            </a:r>
            <a:br>
              <a:rPr lang="en-US" dirty="0"/>
            </a:br>
            <a:r>
              <a:rPr lang="en-US" sz="2800" dirty="0"/>
              <a:t>Needle-bearing trees: getting trickier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5069540" cy="51053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No lateral growth from old (needle-less) wood</a:t>
            </a:r>
          </a:p>
          <a:p>
            <a:r>
              <a:rPr lang="en-US" sz="1600" dirty="0"/>
              <a:t>Often weak adventitious growth</a:t>
            </a:r>
          </a:p>
          <a:p>
            <a:r>
              <a:rPr lang="en-US" sz="1600" dirty="0"/>
              <a:t>Often strong apical dominance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r>
              <a:rPr lang="en-US" sz="1600" dirty="0"/>
              <a:t>Green growth should form pads / clouds or layers, floating above the branch</a:t>
            </a:r>
          </a:p>
          <a:p>
            <a:r>
              <a:rPr lang="en-US" sz="1600" dirty="0"/>
              <a:t>Remove needles from trunk and base of branches to create old wood and permanently restrict future growth</a:t>
            </a:r>
          </a:p>
          <a:p>
            <a:r>
              <a:rPr lang="en-US" sz="1600" dirty="0"/>
              <a:t>Control apical growth carefully to stop premature die-off of lower branches (“energy balancing”)</a:t>
            </a:r>
          </a:p>
          <a:p>
            <a:r>
              <a:rPr lang="en-US" sz="1600" dirty="0"/>
              <a:t>Cutting back tips (removing current-year terminal growth) is called “de-candling”</a:t>
            </a: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7089D4-1926-C8F7-C408-6B16F42EB667}"/>
              </a:ext>
            </a:extLst>
          </p:cNvPr>
          <p:cNvSpPr txBox="1">
            <a:spLocks/>
          </p:cNvSpPr>
          <p:nvPr/>
        </p:nvSpPr>
        <p:spPr>
          <a:xfrm>
            <a:off x="5509480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Approach</a:t>
            </a:r>
          </a:p>
          <a:p>
            <a:r>
              <a:rPr lang="en-US" sz="1600" dirty="0"/>
              <a:t>Create ramification and taper following the same process as for broadleaf trees</a:t>
            </a:r>
          </a:p>
          <a:p>
            <a:r>
              <a:rPr lang="en-US" sz="1600" dirty="0"/>
              <a:t>…but leave some lower branches as sacrificial branches to thicken the trunk</a:t>
            </a:r>
          </a:p>
          <a:p>
            <a:r>
              <a:rPr lang="en-US" sz="1600" dirty="0"/>
              <a:t>Be sure that each new branch has some foliage at its tip, or it will die</a:t>
            </a:r>
          </a:p>
          <a:p>
            <a:r>
              <a:rPr lang="en-US" sz="1600" dirty="0"/>
              <a:t>Don’t panic if you have long branches without side-shoots: these can be made more compact by wiring!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AB31A6-F7A9-A64D-FF2A-9AFE0E68E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335" y="4927601"/>
            <a:ext cx="3096036" cy="17390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98A0B7-9A63-062A-F807-F7B827DEF3A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57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Pruning for Ramification (3)</a:t>
            </a:r>
            <a:br>
              <a:rPr lang="en-US" dirty="0"/>
            </a:br>
            <a:r>
              <a:rPr lang="en-US" sz="2800" dirty="0"/>
              <a:t>Spiky / scaly trees: s</a:t>
            </a:r>
            <a:r>
              <a:rPr lang="en-US" sz="2800" i="1" dirty="0"/>
              <a:t>uper</a:t>
            </a:r>
            <a:r>
              <a:rPr lang="en-US" sz="2800" dirty="0"/>
              <a:t> fiddly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023" y="1752599"/>
            <a:ext cx="4722618" cy="51053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Context:</a:t>
            </a:r>
          </a:p>
          <a:p>
            <a:r>
              <a:rPr lang="en-US" sz="1600" dirty="0"/>
              <a:t>No epicormic growth</a:t>
            </a:r>
          </a:p>
          <a:p>
            <a:r>
              <a:rPr lang="en-US" sz="1600" dirty="0"/>
              <a:t>Lateral growth is already present!</a:t>
            </a:r>
          </a:p>
          <a:p>
            <a:r>
              <a:rPr lang="en-US" sz="1600" dirty="0"/>
              <a:t>Short inter-node distance</a:t>
            </a:r>
          </a:p>
          <a:p>
            <a:r>
              <a:rPr lang="en-US" sz="1600" dirty="0"/>
              <a:t>Spiky foliage = immature scaly foliage</a:t>
            </a:r>
          </a:p>
          <a:p>
            <a:pPr marL="0" indent="0">
              <a:buNone/>
            </a:pPr>
            <a:r>
              <a:rPr lang="en-US" dirty="0"/>
              <a:t>Goals</a:t>
            </a:r>
          </a:p>
          <a:p>
            <a:pPr marL="342900" lvl="1" indent="-342900"/>
            <a:r>
              <a:rPr lang="en-US" dirty="0"/>
              <a:t>Green growth should form pads or layers along the branch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BAD9E73-D608-3423-DE08-2668B4CA0E10}"/>
              </a:ext>
            </a:extLst>
          </p:cNvPr>
          <p:cNvSpPr txBox="1">
            <a:spLocks/>
          </p:cNvSpPr>
          <p:nvPr/>
        </p:nvSpPr>
        <p:spPr>
          <a:xfrm>
            <a:off x="5763835" y="1752601"/>
            <a:ext cx="4722618" cy="5105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Branches should form fractal “fishbones”</a:t>
            </a:r>
          </a:p>
          <a:p>
            <a:pPr marL="0" indent="0">
              <a:buNone/>
            </a:pPr>
            <a:r>
              <a:rPr lang="en-US" dirty="0"/>
              <a:t>Approach</a:t>
            </a:r>
          </a:p>
          <a:p>
            <a:pPr marL="400050"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branch tip (Zone D) entirely;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out of the layer (i.e. up or down if branch is horizontal)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Remove growth in Zone A;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Thin out growth in Zone B; 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Shape-prune growth in Zone C</a:t>
            </a:r>
          </a:p>
          <a:p>
            <a:pPr marL="400050">
              <a:spcBef>
                <a:spcPts val="0"/>
              </a:spcBef>
              <a:buClr>
                <a:schemeClr val="accent5"/>
              </a:buClr>
              <a:buFont typeface="+mj-lt"/>
              <a:buAutoNum type="arabicPeriod"/>
            </a:pPr>
            <a:r>
              <a:rPr lang="en-US" sz="1600" dirty="0"/>
              <a:t>…Then repeat for each branch in Zone B</a:t>
            </a: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035594A9-C0B6-D59E-B7C1-63A3B8234A68}"/>
              </a:ext>
            </a:extLst>
          </p:cNvPr>
          <p:cNvSpPr/>
          <p:nvPr/>
        </p:nvSpPr>
        <p:spPr>
          <a:xfrm>
            <a:off x="6619419" y="4736601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EF1BDFA9-EEC1-EB85-CC0B-F49E76A2E31D}"/>
              </a:ext>
            </a:extLst>
          </p:cNvPr>
          <p:cNvSpPr/>
          <p:nvPr/>
        </p:nvSpPr>
        <p:spPr>
          <a:xfrm>
            <a:off x="7713390" y="4548545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48478558-4C74-8070-7067-710CA6E7E40D}"/>
              </a:ext>
            </a:extLst>
          </p:cNvPr>
          <p:cNvSpPr/>
          <p:nvPr/>
        </p:nvSpPr>
        <p:spPr>
          <a:xfrm>
            <a:off x="7030606" y="6049060"/>
            <a:ext cx="372235" cy="372235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GB" dirty="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59288F1F-AF02-2FD2-EEAB-5F1614F2417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6FA8A06-33B1-D9EE-CBC0-1C56495F1DFB}"/>
              </a:ext>
            </a:extLst>
          </p:cNvPr>
          <p:cNvGrpSpPr/>
          <p:nvPr/>
        </p:nvGrpSpPr>
        <p:grpSpPr>
          <a:xfrm>
            <a:off x="791981" y="3878443"/>
            <a:ext cx="4852430" cy="3598689"/>
            <a:chOff x="791981" y="3878443"/>
            <a:chExt cx="4852430" cy="3598689"/>
          </a:xfrm>
        </p:grpSpPr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D0BEF51C-B7EB-DA0E-CBF6-B8CC364266D1}"/>
                </a:ext>
              </a:extLst>
            </p:cNvPr>
            <p:cNvSpPr/>
            <p:nvPr/>
          </p:nvSpPr>
          <p:spPr>
            <a:xfrm rot="5400000" flipH="1">
              <a:off x="2440033" y="3462138"/>
              <a:ext cx="1798168" cy="444424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6" name="Isosceles Triangle 155">
              <a:extLst>
                <a:ext uri="{FF2B5EF4-FFF2-40B4-BE49-F238E27FC236}">
                  <a16:creationId xmlns:a16="http://schemas.microsoft.com/office/drawing/2014/main" id="{26781C03-DEE9-B7C1-EE1E-B43E72962A12}"/>
                </a:ext>
              </a:extLst>
            </p:cNvPr>
            <p:cNvSpPr/>
            <p:nvPr/>
          </p:nvSpPr>
          <p:spPr>
            <a:xfrm rot="5400000" flipH="1">
              <a:off x="2995977" y="3343605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F355A30C-06C1-7BB8-31F3-0B0C09105763}"/>
                </a:ext>
              </a:extLst>
            </p:cNvPr>
            <p:cNvCxnSpPr>
              <a:cxnSpLocks/>
            </p:cNvCxnSpPr>
            <p:nvPr/>
          </p:nvCxnSpPr>
          <p:spPr>
            <a:xfrm>
              <a:off x="995973" y="5480307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EE2096FF-658D-04D4-5E55-A811579A8D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9350" y="4902461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B21C871-B65D-4A82-22D3-B0D06A2919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5973" y="5888210"/>
              <a:ext cx="79337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4FC84DE-72BC-94E4-0B49-56C3C94C9963}"/>
                </a:ext>
              </a:extLst>
            </p:cNvPr>
            <p:cNvCxnSpPr>
              <a:cxnSpLocks/>
            </p:cNvCxnSpPr>
            <p:nvPr/>
          </p:nvCxnSpPr>
          <p:spPr>
            <a:xfrm>
              <a:off x="1789350" y="5888210"/>
              <a:ext cx="0" cy="57784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FC9662CB-A202-266C-C52E-3AEACFC71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49984" y="4582726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B79CF3C4-DA79-1AC3-793E-5A9FD8E838AF}"/>
                </a:ext>
              </a:extLst>
            </p:cNvPr>
            <p:cNvCxnSpPr>
              <a:cxnSpLocks/>
            </p:cNvCxnSpPr>
            <p:nvPr/>
          </p:nvCxnSpPr>
          <p:spPr>
            <a:xfrm>
              <a:off x="4549984" y="5684260"/>
              <a:ext cx="734712" cy="1101532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65672FFC-1925-A7C9-7613-C941DCB7CDE7}"/>
                </a:ext>
              </a:extLst>
            </p:cNvPr>
            <p:cNvSpPr/>
            <p:nvPr/>
          </p:nvSpPr>
          <p:spPr>
            <a:xfrm>
              <a:off x="1116214" y="617299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E5047BA-9616-F1A2-B81D-ED1BAC4BB6ED}"/>
                </a:ext>
              </a:extLst>
            </p:cNvPr>
            <p:cNvSpPr/>
            <p:nvPr/>
          </p:nvSpPr>
          <p:spPr>
            <a:xfrm>
              <a:off x="1121548" y="48232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en-GB" dirty="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0B44F697-B966-FD90-1F4F-94F82AB587F3}"/>
                </a:ext>
              </a:extLst>
            </p:cNvPr>
            <p:cNvSpPr/>
            <p:nvPr/>
          </p:nvSpPr>
          <p:spPr>
            <a:xfrm>
              <a:off x="5272176" y="4837588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  <a:endParaRPr lang="en-GB" dirty="0"/>
            </a:p>
          </p:txBody>
        </p: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46C5DCC-D545-327D-77C4-740FF50711C9}"/>
                </a:ext>
              </a:extLst>
            </p:cNvPr>
            <p:cNvCxnSpPr>
              <a:cxnSpLocks/>
              <a:stCxn id="156" idx="5"/>
            </p:cNvCxnSpPr>
            <p:nvPr/>
          </p:nvCxnSpPr>
          <p:spPr>
            <a:xfrm flipV="1">
              <a:off x="3199928" y="4556576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145CE32-27BD-0521-F72F-B60A7A81B256}"/>
                </a:ext>
              </a:extLst>
            </p:cNvPr>
            <p:cNvCxnSpPr>
              <a:cxnSpLocks/>
            </p:cNvCxnSpPr>
            <p:nvPr/>
          </p:nvCxnSpPr>
          <p:spPr>
            <a:xfrm>
              <a:off x="3199928" y="5773511"/>
              <a:ext cx="248142" cy="102570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7DA35669-1BB4-AD74-2F8B-7ABFA937C525}"/>
                </a:ext>
              </a:extLst>
            </p:cNvPr>
            <p:cNvCxnSpPr>
              <a:cxnSpLocks/>
              <a:endCxn id="156" idx="5"/>
            </p:cNvCxnSpPr>
            <p:nvPr/>
          </p:nvCxnSpPr>
          <p:spPr>
            <a:xfrm>
              <a:off x="1821420" y="5530543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E5CFECD-BB62-30A7-F1C7-B63BAB178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420" y="5782770"/>
              <a:ext cx="1378508" cy="5174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FE2DF558-787D-9267-7AEC-750CA273DDF1}"/>
                </a:ext>
              </a:extLst>
            </p:cNvPr>
            <p:cNvSpPr/>
            <p:nvPr/>
          </p:nvSpPr>
          <p:spPr>
            <a:xfrm>
              <a:off x="2422499" y="499377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C14F474F-8CF8-FC96-AF27-913D1AD71F0D}"/>
                </a:ext>
              </a:extLst>
            </p:cNvPr>
            <p:cNvSpPr/>
            <p:nvPr/>
          </p:nvSpPr>
          <p:spPr>
            <a:xfrm>
              <a:off x="2425454" y="600251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en-GB" dirty="0"/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FD774374-6B05-5D48-49B9-03B3990CB4EC}"/>
                </a:ext>
              </a:extLst>
            </p:cNvPr>
            <p:cNvSpPr/>
            <p:nvPr/>
          </p:nvSpPr>
          <p:spPr>
            <a:xfrm>
              <a:off x="795200" y="4722690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30885FD6-934C-4705-BC1A-D522F210D9E1}"/>
                </a:ext>
              </a:extLst>
            </p:cNvPr>
            <p:cNvSpPr/>
            <p:nvPr/>
          </p:nvSpPr>
          <p:spPr>
            <a:xfrm>
              <a:off x="4269453" y="4722690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11A8986E-603B-DBE4-EC1B-1352BCB55C72}"/>
                </a:ext>
              </a:extLst>
            </p:cNvPr>
            <p:cNvSpPr/>
            <p:nvPr/>
          </p:nvSpPr>
          <p:spPr>
            <a:xfrm>
              <a:off x="4269452" y="6345582"/>
              <a:ext cx="372235" cy="372235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en-GB" dirty="0"/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90EF66EA-C075-5B0C-F22F-8D64FDCA2B88}"/>
                </a:ext>
              </a:extLst>
            </p:cNvPr>
            <p:cNvSpPr/>
            <p:nvPr/>
          </p:nvSpPr>
          <p:spPr>
            <a:xfrm flipV="1">
              <a:off x="791981" y="3878443"/>
              <a:ext cx="3846487" cy="2754442"/>
            </a:xfrm>
            <a:prstGeom prst="arc">
              <a:avLst>
                <a:gd name="adj1" fmla="val 17853450"/>
                <a:gd name="adj2" fmla="val 20813387"/>
              </a:avLst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99F2078-5902-8267-A059-A85E476D7580}"/>
                </a:ext>
              </a:extLst>
            </p:cNvPr>
            <p:cNvSpPr/>
            <p:nvPr/>
          </p:nvSpPr>
          <p:spPr>
            <a:xfrm>
              <a:off x="1146303" y="5493267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76F01D-078F-1A73-D69F-664AF88E51CC}"/>
                </a:ext>
              </a:extLst>
            </p:cNvPr>
            <p:cNvSpPr/>
            <p:nvPr/>
          </p:nvSpPr>
          <p:spPr>
            <a:xfrm>
              <a:off x="2158071" y="5484615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9C0D96-47AD-D7E4-C62D-4FAB606E0C68}"/>
                </a:ext>
              </a:extLst>
            </p:cNvPr>
            <p:cNvSpPr/>
            <p:nvPr/>
          </p:nvSpPr>
          <p:spPr>
            <a:xfrm>
              <a:off x="3581902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2C1A9A6-62BE-BEEB-8F09-5BDB59D0E938}"/>
                </a:ext>
              </a:extLst>
            </p:cNvPr>
            <p:cNvSpPr/>
            <p:nvPr/>
          </p:nvSpPr>
          <p:spPr>
            <a:xfrm>
              <a:off x="4861431" y="5499340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  <a:endParaRPr lang="en-GB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49DC5D3-C392-58D6-485C-72A4FF42DBFB}"/>
              </a:ext>
            </a:extLst>
          </p:cNvPr>
          <p:cNvGrpSpPr/>
          <p:nvPr/>
        </p:nvGrpSpPr>
        <p:grpSpPr>
          <a:xfrm>
            <a:off x="6106391" y="3878443"/>
            <a:ext cx="4891504" cy="3598688"/>
            <a:chOff x="6106391" y="3878443"/>
            <a:chExt cx="4891504" cy="3598688"/>
          </a:xfrm>
        </p:grpSpPr>
        <p:sp>
          <p:nvSpPr>
            <p:cNvPr id="177" name="Partial Circle 176">
              <a:extLst>
                <a:ext uri="{FF2B5EF4-FFF2-40B4-BE49-F238E27FC236}">
                  <a16:creationId xmlns:a16="http://schemas.microsoft.com/office/drawing/2014/main" id="{D849D9D2-E0A0-2039-565F-A2D7E38ABA6F}"/>
                </a:ext>
              </a:extLst>
            </p:cNvPr>
            <p:cNvSpPr/>
            <p:nvPr/>
          </p:nvSpPr>
          <p:spPr>
            <a:xfrm rot="5400000" flipH="1">
              <a:off x="6674441" y="4171800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8" name="Partial Circle 177">
              <a:extLst>
                <a:ext uri="{FF2B5EF4-FFF2-40B4-BE49-F238E27FC236}">
                  <a16:creationId xmlns:a16="http://schemas.microsoft.com/office/drawing/2014/main" id="{68369F02-1576-0931-5E56-5EC9728ECEF0}"/>
                </a:ext>
              </a:extLst>
            </p:cNvPr>
            <p:cNvSpPr/>
            <p:nvPr/>
          </p:nvSpPr>
          <p:spPr>
            <a:xfrm rot="16200000" flipH="1" flipV="1">
              <a:off x="6657282" y="3327552"/>
              <a:ext cx="2754440" cy="3856221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9" name="Right Triangle 178">
              <a:extLst>
                <a:ext uri="{FF2B5EF4-FFF2-40B4-BE49-F238E27FC236}">
                  <a16:creationId xmlns:a16="http://schemas.microsoft.com/office/drawing/2014/main" id="{745730A3-E3B0-107A-A089-B25EE2FC6064}"/>
                </a:ext>
              </a:extLst>
            </p:cNvPr>
            <p:cNvSpPr/>
            <p:nvPr/>
          </p:nvSpPr>
          <p:spPr>
            <a:xfrm rot="16200000" flipH="1" flipV="1">
              <a:off x="7650452" y="5162437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0" name="Right Triangle 179">
              <a:extLst>
                <a:ext uri="{FF2B5EF4-FFF2-40B4-BE49-F238E27FC236}">
                  <a16:creationId xmlns:a16="http://schemas.microsoft.com/office/drawing/2014/main" id="{F8CB137D-762A-B5DA-9A0A-4193D4656EFE}"/>
                </a:ext>
              </a:extLst>
            </p:cNvPr>
            <p:cNvSpPr/>
            <p:nvPr/>
          </p:nvSpPr>
          <p:spPr>
            <a:xfrm rot="5400000" flipH="1">
              <a:off x="7650452" y="5751000"/>
              <a:ext cx="1798169" cy="442137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B020298-FED5-4E9C-08D9-C7291207B87E}"/>
                </a:ext>
              </a:extLst>
            </p:cNvPr>
            <p:cNvSpPr/>
            <p:nvPr/>
          </p:nvSpPr>
          <p:spPr>
            <a:xfrm rot="16200000" flipH="1" flipV="1">
              <a:off x="7396589" y="5242393"/>
              <a:ext cx="1255946" cy="873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2" name="Isosceles Triangle 181">
              <a:extLst>
                <a:ext uri="{FF2B5EF4-FFF2-40B4-BE49-F238E27FC236}">
                  <a16:creationId xmlns:a16="http://schemas.microsoft.com/office/drawing/2014/main" id="{99208AAD-07D1-8F8A-73E9-699EC261928E}"/>
                </a:ext>
              </a:extLst>
            </p:cNvPr>
            <p:cNvSpPr/>
            <p:nvPr/>
          </p:nvSpPr>
          <p:spPr>
            <a:xfrm rot="5400000" flipH="1">
              <a:off x="8318513" y="3343607"/>
              <a:ext cx="407902" cy="468130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8806DF79-414A-BB84-FB3A-B956D4F5E651}"/>
                </a:ext>
              </a:extLst>
            </p:cNvPr>
            <p:cNvSpPr/>
            <p:nvPr/>
          </p:nvSpPr>
          <p:spPr>
            <a:xfrm rot="16200000" flipH="1" flipV="1">
              <a:off x="10231256" y="5108045"/>
              <a:ext cx="407902" cy="11253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4" name="Partial Circle 183">
              <a:extLst>
                <a:ext uri="{FF2B5EF4-FFF2-40B4-BE49-F238E27FC236}">
                  <a16:creationId xmlns:a16="http://schemas.microsoft.com/office/drawing/2014/main" id="{12F2E1C8-9381-C081-B493-A68DFB0664AC}"/>
                </a:ext>
              </a:extLst>
            </p:cNvPr>
            <p:cNvSpPr/>
            <p:nvPr/>
          </p:nvSpPr>
          <p:spPr>
            <a:xfrm rot="408264" flipH="1">
              <a:off x="7126666" y="4689870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5" name="Partial Circle 184">
              <a:extLst>
                <a:ext uri="{FF2B5EF4-FFF2-40B4-BE49-F238E27FC236}">
                  <a16:creationId xmlns:a16="http://schemas.microsoft.com/office/drawing/2014/main" id="{2F6D0189-4986-C353-2C9D-A952261CA4E4}"/>
                </a:ext>
              </a:extLst>
            </p:cNvPr>
            <p:cNvSpPr/>
            <p:nvPr/>
          </p:nvSpPr>
          <p:spPr>
            <a:xfrm rot="11208264" flipH="1" flipV="1">
              <a:off x="6963999" y="4674663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6" name="Right Triangle 185">
              <a:extLst>
                <a:ext uri="{FF2B5EF4-FFF2-40B4-BE49-F238E27FC236}">
                  <a16:creationId xmlns:a16="http://schemas.microsoft.com/office/drawing/2014/main" id="{C7F13020-27A5-7095-7AE7-A9D7ED424B1C}"/>
                </a:ext>
              </a:extLst>
            </p:cNvPr>
            <p:cNvSpPr/>
            <p:nvPr/>
          </p:nvSpPr>
          <p:spPr>
            <a:xfrm rot="11208264" flipH="1" flipV="1">
              <a:off x="7095893" y="496835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7" name="Right Triangle 186">
              <a:extLst>
                <a:ext uri="{FF2B5EF4-FFF2-40B4-BE49-F238E27FC236}">
                  <a16:creationId xmlns:a16="http://schemas.microsoft.com/office/drawing/2014/main" id="{861F3CE9-3842-E373-0DE7-713F726AA9B2}"/>
                </a:ext>
              </a:extLst>
            </p:cNvPr>
            <p:cNvSpPr/>
            <p:nvPr/>
          </p:nvSpPr>
          <p:spPr>
            <a:xfrm rot="408264" flipH="1">
              <a:off x="7208951" y="498184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79A21BB-07F9-22AD-CBE4-2F778B1BFA6A}"/>
                </a:ext>
              </a:extLst>
            </p:cNvPr>
            <p:cNvSpPr/>
            <p:nvPr/>
          </p:nvSpPr>
          <p:spPr>
            <a:xfrm rot="11208264" flipH="1" flipV="1">
              <a:off x="7190051" y="50493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9" name="Isosceles Triangle 188">
              <a:extLst>
                <a:ext uri="{FF2B5EF4-FFF2-40B4-BE49-F238E27FC236}">
                  <a16:creationId xmlns:a16="http://schemas.microsoft.com/office/drawing/2014/main" id="{94F5BB6E-030A-7341-6B01-88E414D8093B}"/>
                </a:ext>
              </a:extLst>
            </p:cNvPr>
            <p:cNvSpPr/>
            <p:nvPr/>
          </p:nvSpPr>
          <p:spPr>
            <a:xfrm rot="408264" flipH="1">
              <a:off x="7287361" y="4466331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611C8A5F-626C-E730-13BE-2257ACF46BE4}"/>
                </a:ext>
              </a:extLst>
            </p:cNvPr>
            <p:cNvSpPr/>
            <p:nvPr/>
          </p:nvSpPr>
          <p:spPr>
            <a:xfrm rot="11208264" flipH="1" flipV="1">
              <a:off x="7339875" y="4436521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1" name="Partial Circle 190">
              <a:extLst>
                <a:ext uri="{FF2B5EF4-FFF2-40B4-BE49-F238E27FC236}">
                  <a16:creationId xmlns:a16="http://schemas.microsoft.com/office/drawing/2014/main" id="{92A7ECE5-F97F-8F53-947C-140A00B3D751}"/>
                </a:ext>
              </a:extLst>
            </p:cNvPr>
            <p:cNvSpPr/>
            <p:nvPr/>
          </p:nvSpPr>
          <p:spPr>
            <a:xfrm rot="10285803" flipH="1">
              <a:off x="7412197" y="5796315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2" name="Partial Circle 191">
              <a:extLst>
                <a:ext uri="{FF2B5EF4-FFF2-40B4-BE49-F238E27FC236}">
                  <a16:creationId xmlns:a16="http://schemas.microsoft.com/office/drawing/2014/main" id="{07A35F60-DDA9-A917-4071-5812BFD96F94}"/>
                </a:ext>
              </a:extLst>
            </p:cNvPr>
            <p:cNvSpPr/>
            <p:nvPr/>
          </p:nvSpPr>
          <p:spPr>
            <a:xfrm rot="21085803" flipH="1" flipV="1">
              <a:off x="7573074" y="5767851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ight Triangle 192">
              <a:extLst>
                <a:ext uri="{FF2B5EF4-FFF2-40B4-BE49-F238E27FC236}">
                  <a16:creationId xmlns:a16="http://schemas.microsoft.com/office/drawing/2014/main" id="{C81CB7A4-C16B-360B-0819-565D713D959F}"/>
                </a:ext>
              </a:extLst>
            </p:cNvPr>
            <p:cNvSpPr/>
            <p:nvPr/>
          </p:nvSpPr>
          <p:spPr>
            <a:xfrm rot="21085803" flipH="1" flipV="1">
              <a:off x="7659780" y="6310520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4" name="Right Triangle 193">
              <a:extLst>
                <a:ext uri="{FF2B5EF4-FFF2-40B4-BE49-F238E27FC236}">
                  <a16:creationId xmlns:a16="http://schemas.microsoft.com/office/drawing/2014/main" id="{722A419E-AD3B-0CC7-70CD-C801963BC7DE}"/>
                </a:ext>
              </a:extLst>
            </p:cNvPr>
            <p:cNvSpPr/>
            <p:nvPr/>
          </p:nvSpPr>
          <p:spPr>
            <a:xfrm rot="10285803" flipH="1">
              <a:off x="7547192" y="6327487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D54A12E-0BAA-CD36-C778-3ABD3F7D1E51}"/>
                </a:ext>
              </a:extLst>
            </p:cNvPr>
            <p:cNvSpPr/>
            <p:nvPr/>
          </p:nvSpPr>
          <p:spPr>
            <a:xfrm rot="21085803" flipH="1" flipV="1">
              <a:off x="7636603" y="6140297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6" name="Isosceles Triangle 195">
              <a:extLst>
                <a:ext uri="{FF2B5EF4-FFF2-40B4-BE49-F238E27FC236}">
                  <a16:creationId xmlns:a16="http://schemas.microsoft.com/office/drawing/2014/main" id="{F3B33AC6-FBB9-F646-86E8-72E5EA3D2684}"/>
                </a:ext>
              </a:extLst>
            </p:cNvPr>
            <p:cNvSpPr/>
            <p:nvPr/>
          </p:nvSpPr>
          <p:spPr>
            <a:xfrm rot="10285803" flipH="1">
              <a:off x="7735742" y="5797222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9A64E73-ADAB-E5B7-958C-1609AC881326}"/>
                </a:ext>
              </a:extLst>
            </p:cNvPr>
            <p:cNvSpPr/>
            <p:nvPr/>
          </p:nvSpPr>
          <p:spPr>
            <a:xfrm rot="21085803" flipH="1" flipV="1">
              <a:off x="7807646" y="6689174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8" name="Partial Circle 197">
              <a:extLst>
                <a:ext uri="{FF2B5EF4-FFF2-40B4-BE49-F238E27FC236}">
                  <a16:creationId xmlns:a16="http://schemas.microsoft.com/office/drawing/2014/main" id="{1FDB20EB-2334-0643-5666-C7CE8E0C68A5}"/>
                </a:ext>
              </a:extLst>
            </p:cNvPr>
            <p:cNvSpPr/>
            <p:nvPr/>
          </p:nvSpPr>
          <p:spPr>
            <a:xfrm rot="950623" flipH="1">
              <a:off x="8001592" y="4698949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9" name="Partial Circle 198">
              <a:extLst>
                <a:ext uri="{FF2B5EF4-FFF2-40B4-BE49-F238E27FC236}">
                  <a16:creationId xmlns:a16="http://schemas.microsoft.com/office/drawing/2014/main" id="{9EF970AF-DC85-5FAA-BBA4-7865872082CC}"/>
                </a:ext>
              </a:extLst>
            </p:cNvPr>
            <p:cNvSpPr/>
            <p:nvPr/>
          </p:nvSpPr>
          <p:spPr>
            <a:xfrm rot="11750623" flipH="1" flipV="1">
              <a:off x="7843335" y="4658374"/>
              <a:ext cx="532855" cy="937786"/>
            </a:xfrm>
            <a:prstGeom prst="pie">
              <a:avLst>
                <a:gd name="adj1" fmla="val 16950464"/>
                <a:gd name="adj2" fmla="val 2002204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ight Triangle 199">
              <a:extLst>
                <a:ext uri="{FF2B5EF4-FFF2-40B4-BE49-F238E27FC236}">
                  <a16:creationId xmlns:a16="http://schemas.microsoft.com/office/drawing/2014/main" id="{F1276023-7696-DEA6-A158-FF6E6BC952D1}"/>
                </a:ext>
              </a:extLst>
            </p:cNvPr>
            <p:cNvSpPr/>
            <p:nvPr/>
          </p:nvSpPr>
          <p:spPr>
            <a:xfrm rot="11750623" flipH="1" flipV="1">
              <a:off x="7993819" y="4959766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1" name="Right Triangle 200">
              <a:extLst>
                <a:ext uri="{FF2B5EF4-FFF2-40B4-BE49-F238E27FC236}">
                  <a16:creationId xmlns:a16="http://schemas.microsoft.com/office/drawing/2014/main" id="{1241A215-B2E8-E31E-E58E-02D406390CA5}"/>
                </a:ext>
              </a:extLst>
            </p:cNvPr>
            <p:cNvSpPr/>
            <p:nvPr/>
          </p:nvSpPr>
          <p:spPr>
            <a:xfrm rot="950623" flipH="1">
              <a:off x="8103353" y="4990851"/>
              <a:ext cx="347862" cy="10752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ED29F83D-5797-BAF2-0CD8-9F2959B555BC}"/>
                </a:ext>
              </a:extLst>
            </p:cNvPr>
            <p:cNvSpPr/>
            <p:nvPr/>
          </p:nvSpPr>
          <p:spPr>
            <a:xfrm rot="11750623" flipH="1" flipV="1">
              <a:off x="8066476" y="5045700"/>
              <a:ext cx="242967" cy="21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791B5FD0-3243-31E5-E6B3-F1F75DF3689C}"/>
                </a:ext>
              </a:extLst>
            </p:cNvPr>
            <p:cNvSpPr/>
            <p:nvPr/>
          </p:nvSpPr>
          <p:spPr>
            <a:xfrm rot="950623" flipH="1">
              <a:off x="8182469" y="4466527"/>
              <a:ext cx="78910" cy="1138437"/>
            </a:xfrm>
            <a:prstGeom prst="triangle">
              <a:avLst/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245B61A0-C3FD-F7B6-012C-B151649146E8}"/>
                </a:ext>
              </a:extLst>
            </p:cNvPr>
            <p:cNvSpPr/>
            <p:nvPr/>
          </p:nvSpPr>
          <p:spPr>
            <a:xfrm rot="11750623" flipH="1" flipV="1">
              <a:off x="8306946" y="4450707"/>
              <a:ext cx="78910" cy="273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A27B1764-9D58-686E-E564-062FD699C340}"/>
                </a:ext>
              </a:extLst>
            </p:cNvPr>
            <p:cNvGrpSpPr/>
            <p:nvPr/>
          </p:nvGrpSpPr>
          <p:grpSpPr>
            <a:xfrm rot="11405587">
              <a:off x="7066591" y="5234692"/>
              <a:ext cx="237698" cy="72211"/>
              <a:chOff x="4821842" y="2298918"/>
              <a:chExt cx="237698" cy="72211"/>
            </a:xfrm>
          </p:grpSpPr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461A21A7-9062-B17D-6701-B20E590A9053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1" name="Isosceles Triangle 230">
                <a:extLst>
                  <a:ext uri="{FF2B5EF4-FFF2-40B4-BE49-F238E27FC236}">
                    <a16:creationId xmlns:a16="http://schemas.microsoft.com/office/drawing/2014/main" id="{547A88B9-6ADD-4825-4816-BB74D16F83B9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378DB1D6-B691-F8AF-EE9F-1A0DF60A5479}"/>
                </a:ext>
              </a:extLst>
            </p:cNvPr>
            <p:cNvGrpSpPr/>
            <p:nvPr/>
          </p:nvGrpSpPr>
          <p:grpSpPr>
            <a:xfrm rot="21163159">
              <a:off x="7304763" y="5168680"/>
              <a:ext cx="237698" cy="72211"/>
              <a:chOff x="4821842" y="2298918"/>
              <a:chExt cx="237698" cy="72211"/>
            </a:xfrm>
          </p:grpSpPr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ED9C24E4-79B9-8DB3-DA34-892A8386811C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9" name="Isosceles Triangle 228">
                <a:extLst>
                  <a:ext uri="{FF2B5EF4-FFF2-40B4-BE49-F238E27FC236}">
                    <a16:creationId xmlns:a16="http://schemas.microsoft.com/office/drawing/2014/main" id="{55ECD744-5568-5C01-B68D-E6FBCE4112B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2D8C1963-F59F-246C-81C0-0034D0EFDD37}"/>
                </a:ext>
              </a:extLst>
            </p:cNvPr>
            <p:cNvGrpSpPr/>
            <p:nvPr/>
          </p:nvGrpSpPr>
          <p:grpSpPr>
            <a:xfrm rot="12209970">
              <a:off x="7095393" y="5035365"/>
              <a:ext cx="237698" cy="72211"/>
              <a:chOff x="4821842" y="2298918"/>
              <a:chExt cx="237698" cy="72211"/>
            </a:xfrm>
          </p:grpSpPr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908B4775-D2D5-5DB7-94F1-A255CB3CF63F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A88782FA-8CC9-8638-1E45-4539F08B6DD5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7A936D9-18AC-E15F-8500-A395A1B8D566}"/>
                </a:ext>
              </a:extLst>
            </p:cNvPr>
            <p:cNvGrpSpPr/>
            <p:nvPr/>
          </p:nvGrpSpPr>
          <p:grpSpPr>
            <a:xfrm rot="576201">
              <a:off x="7751869" y="6164298"/>
              <a:ext cx="237698" cy="72211"/>
              <a:chOff x="4821842" y="2298918"/>
              <a:chExt cx="237698" cy="72211"/>
            </a:xfrm>
          </p:grpSpPr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299EC4F3-C13A-4BAB-C774-83C291A5C23D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5" name="Isosceles Triangle 224">
                <a:extLst>
                  <a:ext uri="{FF2B5EF4-FFF2-40B4-BE49-F238E27FC236}">
                    <a16:creationId xmlns:a16="http://schemas.microsoft.com/office/drawing/2014/main" id="{A3E79817-2EC1-ED79-E04C-4A36175BEFF4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364DD2AC-23D9-B055-C998-4F201E5779F8}"/>
                </a:ext>
              </a:extLst>
            </p:cNvPr>
            <p:cNvGrpSpPr/>
            <p:nvPr/>
          </p:nvGrpSpPr>
          <p:grpSpPr>
            <a:xfrm rot="9224964">
              <a:off x="7491047" y="6110355"/>
              <a:ext cx="237698" cy="72211"/>
              <a:chOff x="4821842" y="2298918"/>
              <a:chExt cx="237698" cy="72211"/>
            </a:xfrm>
          </p:grpSpPr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00FA50E8-451B-B9BA-D9AE-F27F571420A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3" name="Isosceles Triangle 222">
                <a:extLst>
                  <a:ext uri="{FF2B5EF4-FFF2-40B4-BE49-F238E27FC236}">
                    <a16:creationId xmlns:a16="http://schemas.microsoft.com/office/drawing/2014/main" id="{85D0E3CA-0C3F-31E8-35FF-F3C0E86ACA1D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13ACD771-E147-8A34-5F82-DA1EABD44E6C}"/>
                </a:ext>
              </a:extLst>
            </p:cNvPr>
            <p:cNvGrpSpPr/>
            <p:nvPr/>
          </p:nvGrpSpPr>
          <p:grpSpPr>
            <a:xfrm rot="9344935">
              <a:off x="7526281" y="6310860"/>
              <a:ext cx="237698" cy="72211"/>
              <a:chOff x="4821842" y="2298918"/>
              <a:chExt cx="237698" cy="72211"/>
            </a:xfrm>
          </p:grpSpPr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BBD1194D-5E2B-81AF-E279-0117E22120C6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1" name="Isosceles Triangle 220">
                <a:extLst>
                  <a:ext uri="{FF2B5EF4-FFF2-40B4-BE49-F238E27FC236}">
                    <a16:creationId xmlns:a16="http://schemas.microsoft.com/office/drawing/2014/main" id="{E471DFEF-8B4F-4E89-D321-B67FF46F545A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0553892E-CC58-29CE-B9B5-8A6B5B7C5E71}"/>
                </a:ext>
              </a:extLst>
            </p:cNvPr>
            <p:cNvGrpSpPr/>
            <p:nvPr/>
          </p:nvGrpSpPr>
          <p:grpSpPr>
            <a:xfrm rot="12042340">
              <a:off x="7900263" y="5225953"/>
              <a:ext cx="237698" cy="72211"/>
              <a:chOff x="4821842" y="2298918"/>
              <a:chExt cx="237698" cy="72211"/>
            </a:xfrm>
          </p:grpSpPr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E25EEE2C-90D1-4432-B480-969B67477992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9" name="Isosceles Triangle 218">
                <a:extLst>
                  <a:ext uri="{FF2B5EF4-FFF2-40B4-BE49-F238E27FC236}">
                    <a16:creationId xmlns:a16="http://schemas.microsoft.com/office/drawing/2014/main" id="{236725BB-A8AE-47B5-1178-920DE1947D1E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E0AF3539-F213-DFC4-375D-C947ACF95876}"/>
                </a:ext>
              </a:extLst>
            </p:cNvPr>
            <p:cNvGrpSpPr/>
            <p:nvPr/>
          </p:nvGrpSpPr>
          <p:grpSpPr>
            <a:xfrm>
              <a:off x="8172582" y="5179562"/>
              <a:ext cx="237698" cy="72211"/>
              <a:chOff x="4821842" y="2298918"/>
              <a:chExt cx="237698" cy="72211"/>
            </a:xfrm>
          </p:grpSpPr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4E0E39CC-F618-649A-6103-96566E3FD210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7" name="Isosceles Triangle 216">
                <a:extLst>
                  <a:ext uri="{FF2B5EF4-FFF2-40B4-BE49-F238E27FC236}">
                    <a16:creationId xmlns:a16="http://schemas.microsoft.com/office/drawing/2014/main" id="{19A0F153-0EB7-08C9-264B-DD3B1BF53D90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0DCD6C61-4557-9635-A52A-0ACCB9E2F27C}"/>
                </a:ext>
              </a:extLst>
            </p:cNvPr>
            <p:cNvGrpSpPr/>
            <p:nvPr/>
          </p:nvGrpSpPr>
          <p:grpSpPr>
            <a:xfrm rot="12734332">
              <a:off x="7969161" y="5025954"/>
              <a:ext cx="237698" cy="72211"/>
              <a:chOff x="4821842" y="2298918"/>
              <a:chExt cx="237698" cy="72211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FB2D75EA-6345-3D83-A46E-1803FEAF8C07}"/>
                  </a:ext>
                </a:extLst>
              </p:cNvPr>
              <p:cNvSpPr/>
              <p:nvPr/>
            </p:nvSpPr>
            <p:spPr>
              <a:xfrm>
                <a:off x="4869040" y="2298918"/>
                <a:ext cx="190500" cy="72211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Isosceles Triangle 214">
                <a:extLst>
                  <a:ext uri="{FF2B5EF4-FFF2-40B4-BE49-F238E27FC236}">
                    <a16:creationId xmlns:a16="http://schemas.microsoft.com/office/drawing/2014/main" id="{01183617-C1D3-DB4F-6834-C4E73DC7D9F1}"/>
                  </a:ext>
                </a:extLst>
              </p:cNvPr>
              <p:cNvSpPr/>
              <p:nvPr/>
            </p:nvSpPr>
            <p:spPr>
              <a:xfrm rot="5400000" flipH="1">
                <a:off x="4891457" y="2240435"/>
                <a:ext cx="49948" cy="189178"/>
              </a:xfrm>
              <a:prstGeom prst="triangle">
                <a:avLst/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F7AB42-D11D-1715-77E7-78A42705D222}"/>
                </a:ext>
              </a:extLst>
            </p:cNvPr>
            <p:cNvSpPr/>
            <p:nvPr/>
          </p:nvSpPr>
          <p:spPr>
            <a:xfrm>
              <a:off x="6313821" y="549941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  <a:endParaRPr lang="en-GB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54A407-A4F7-6B7B-AF48-DC0F76FBE904}"/>
                </a:ext>
              </a:extLst>
            </p:cNvPr>
            <p:cNvSpPr/>
            <p:nvPr/>
          </p:nvSpPr>
          <p:spPr>
            <a:xfrm>
              <a:off x="7473647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  <a:endParaRPr lang="en-GB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DD176B1-9372-CE0D-CB37-970425905216}"/>
                </a:ext>
              </a:extLst>
            </p:cNvPr>
            <p:cNvSpPr/>
            <p:nvPr/>
          </p:nvSpPr>
          <p:spPr>
            <a:xfrm>
              <a:off x="9017775" y="5490938"/>
              <a:ext cx="372235" cy="372235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501809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0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Wiring</a:t>
            </a:r>
            <a:br>
              <a:rPr lang="en-US" dirty="0"/>
            </a:br>
            <a:r>
              <a:rPr lang="en-US" sz="2800" dirty="0"/>
              <a:t>The </a:t>
            </a:r>
            <a:r>
              <a:rPr lang="en-US" sz="2800" strike="sngStrike" dirty="0"/>
              <a:t>rules</a:t>
            </a:r>
            <a:r>
              <a:rPr lang="en-US" sz="2800" dirty="0"/>
              <a:t> guidelines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08216"/>
            <a:ext cx="4849407" cy="516865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300" dirty="0"/>
              <a:t>Goals</a:t>
            </a:r>
          </a:p>
          <a:p>
            <a:r>
              <a:rPr lang="en-US" sz="2100" dirty="0"/>
              <a:t>Imitate the effect of gravity on full-size tree branches (“square-cube law”)</a:t>
            </a:r>
          </a:p>
          <a:p>
            <a:pPr marL="342900" lvl="1" indent="-342900"/>
            <a:r>
              <a:rPr lang="en-US" sz="2100" dirty="0"/>
              <a:t>Make straight branches look like they’re the product of many shorter segments</a:t>
            </a:r>
          </a:p>
          <a:p>
            <a:pPr marL="342900" lvl="1" indent="-342900"/>
            <a:r>
              <a:rPr lang="en-US" sz="2100" dirty="0"/>
              <a:t>Spread branches to avoid shading each other</a:t>
            </a:r>
          </a:p>
          <a:p>
            <a:pPr marL="342900" lvl="1" indent="-342900"/>
            <a:r>
              <a:rPr lang="en-US" sz="2100" dirty="0"/>
              <a:t>Fill unwanted gaps in the canopy</a:t>
            </a:r>
          </a:p>
          <a:p>
            <a:pPr marL="342900" lvl="1" indent="-342900"/>
            <a:r>
              <a:rPr lang="en-US" sz="2100" dirty="0"/>
              <a:t>For conifers: bring foliage closer to trunk</a:t>
            </a:r>
          </a:p>
          <a:p>
            <a:pPr marL="0" indent="0">
              <a:buNone/>
            </a:pPr>
            <a:r>
              <a:rPr lang="en-US" sz="2300" dirty="0"/>
              <a:t>Approach</a:t>
            </a:r>
          </a:p>
          <a:p>
            <a:pPr>
              <a:buFont typeface="+mj-lt"/>
              <a:buAutoNum type="arabicPeriod"/>
            </a:pPr>
            <a:r>
              <a:rPr lang="en-US" sz="2100" dirty="0"/>
              <a:t>If it’s daft and it works, it’s not daft</a:t>
            </a:r>
          </a:p>
          <a:p>
            <a:pPr lvl="1"/>
            <a:r>
              <a:rPr lang="en-US" sz="1800" dirty="0"/>
              <a:t>We use </a:t>
            </a:r>
            <a:r>
              <a:rPr lang="en-US" sz="1800" dirty="0" err="1"/>
              <a:t>anodised</a:t>
            </a:r>
            <a:r>
              <a:rPr lang="en-US" sz="1800" dirty="0"/>
              <a:t> </a:t>
            </a:r>
            <a:r>
              <a:rPr lang="en-US" sz="1800" dirty="0" err="1"/>
              <a:t>aluminium</a:t>
            </a:r>
            <a:r>
              <a:rPr lang="en-US" sz="1800" dirty="0"/>
              <a:t> wire because it is easy and attractive.  Weights, strings, corks, rubber bands, </a:t>
            </a:r>
            <a:r>
              <a:rPr lang="en-US" sz="1800" dirty="0" err="1"/>
              <a:t>etc</a:t>
            </a:r>
            <a:r>
              <a:rPr lang="en-US" sz="1800" dirty="0"/>
              <a:t> are all completely valid alternatives!</a:t>
            </a:r>
          </a:p>
          <a:p>
            <a:pPr marL="342000" lvl="1" indent="-342000">
              <a:buFont typeface="+mj-lt"/>
              <a:buAutoNum type="arabicPeriod" startAt="2"/>
            </a:pPr>
            <a:r>
              <a:rPr lang="en-US" sz="2100" dirty="0">
                <a:latin typeface="Trebuchet MS" panose="020B0603020202020204" pitchFamily="34" charset="0"/>
              </a:rPr>
              <a:t>Use the thinnest gauge of wire that will still bend the branch</a:t>
            </a:r>
          </a:p>
          <a:p>
            <a:pPr lvl="1"/>
            <a:r>
              <a:rPr lang="en-US" sz="1800" dirty="0"/>
              <a:t>E.g. if either 2mm and 1.5mm would work, but 1mm wouldn’t, use 1.5mm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955A3E-9BB8-CF04-1F0F-0B07E3004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6325" y="1711733"/>
            <a:ext cx="4849406" cy="5168659"/>
          </a:xfrm>
        </p:spPr>
        <p:txBody>
          <a:bodyPr>
            <a:normAutofit fontScale="77500" lnSpcReduction="20000"/>
          </a:bodyPr>
          <a:lstStyle/>
          <a:p>
            <a:pPr>
              <a:buFont typeface="+mj-lt"/>
              <a:buAutoNum type="arabicPeriod" startAt="3"/>
            </a:pPr>
            <a:endParaRPr lang="en-GB" sz="2100" dirty="0"/>
          </a:p>
          <a:p>
            <a:pPr>
              <a:buFont typeface="+mj-lt"/>
              <a:buAutoNum type="arabicPeriod" startAt="3"/>
            </a:pPr>
            <a:r>
              <a:rPr lang="en-GB" sz="2100" dirty="0"/>
              <a:t>Always wire two branches together!</a:t>
            </a:r>
          </a:p>
          <a:p>
            <a:pPr lvl="1"/>
            <a:r>
              <a:rPr lang="en-GB" sz="1800" dirty="0"/>
              <a:t>…Or wire a branch to the trunk, or the trunk to the root ball / pot; just don’t try to wire a single branch on its own</a:t>
            </a:r>
          </a:p>
          <a:p>
            <a:pPr>
              <a:buFont typeface="+mj-lt"/>
              <a:buAutoNum type="arabicPeriod" startAt="4"/>
            </a:pPr>
            <a:r>
              <a:rPr lang="en-GB" sz="2100" dirty="0"/>
              <a:t>Wire at 45</a:t>
            </a:r>
            <a:r>
              <a:rPr lang="en-GB" sz="2100" dirty="0">
                <a:latin typeface="Trebuchet MS" panose="020B0603020202020204" pitchFamily="34" charset="0"/>
              </a:rPr>
              <a:t>º to the branch / trunk</a:t>
            </a:r>
          </a:p>
          <a:p>
            <a:pPr lvl="1"/>
            <a:r>
              <a:rPr lang="en-US" sz="1800" dirty="0">
                <a:latin typeface="Trebuchet MS" panose="020B0603020202020204" pitchFamily="34" charset="0"/>
              </a:rPr>
              <a:t>Rule of thumb: the wire needs to be the length of branch / trunk to be wired × 1.5</a:t>
            </a:r>
            <a:endParaRPr lang="en-GB" sz="1800" dirty="0">
              <a:latin typeface="Trebuchet MS" panose="020B0603020202020204" pitchFamily="34" charset="0"/>
            </a:endParaRP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The wire is a </a:t>
            </a:r>
            <a:r>
              <a:rPr lang="en-GB" sz="2100" i="1" dirty="0">
                <a:latin typeface="Trebuchet MS" panose="020B0603020202020204" pitchFamily="34" charset="0"/>
              </a:rPr>
              <a:t>cage</a:t>
            </a:r>
            <a:r>
              <a:rPr lang="en-GB" sz="2100" dirty="0">
                <a:latin typeface="Trebuchet MS" panose="020B0603020202020204" pitchFamily="34" charset="0"/>
              </a:rPr>
              <a:t> not a </a:t>
            </a:r>
            <a:r>
              <a:rPr lang="en-GB" sz="2100" i="1" dirty="0">
                <a:latin typeface="Trebuchet MS" panose="020B0603020202020204" pitchFamily="34" charset="0"/>
              </a:rPr>
              <a:t>corset</a:t>
            </a:r>
            <a:endParaRPr lang="en-GB" sz="2100" dirty="0">
              <a:latin typeface="Trebuchet MS" panose="020B0603020202020204" pitchFamily="34" charset="0"/>
            </a:endParaRP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I.e. use as little pressure as possible: the less it digs in on Day 1, the longer you have before it leaves wire-marks on the bark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It’s OK to leave an “open coil” spiral at the end to gently control green growth</a:t>
            </a:r>
          </a:p>
          <a:p>
            <a:pPr>
              <a:buFont typeface="+mj-lt"/>
              <a:buAutoNum type="arabicPeriod" startAt="4"/>
            </a:pPr>
            <a:r>
              <a:rPr lang="en-GB" sz="2100" dirty="0">
                <a:latin typeface="Trebuchet MS" panose="020B0603020202020204" pitchFamily="34" charset="0"/>
              </a:rPr>
              <a:t>Leave wire on for one growth season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Usually 6 months – covering either Spring or Lammas growth - except for some mountain pines which only have one growth flush per year</a:t>
            </a:r>
          </a:p>
          <a:p>
            <a:pPr lvl="1"/>
            <a:r>
              <a:rPr lang="en-GB" sz="1800" dirty="0">
                <a:latin typeface="Trebuchet MS" panose="020B0603020202020204" pitchFamily="34" charset="0"/>
              </a:rPr>
              <a:t>If the branch hasn’t “set” after one flush, you just have to reapply the wire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76309A4-1912-1632-4F78-8A6D214BB1B6}"/>
              </a:ext>
            </a:extLst>
          </p:cNvPr>
          <p:cNvGrpSpPr/>
          <p:nvPr/>
        </p:nvGrpSpPr>
        <p:grpSpPr>
          <a:xfrm>
            <a:off x="4612873" y="496398"/>
            <a:ext cx="1871797" cy="1211818"/>
            <a:chOff x="4612873" y="496398"/>
            <a:chExt cx="1871797" cy="1211818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342B210-4D34-B578-7B2B-B164603379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2403" y="628219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0754CEA-04CE-9F56-4371-15F650F3D999}"/>
                </a:ext>
              </a:extLst>
            </p:cNvPr>
            <p:cNvCxnSpPr>
              <a:cxnSpLocks/>
            </p:cNvCxnSpPr>
            <p:nvPr/>
          </p:nvCxnSpPr>
          <p:spPr>
            <a:xfrm>
              <a:off x="5083421" y="496989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6E50B41-C842-3BF1-852E-298540F1569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31051" cy="2606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2792943-FC7A-D6C5-8FF8-713CE9F631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8314" y="496398"/>
              <a:ext cx="28993" cy="21704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7" name="Trapezoid 6">
              <a:extLst>
                <a:ext uri="{FF2B5EF4-FFF2-40B4-BE49-F238E27FC236}">
                  <a16:creationId xmlns:a16="http://schemas.microsoft.com/office/drawing/2014/main" id="{9ADEF51C-C331-F109-79C3-6544D930F150}"/>
                </a:ext>
              </a:extLst>
            </p:cNvPr>
            <p:cNvSpPr/>
            <p:nvPr/>
          </p:nvSpPr>
          <p:spPr>
            <a:xfrm rot="3525542">
              <a:off x="5904045" y="92750"/>
              <a:ext cx="176360" cy="984890"/>
            </a:xfrm>
            <a:prstGeom prst="trapezoid">
              <a:avLst>
                <a:gd name="adj" fmla="val 4056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B2C2D259-3E98-9604-4E8C-00E3B46A5200}"/>
                </a:ext>
              </a:extLst>
            </p:cNvPr>
            <p:cNvSpPr/>
            <p:nvPr/>
          </p:nvSpPr>
          <p:spPr>
            <a:xfrm>
              <a:off x="5366856" y="757909"/>
              <a:ext cx="378066" cy="950307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9C29BD8F-42A6-1CE7-BD18-AA42816CB832}"/>
                </a:ext>
              </a:extLst>
            </p:cNvPr>
            <p:cNvSpPr/>
            <p:nvPr/>
          </p:nvSpPr>
          <p:spPr>
            <a:xfrm rot="18074458" flipH="1">
              <a:off x="5024812" y="93772"/>
              <a:ext cx="176360" cy="1000238"/>
            </a:xfrm>
            <a:prstGeom prst="trapezoid">
              <a:avLst>
                <a:gd name="adj" fmla="val 3832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3B9284C-86E2-97F9-BA0B-FCCC649C06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50259" y="888916"/>
              <a:ext cx="378066" cy="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AEFAFF6-FD94-94AE-D144-7D596F78A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12414" y="628219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EED44E-D601-6DD9-3ABE-6F459BE2ED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780" y="496989"/>
              <a:ext cx="366641" cy="9298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3EFA209-43A1-F130-5307-508D11439AF4}"/>
                </a:ext>
              </a:extLst>
            </p:cNvPr>
            <p:cNvCxnSpPr>
              <a:cxnSpLocks/>
            </p:cNvCxnSpPr>
            <p:nvPr/>
          </p:nvCxnSpPr>
          <p:spPr>
            <a:xfrm>
              <a:off x="5697274" y="627628"/>
              <a:ext cx="271040" cy="8406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B16ACD5-8D2E-4223-0ECB-DEFDB62038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97307" y="496398"/>
              <a:ext cx="399683" cy="935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1D81F3-5360-DBA3-8DE7-CCE10D7A58F9}"/>
              </a:ext>
            </a:extLst>
          </p:cNvPr>
          <p:cNvGrpSpPr/>
          <p:nvPr/>
        </p:nvGrpSpPr>
        <p:grpSpPr>
          <a:xfrm>
            <a:off x="7201204" y="188746"/>
            <a:ext cx="2532956" cy="1640055"/>
            <a:chOff x="7201204" y="188746"/>
            <a:chExt cx="2532956" cy="164005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8A745CF-85A5-3801-7015-1B4D850544F5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991812"/>
              <a:ext cx="378066" cy="23038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D879159-5934-0AE8-D1D6-B9F06BA1585F}"/>
                </a:ext>
              </a:extLst>
            </p:cNvPr>
            <p:cNvCxnSpPr>
              <a:cxnSpLocks/>
            </p:cNvCxnSpPr>
            <p:nvPr/>
          </p:nvCxnSpPr>
          <p:spPr>
            <a:xfrm>
              <a:off x="8242472" y="603670"/>
              <a:ext cx="370073" cy="169416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B8CA4FD-652F-C99B-2C5F-C36236789CFF}"/>
                </a:ext>
              </a:extLst>
            </p:cNvPr>
            <p:cNvCxnSpPr>
              <a:cxnSpLocks/>
            </p:cNvCxnSpPr>
            <p:nvPr/>
          </p:nvCxnSpPr>
          <p:spPr>
            <a:xfrm>
              <a:off x="8089616" y="1212444"/>
              <a:ext cx="134679" cy="23413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C7DDC52-E72E-C88B-7994-2C01BB3E4DD5}"/>
                </a:ext>
              </a:extLst>
            </p:cNvPr>
            <p:cNvCxnSpPr>
              <a:cxnSpLocks/>
            </p:cNvCxnSpPr>
            <p:nvPr/>
          </p:nvCxnSpPr>
          <p:spPr>
            <a:xfrm>
              <a:off x="7681525" y="1107005"/>
              <a:ext cx="253330" cy="27467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6" name="Trapezoid 45">
              <a:extLst>
                <a:ext uri="{FF2B5EF4-FFF2-40B4-BE49-F238E27FC236}">
                  <a16:creationId xmlns:a16="http://schemas.microsoft.com/office/drawing/2014/main" id="{A5143155-7DCD-88DD-18AA-4143FF85F77C}"/>
                </a:ext>
              </a:extLst>
            </p:cNvPr>
            <p:cNvSpPr/>
            <p:nvPr/>
          </p:nvSpPr>
          <p:spPr>
            <a:xfrm rot="16629363" flipH="1">
              <a:off x="7724124" y="650768"/>
              <a:ext cx="212313" cy="1258154"/>
            </a:xfrm>
            <a:prstGeom prst="trapezoid">
              <a:avLst>
                <a:gd name="adj" fmla="val 37911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F76A398-F708-BCE7-B371-96C103B2F1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36760" y="1207408"/>
              <a:ext cx="150951" cy="174270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815D4B7-C261-7B1D-3826-2509EC2D835C}"/>
                </a:ext>
              </a:extLst>
            </p:cNvPr>
            <p:cNvCxnSpPr>
              <a:cxnSpLocks/>
            </p:cNvCxnSpPr>
            <p:nvPr/>
          </p:nvCxnSpPr>
          <p:spPr>
            <a:xfrm>
              <a:off x="8620538" y="415529"/>
              <a:ext cx="150951" cy="19621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18045842-1F3E-DDCE-A4F2-AA7401F16AAC}"/>
                </a:ext>
              </a:extLst>
            </p:cNvPr>
            <p:cNvCxnSpPr>
              <a:cxnSpLocks/>
            </p:cNvCxnSpPr>
            <p:nvPr/>
          </p:nvCxnSpPr>
          <p:spPr>
            <a:xfrm>
              <a:off x="8934877" y="412423"/>
              <a:ext cx="170205" cy="13823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3" name="Trapezoid 42">
              <a:extLst>
                <a:ext uri="{FF2B5EF4-FFF2-40B4-BE49-F238E27FC236}">
                  <a16:creationId xmlns:a16="http://schemas.microsoft.com/office/drawing/2014/main" id="{281D1DF8-D0D6-7201-B732-490F61025B6D}"/>
                </a:ext>
              </a:extLst>
            </p:cNvPr>
            <p:cNvSpPr/>
            <p:nvPr/>
          </p:nvSpPr>
          <p:spPr>
            <a:xfrm rot="4970637">
              <a:off x="8998926" y="-152298"/>
              <a:ext cx="212313" cy="1258154"/>
            </a:xfrm>
            <a:prstGeom prst="trapezoid">
              <a:avLst>
                <a:gd name="adj" fmla="val 39244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rapezoid 43">
              <a:extLst>
                <a:ext uri="{FF2B5EF4-FFF2-40B4-BE49-F238E27FC236}">
                  <a16:creationId xmlns:a16="http://schemas.microsoft.com/office/drawing/2014/main" id="{F72F51FF-DBB5-AA68-DD08-00D948B06612}"/>
                </a:ext>
              </a:extLst>
            </p:cNvPr>
            <p:cNvSpPr/>
            <p:nvPr/>
          </p:nvSpPr>
          <p:spPr>
            <a:xfrm>
              <a:off x="8242472" y="293083"/>
              <a:ext cx="378066" cy="1535718"/>
            </a:xfrm>
            <a:prstGeom prst="trapezoid">
              <a:avLst>
                <a:gd name="adj" fmla="val 10773"/>
              </a:avLst>
            </a:prstGeom>
            <a:solidFill>
              <a:srgbClr val="C488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AE44319-7CBA-CB43-CF87-73BBCF0FAD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8662" y="773086"/>
              <a:ext cx="378066" cy="215209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6E2CD89-1A7E-5E96-8D0E-0CAC424680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66451" y="415529"/>
              <a:ext cx="346094" cy="174442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6E4A37E-19E4-3D58-5155-3F3521F759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6486" y="1227252"/>
              <a:ext cx="394052" cy="22148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80287D2-E539-F44A-C307-382B86F9C9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3395" y="414457"/>
              <a:ext cx="150951" cy="199211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C565361-CFBB-7620-96DE-F017731913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5082" y="188746"/>
              <a:ext cx="310920" cy="3613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FE7BB40-2B64-AB18-A32E-7EA848B4BDBA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8001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Stress Management</a:t>
            </a:r>
            <a:br>
              <a:rPr lang="en-US" dirty="0"/>
            </a:br>
            <a:r>
              <a:rPr lang="en-US" dirty="0"/>
              <a:t>…</a:t>
            </a:r>
            <a:r>
              <a:rPr lang="en-US" sz="2800" dirty="0"/>
              <a:t>No, I meant for the </a:t>
            </a:r>
            <a:r>
              <a:rPr lang="en-US" sz="2800" i="1" dirty="0"/>
              <a:t>tree</a:t>
            </a:r>
            <a:endParaRPr lang="en-GB" sz="2800" i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A06A3C-33D2-64DA-8D63-EC5D5FD1E4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4150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Sources of water stress</a:t>
            </a:r>
          </a:p>
          <a:p>
            <a:r>
              <a:rPr lang="en-GB" sz="1600" dirty="0"/>
              <a:t>Root pruning</a:t>
            </a:r>
          </a:p>
          <a:p>
            <a:r>
              <a:rPr lang="en-GB" sz="1600" dirty="0"/>
              <a:t>Under-watering</a:t>
            </a:r>
          </a:p>
          <a:p>
            <a:r>
              <a:rPr lang="en-GB" sz="1600" dirty="0"/>
              <a:t>Over-watering / poor drainage </a:t>
            </a:r>
            <a:r>
              <a:rPr lang="en-US" sz="1600" dirty="0"/>
              <a:t>→ root rot</a:t>
            </a:r>
          </a:p>
          <a:p>
            <a:r>
              <a:rPr lang="en-GB" sz="1600" dirty="0"/>
              <a:t>Over-fertilising</a:t>
            </a:r>
          </a:p>
          <a:p>
            <a:r>
              <a:rPr lang="en-GB" sz="1600" dirty="0"/>
              <a:t>Summer</a:t>
            </a:r>
          </a:p>
          <a:p>
            <a:pPr marL="0" indent="0">
              <a:buNone/>
            </a:pPr>
            <a:r>
              <a:rPr lang="en-GB" dirty="0"/>
              <a:t>Sources of wood stress</a:t>
            </a:r>
          </a:p>
          <a:p>
            <a:r>
              <a:rPr lang="en-GB" sz="1600" dirty="0"/>
              <a:t>Heavy removal of green growth</a:t>
            </a:r>
          </a:p>
          <a:p>
            <a:r>
              <a:rPr lang="en-GB" sz="1600" dirty="0"/>
              <a:t>Branch removal past the “collar”</a:t>
            </a:r>
          </a:p>
          <a:p>
            <a:r>
              <a:rPr lang="en-GB" sz="1600" dirty="0"/>
              <a:t>Some kinds of deadwood work</a:t>
            </a:r>
          </a:p>
          <a:p>
            <a:r>
              <a:rPr lang="en-GB" sz="1600" dirty="0"/>
              <a:t>Insect attacks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FE443-BDB1-E7F4-3BDB-B80CF0AD8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4415024"/>
          </a:xfrm>
        </p:spPr>
        <p:txBody>
          <a:bodyPr>
            <a:normAutofit/>
          </a:bodyPr>
          <a:lstStyle/>
          <a:p>
            <a:r>
              <a:rPr lang="en-US" dirty="0"/>
              <a:t>It’s best to space stresses out over as much time as possible – e.g. 1 major stress per tree per growth season</a:t>
            </a:r>
          </a:p>
          <a:p>
            <a:r>
              <a:rPr lang="en-US" dirty="0"/>
              <a:t>Water stress and wood stress are not (necessarily) additive: if you prune the foliage </a:t>
            </a:r>
            <a:r>
              <a:rPr lang="en-US" i="1" dirty="0"/>
              <a:t>and</a:t>
            </a:r>
            <a:r>
              <a:rPr lang="en-US" dirty="0"/>
              <a:t> the root ball, there is less demand for water so less work for the remaining roots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7F4DDC-F38F-2166-30F1-B4A143336857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5765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6430-7E73-3DEF-F86C-EFA8B8AF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63A70968-970A-4156-BAC7-E68E0A5D86B7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9ACA21-A268-B8E4-5644-30E0A2E51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Death of a bonsai</a:t>
            </a:r>
            <a:br>
              <a:rPr lang="en-US" dirty="0"/>
            </a:br>
            <a:r>
              <a:rPr lang="en-US" sz="2800" dirty="0"/>
              <a:t>What to do when the worst happens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42F8D-3355-8D6E-3933-2B54342F8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r>
              <a:rPr lang="en-US" dirty="0"/>
              <a:t>Bonsai death = learning tool.  Important thing is to kill your trees in interesting and unusual ways.  (I.e. not by forgetting to water!)</a:t>
            </a:r>
          </a:p>
          <a:p>
            <a:r>
              <a:rPr lang="en-US" dirty="0"/>
              <a:t>Testing for death: scratch (but beware of different cambium </a:t>
            </a:r>
            <a:r>
              <a:rPr lang="en-US" dirty="0" err="1"/>
              <a:t>colours</a:t>
            </a:r>
            <a:r>
              <a:rPr lang="en-US" dirty="0"/>
              <a:t>), snap… or just leave it for a season</a:t>
            </a:r>
          </a:p>
          <a:p>
            <a:r>
              <a:rPr lang="en-GB" dirty="0"/>
              <a:t>Conifer: trees die when they’re killed!</a:t>
            </a:r>
          </a:p>
          <a:p>
            <a:r>
              <a:rPr lang="en-GB" dirty="0"/>
              <a:t>Broadleaf: mostly dead is slightly alive</a:t>
            </a:r>
          </a:p>
          <a:p>
            <a:r>
              <a:rPr lang="en-GB" dirty="0"/>
              <a:t>Recycle wire and soil (except be careful of infection / pests)</a:t>
            </a:r>
          </a:p>
          <a:p>
            <a:r>
              <a:rPr lang="en-GB" dirty="0"/>
              <a:t>What doesn’t kill you only makes you stranger</a:t>
            </a:r>
          </a:p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8910B-92A0-9EDE-B4DC-F763DFF29C4F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Flesh out stub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73098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4A40-EA75-B08A-2EFF-213447A74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8D6FAD8B-CA5F-5E24-04F6-C2EE35B1C74D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0730C-8592-2EFC-913F-4CD74CE52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Displaying your trees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36AF1-92BD-864B-0B45-7C2C2E431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r>
              <a:rPr lang="en-US" dirty="0"/>
              <a:t>Indoor display: tables and tokonoma</a:t>
            </a:r>
          </a:p>
          <a:p>
            <a:r>
              <a:rPr lang="en-US" dirty="0"/>
              <a:t>Bonsai exhibitions</a:t>
            </a:r>
            <a:r>
              <a:rPr lang="en-GB" dirty="0"/>
              <a:t>: prepping for pickiness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EC2CCC-3BE7-903C-95D7-97625A742D3B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Flesh out stub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94596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75651-88EF-0E9D-2F3F-362CB677F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D1127A2E-45FB-7857-3EE5-EAB84FBB8A1C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F0461B-D40F-5E24-1AC1-EEF198099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There Is A Season</a:t>
            </a:r>
            <a:br>
              <a:rPr lang="en-US" dirty="0"/>
            </a:br>
            <a:r>
              <a:rPr lang="en-US" sz="2800" dirty="0"/>
              <a:t>When to do what</a:t>
            </a:r>
            <a:endParaRPr lang="en-GB" sz="28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E289A73-8053-309C-4624-12D1B6605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1261" t="14635" r="14396" b="19431"/>
          <a:stretch/>
        </p:blipFill>
        <p:spPr>
          <a:xfrm>
            <a:off x="905075" y="1894397"/>
            <a:ext cx="10381849" cy="2068331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CF31C8C-6FB8-F94B-74C4-2586C472AD80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 chart with own analysis (it’s all public data)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15CF6-7B03-B612-9805-EB7960540432}"/>
              </a:ext>
            </a:extLst>
          </p:cNvPr>
          <p:cNvSpPr/>
          <p:nvPr/>
        </p:nvSpPr>
        <p:spPr>
          <a:xfrm>
            <a:off x="2809461" y="4074834"/>
            <a:ext cx="2549180" cy="2586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Spring*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180053-F0E0-52B3-2A1F-28368C573999}"/>
              </a:ext>
            </a:extLst>
          </p:cNvPr>
          <p:cNvSpPr/>
          <p:nvPr/>
        </p:nvSpPr>
        <p:spPr>
          <a:xfrm>
            <a:off x="535864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Summer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4E477-4F71-E792-7F90-A3573FDB9224}"/>
              </a:ext>
            </a:extLst>
          </p:cNvPr>
          <p:cNvSpPr/>
          <p:nvPr/>
        </p:nvSpPr>
        <p:spPr>
          <a:xfrm>
            <a:off x="7907821" y="4074833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Autumn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89606-A587-FBC5-8C5C-4C10FDCE0F43}"/>
              </a:ext>
            </a:extLst>
          </p:cNvPr>
          <p:cNvSpPr/>
          <p:nvPr/>
        </p:nvSpPr>
        <p:spPr>
          <a:xfrm>
            <a:off x="260281" y="4075060"/>
            <a:ext cx="2549180" cy="251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Winter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634A1-91BC-C872-8C17-EEB3596727F6}"/>
              </a:ext>
            </a:extLst>
          </p:cNvPr>
          <p:cNvSpPr txBox="1"/>
          <p:nvPr/>
        </p:nvSpPr>
        <p:spPr>
          <a:xfrm>
            <a:off x="260281" y="4346665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Dormancy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Light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strike="sngStrike" dirty="0"/>
              <a:t>Frost protection</a:t>
            </a:r>
            <a:r>
              <a:rPr lang="en-US" sz="1400" dirty="0"/>
              <a:t>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Cleaning &amp; tidying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Stock up on growth media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Study trees!</a:t>
            </a:r>
            <a:endParaRPr lang="en-GB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5FEE83-C4DC-D85F-0080-2A9AF4B1E80E}"/>
              </a:ext>
            </a:extLst>
          </p:cNvPr>
          <p:cNvSpPr txBox="1"/>
          <p:nvPr/>
        </p:nvSpPr>
        <p:spPr>
          <a:xfrm>
            <a:off x="2809461" y="4350466"/>
            <a:ext cx="25491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Spring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Moderate fertilising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Re-potting (every 1-3 years)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Structural pruning if needed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F78DAC-8E3A-2A38-3EC4-6F42CAC71122}"/>
              </a:ext>
            </a:extLst>
          </p:cNvPr>
          <p:cNvSpPr txBox="1"/>
          <p:nvPr/>
        </p:nvSpPr>
        <p:spPr>
          <a:xfrm>
            <a:off x="5358641" y="4343628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Sun &amp; heat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Heavy watering***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Very light </a:t>
            </a:r>
            <a:r>
              <a:rPr lang="en-US" sz="1400" dirty="0" err="1"/>
              <a:t>fertilising</a:t>
            </a:r>
            <a:endParaRPr lang="en-US" sz="1400" dirty="0"/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Enough shade (species dependent)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5BB38-DF76-D3D1-D90B-4E36F467890F}"/>
              </a:ext>
            </a:extLst>
          </p:cNvPr>
          <p:cNvSpPr txBox="1"/>
          <p:nvPr/>
        </p:nvSpPr>
        <p:spPr>
          <a:xfrm>
            <a:off x="7907821" y="4333445"/>
            <a:ext cx="254918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Lammas growth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Moderate watering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Mild fertilizing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Pest control &amp; weeding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US" sz="1400" dirty="0"/>
              <a:t>Pruning for ramification</a:t>
            </a:r>
          </a:p>
          <a:p>
            <a:pPr marL="108000" indent="-108000">
              <a:buFont typeface="Arial" panose="020B0604020202020204" pitchFamily="34" charset="0"/>
              <a:buChar char="•"/>
            </a:pPr>
            <a:r>
              <a:rPr lang="en-GB" sz="1400" dirty="0"/>
              <a:t>Wiring / wire removal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B2844639-F9CB-44F1-EDD2-F82DD77949EF}"/>
              </a:ext>
            </a:extLst>
          </p:cNvPr>
          <p:cNvSpPr txBox="1">
            <a:spLocks/>
          </p:cNvSpPr>
          <p:nvPr/>
        </p:nvSpPr>
        <p:spPr>
          <a:xfrm>
            <a:off x="677334" y="6133893"/>
            <a:ext cx="10360460" cy="704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 Spring for bonsai practitioners (especially in London) typically starts earlier than the calendar date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/>
              <a:t>** Not usually needed in present-day London due to the heat island effect and global warming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400" dirty="0"/>
              <a:t>*** If going on holiday, put bonsai in bath with enough water to just barely touching the soil through the pot drainage holes </a:t>
            </a:r>
          </a:p>
        </p:txBody>
      </p:sp>
    </p:spTree>
    <p:extLst>
      <p:ext uri="{BB962C8B-B14F-4D97-AF65-F5344CB8AC3E}">
        <p14:creationId xmlns:p14="http://schemas.microsoft.com/office/powerpoint/2010/main" val="33307416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Becoming a Bonsai Practitioner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3A2C3A-10E2-A148-1408-D57CDA9B5B2B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4784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Practice, Practice, Practice</a:t>
            </a:r>
            <a:br>
              <a:rPr lang="en-US" dirty="0"/>
            </a:br>
            <a:r>
              <a:rPr lang="en-US" sz="2800" dirty="0"/>
              <a:t>Practice, practice, practice, practice… you get the picture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4"/>
            <a:ext cx="10107207" cy="4854389"/>
          </a:xfrm>
        </p:spPr>
        <p:txBody>
          <a:bodyPr>
            <a:normAutofit lnSpcReduction="10000"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Keep your tree alive and bonsai-</a:t>
            </a:r>
            <a:r>
              <a:rPr lang="en-US" dirty="0" err="1"/>
              <a:t>ish</a:t>
            </a:r>
            <a:endParaRPr lang="en-US" dirty="0"/>
          </a:p>
          <a:p>
            <a:pPr lvl="1"/>
            <a:r>
              <a:rPr lang="en-US" dirty="0"/>
              <a:t>Remember: WATERING!!!</a:t>
            </a:r>
          </a:p>
          <a:p>
            <a:pPr lvl="1"/>
            <a:r>
              <a:rPr lang="en-US" dirty="0"/>
              <a:t>Remove wire in ~6 months</a:t>
            </a:r>
          </a:p>
          <a:p>
            <a:pPr>
              <a:buFont typeface="+mj-lt"/>
              <a:buAutoNum type="arabicPeriod"/>
            </a:pPr>
            <a:r>
              <a:rPr lang="en-US" dirty="0"/>
              <a:t>Find rogue seedlings to “adopt”, and transfer them to pots</a:t>
            </a:r>
          </a:p>
          <a:p>
            <a:pPr lvl="1"/>
            <a:r>
              <a:rPr lang="en-US" i="1" dirty="0"/>
              <a:t>…Without</a:t>
            </a:r>
            <a:r>
              <a:rPr lang="en-US" dirty="0"/>
              <a:t> killing them, I mean</a:t>
            </a:r>
          </a:p>
          <a:p>
            <a:pPr lvl="1"/>
            <a:r>
              <a:rPr lang="en-US" dirty="0"/>
              <a:t>Once you’re sure they won’t die, prune them and gradually move them to smaller / shallower pots</a:t>
            </a:r>
          </a:p>
          <a:p>
            <a:pPr>
              <a:buFont typeface="+mj-lt"/>
              <a:buAutoNum type="arabicPeriod"/>
            </a:pPr>
            <a:r>
              <a:rPr lang="en-US" dirty="0"/>
              <a:t>Start to build a bonsai toolkit</a:t>
            </a:r>
          </a:p>
          <a:p>
            <a:pPr lvl="1"/>
            <a:r>
              <a:rPr lang="en-US" dirty="0"/>
              <a:t>Start with cheap / improvised tools: chopsticks, pliers, wire-cutters, tamper, nail scissors</a:t>
            </a:r>
          </a:p>
          <a:p>
            <a:pPr lvl="1"/>
            <a:r>
              <a:rPr lang="en-US" dirty="0"/>
              <a:t>Consider buying: root shears, straight-edged branch cutter</a:t>
            </a:r>
          </a:p>
          <a:p>
            <a:pPr>
              <a:buFont typeface="+mj-lt"/>
              <a:buAutoNum type="arabicPeriod"/>
            </a:pPr>
            <a:r>
              <a:rPr lang="en-US" dirty="0"/>
              <a:t>Build a collection of pots for all bonsai styles and phases of development</a:t>
            </a:r>
          </a:p>
          <a:p>
            <a:pPr lvl="1"/>
            <a:r>
              <a:rPr lang="en-US" dirty="0"/>
              <a:t>Make your own – e.g. with crockery and a diamond tile hole saw</a:t>
            </a:r>
          </a:p>
          <a:p>
            <a:pPr>
              <a:buFont typeface="+mj-lt"/>
              <a:buAutoNum type="arabicPeriod"/>
            </a:pPr>
            <a:r>
              <a:rPr lang="en-GB" dirty="0"/>
              <a:t>Contemplate trees in nature</a:t>
            </a:r>
          </a:p>
          <a:p>
            <a:pPr lvl="1"/>
            <a:r>
              <a:rPr lang="en-GB" dirty="0"/>
              <a:t>What principles do they reflect, and how did they get that way?</a:t>
            </a:r>
          </a:p>
        </p:txBody>
      </p:sp>
    </p:spTree>
    <p:extLst>
      <p:ext uri="{BB962C8B-B14F-4D97-AF65-F5344CB8AC3E}">
        <p14:creationId xmlns:p14="http://schemas.microsoft.com/office/powerpoint/2010/main" val="42022789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Learn From Others </a:t>
            </a:r>
            <a:br>
              <a:rPr lang="en-US" dirty="0"/>
            </a:br>
            <a:r>
              <a:rPr lang="en-US" sz="2800" dirty="0"/>
              <a:t>Apart from yours truly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Buy a book</a:t>
            </a:r>
          </a:p>
          <a:p>
            <a:pPr lvl="1"/>
            <a:r>
              <a:rPr lang="en-US" dirty="0"/>
              <a:t>I like the DK Bonsai book: https://www.dk.com/uk/book/9781409344087-bonsai/</a:t>
            </a:r>
          </a:p>
          <a:p>
            <a:pPr>
              <a:buFont typeface="+mj-lt"/>
              <a:buAutoNum type="arabicPeriod"/>
            </a:pPr>
            <a:r>
              <a:rPr lang="en-US" dirty="0"/>
              <a:t>UK Bonsai Association: https://www.ukbonsaiassoc.org</a:t>
            </a:r>
          </a:p>
          <a:p>
            <a:pPr>
              <a:buFont typeface="+mj-lt"/>
              <a:buAutoNum type="arabicPeriod"/>
            </a:pPr>
            <a:r>
              <a:rPr lang="en-US" dirty="0"/>
              <a:t>Local clubs</a:t>
            </a:r>
          </a:p>
          <a:p>
            <a:pPr lvl="1"/>
            <a:r>
              <a:rPr lang="en-US" dirty="0"/>
              <a:t>Currently none in central London, but several out in the suburbs</a:t>
            </a:r>
          </a:p>
          <a:p>
            <a:pPr lvl="1"/>
            <a:r>
              <a:rPr lang="en-US" dirty="0"/>
              <a:t>The UKBA site has a very complete list (albeit not the easiest to search)</a:t>
            </a:r>
          </a:p>
          <a:p>
            <a:pPr>
              <a:buFont typeface="+mj-lt"/>
              <a:buAutoNum type="arabicPeriod"/>
            </a:pPr>
            <a:r>
              <a:rPr lang="en-US" dirty="0"/>
              <a:t>Bonsai shows and car boot sales</a:t>
            </a:r>
          </a:p>
          <a:p>
            <a:pPr lvl="1"/>
            <a:r>
              <a:rPr lang="en-US" dirty="0"/>
              <a:t>Again: the UKBA has a calendar</a:t>
            </a:r>
          </a:p>
          <a:p>
            <a:pPr lvl="1"/>
            <a:r>
              <a:rPr lang="en-US" dirty="0"/>
              <a:t>Again: none in central London, but some in Twickenham, Bracknell, Kent…</a:t>
            </a:r>
          </a:p>
          <a:p>
            <a:pPr>
              <a:buFont typeface="+mj-lt"/>
              <a:buAutoNum type="arabicPeriod"/>
            </a:pPr>
            <a:r>
              <a:rPr lang="en-US" dirty="0" err="1"/>
              <a:t>Youtube</a:t>
            </a:r>
            <a:endParaRPr lang="en-US" dirty="0"/>
          </a:p>
          <a:p>
            <a:pPr lvl="1"/>
            <a:r>
              <a:rPr lang="en-US" dirty="0"/>
              <a:t>Channels: </a:t>
            </a:r>
            <a:r>
              <a:rPr lang="en-US" dirty="0" err="1"/>
              <a:t>Mă-Kè</a:t>
            </a:r>
            <a:r>
              <a:rPr lang="en-US" dirty="0"/>
              <a:t> Bonsai, Herons Bonsai, </a:t>
            </a:r>
            <a:r>
              <a:rPr lang="en-US" dirty="0" err="1"/>
              <a:t>Bonsaify</a:t>
            </a:r>
            <a:r>
              <a:rPr lang="en-US" dirty="0"/>
              <a:t>, Notion Bonsai, Bonsai Empire, …</a:t>
            </a:r>
          </a:p>
          <a:p>
            <a:pPr>
              <a:buFont typeface="+mj-lt"/>
              <a:buAutoNum type="arabicPeriod"/>
            </a:pPr>
            <a:r>
              <a:rPr lang="en-US" dirty="0"/>
              <a:t>Drop me an email! alex@nemeta.co.uk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4349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 For Attending!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3185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Appendices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201545-C12C-62BA-6D39-B5D9034B46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Miscellaneous Technical Notes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24FF64-3D6A-DF01-900E-4C60966CF392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Add: single-slide “how to spruce”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4876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Often To Water</a:t>
            </a:r>
            <a:br>
              <a:rPr lang="en-US" dirty="0"/>
            </a:br>
            <a:r>
              <a:rPr lang="en-US" sz="2800" dirty="0"/>
              <a:t>Some key factors</a:t>
            </a:r>
            <a:endParaRPr lang="en-GB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4EA2C-3624-B6E0-1DEB-32887D9DA8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184035" cy="47527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Pot</a:t>
            </a:r>
          </a:p>
          <a:p>
            <a:r>
              <a:rPr lang="en-US" sz="1600" dirty="0"/>
              <a:t>Depth: deep → less frequent</a:t>
            </a:r>
          </a:p>
          <a:p>
            <a:r>
              <a:rPr lang="en-US" sz="1600" dirty="0"/>
              <a:t>Shape: bulbous → less, fluting → more</a:t>
            </a:r>
          </a:p>
          <a:p>
            <a:r>
              <a:rPr lang="en-US" sz="1600" dirty="0"/>
              <a:t>Inner surface: glazed → more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Soil</a:t>
            </a:r>
          </a:p>
          <a:p>
            <a:r>
              <a:rPr lang="en-US" sz="1600" dirty="0"/>
              <a:t>Drainage: well-draining → more</a:t>
            </a:r>
          </a:p>
          <a:p>
            <a:r>
              <a:rPr lang="en-US" sz="1600" dirty="0"/>
              <a:t>Degradation: older → harder to water</a:t>
            </a:r>
          </a:p>
          <a:p>
            <a:r>
              <a:rPr lang="en-US" sz="1600" dirty="0"/>
              <a:t>Dressing: dead sphagnum and/or live moss covering → harder to water but less frequent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Tree</a:t>
            </a:r>
          </a:p>
          <a:p>
            <a:r>
              <a:rPr lang="en-US" sz="1600" dirty="0"/>
              <a:t>Maturity: older → less (in theory)</a:t>
            </a:r>
          </a:p>
          <a:p>
            <a:r>
              <a:rPr lang="en-US" sz="1600" dirty="0" err="1"/>
              <a:t>Fertilisation</a:t>
            </a:r>
            <a:r>
              <a:rPr lang="en-US" sz="1600" dirty="0"/>
              <a:t>: heavy → more</a:t>
            </a:r>
          </a:p>
          <a:p>
            <a:r>
              <a:rPr lang="en-US" sz="1600" dirty="0"/>
              <a:t>Re-potting: recent → more</a:t>
            </a:r>
            <a:endParaRPr lang="en-GB" sz="16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03B85F-8084-17B5-B8E1-5DD9D4E7B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1930400"/>
            <a:ext cx="4184034" cy="475278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Environment</a:t>
            </a:r>
          </a:p>
          <a:p>
            <a:r>
              <a:rPr lang="en-US" sz="1600" dirty="0"/>
              <a:t>Wind: windier → more</a:t>
            </a:r>
          </a:p>
          <a:p>
            <a:r>
              <a:rPr lang="en-US" sz="1600" dirty="0"/>
              <a:t>Sun: sunny → more, shady → less</a:t>
            </a:r>
          </a:p>
          <a:p>
            <a:r>
              <a:rPr lang="en-US" sz="1600" dirty="0"/>
              <a:t>Heat: hotter → more, colder → less</a:t>
            </a:r>
          </a:p>
          <a:p>
            <a:r>
              <a:rPr lang="en-US" sz="1600" dirty="0"/>
              <a:t>Season: Winter = least, Summer = most</a:t>
            </a:r>
          </a:p>
          <a:p>
            <a:r>
              <a:rPr lang="en-US" sz="1600" dirty="0"/>
              <a:t>Warning: these factors are “non-linear”!  A small increase in e.g. sun can mean a big increase in watering.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dirty="0"/>
              <a:t>…Mostly it’s not worth the effort to figure out the “right” watering frequency.  Just keep checking the pot every day!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47FB60-E52D-5036-77C6-71894403562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80865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Woody Plants: A Family Tree</a:t>
            </a:r>
            <a:br>
              <a:rPr lang="en-US" dirty="0"/>
            </a:br>
            <a:r>
              <a:rPr lang="en-US" sz="2800" dirty="0"/>
              <a:t>Evolution From A Bonsai Pruner’s Perspective</a:t>
            </a:r>
            <a:endParaRPr lang="en-GB" sz="28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9CFC36-B3E1-FA68-A6A7-39DA7E0786A2}"/>
              </a:ext>
            </a:extLst>
          </p:cNvPr>
          <p:cNvSpPr txBox="1">
            <a:spLocks/>
          </p:cNvSpPr>
          <p:nvPr/>
        </p:nvSpPr>
        <p:spPr>
          <a:xfrm>
            <a:off x="4751791" y="1761564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Vascular </a:t>
            </a:r>
            <a:br>
              <a:rPr lang="en-US" dirty="0"/>
            </a:br>
            <a:r>
              <a:rPr lang="en-US" dirty="0"/>
              <a:t>plants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8BE33B3-EDE4-11C0-6A9C-CFCB368C95BB}"/>
              </a:ext>
            </a:extLst>
          </p:cNvPr>
          <p:cNvSpPr txBox="1">
            <a:spLocks/>
          </p:cNvSpPr>
          <p:nvPr/>
        </p:nvSpPr>
        <p:spPr>
          <a:xfrm>
            <a:off x="2201332" y="229048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Gymnosperms</a:t>
            </a:r>
            <a:br>
              <a:rPr lang="en-US" sz="1600" dirty="0"/>
            </a:br>
            <a:r>
              <a:rPr lang="en-US" sz="1600" dirty="0"/>
              <a:t>(“Naked Seed”)</a:t>
            </a:r>
            <a:endParaRPr lang="en-GB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EDCAB2-FB4E-4B5D-8C55-C3E5B495EDA9}"/>
              </a:ext>
            </a:extLst>
          </p:cNvPr>
          <p:cNvSpPr txBox="1">
            <a:spLocks/>
          </p:cNvSpPr>
          <p:nvPr/>
        </p:nvSpPr>
        <p:spPr>
          <a:xfrm>
            <a:off x="7425528" y="229048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/>
              <a:t>Angiosperms</a:t>
            </a:r>
            <a:br>
              <a:rPr lang="en-US" sz="1600" dirty="0"/>
            </a:br>
            <a:r>
              <a:rPr lang="en-US" sz="1600" dirty="0"/>
              <a:t>(“Covered Seed”)</a:t>
            </a:r>
            <a:endParaRPr lang="en-GB" sz="16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9D86FF-8B39-5FB5-E7F4-7319279534A6}"/>
              </a:ext>
            </a:extLst>
          </p:cNvPr>
          <p:cNvSpPr txBox="1">
            <a:spLocks/>
          </p:cNvSpPr>
          <p:nvPr/>
        </p:nvSpPr>
        <p:spPr>
          <a:xfrm>
            <a:off x="289099" y="265579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Gingko</a:t>
            </a:r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A94FF14-6263-6A1F-5B7C-A3CF0ED65A7D}"/>
              </a:ext>
            </a:extLst>
          </p:cNvPr>
          <p:cNvSpPr txBox="1">
            <a:spLocks/>
          </p:cNvSpPr>
          <p:nvPr/>
        </p:nvSpPr>
        <p:spPr>
          <a:xfrm>
            <a:off x="1018608" y="3316941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Pinaceae</a:t>
            </a:r>
            <a:br>
              <a:rPr lang="en-US" sz="1400" dirty="0"/>
            </a:br>
            <a:r>
              <a:rPr lang="en-US" sz="1400" dirty="0"/>
              <a:t>(“Pine-like conifers”)</a:t>
            </a:r>
            <a:endParaRPr lang="en-GB" sz="14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3E1E2A7-A523-0F98-9873-E195B81A3493}"/>
              </a:ext>
            </a:extLst>
          </p:cNvPr>
          <p:cNvSpPr txBox="1">
            <a:spLocks/>
          </p:cNvSpPr>
          <p:nvPr/>
        </p:nvSpPr>
        <p:spPr>
          <a:xfrm>
            <a:off x="3278594" y="3316940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Cupressaceae</a:t>
            </a:r>
            <a:br>
              <a:rPr lang="en-US" sz="1400" dirty="0"/>
            </a:br>
            <a:r>
              <a:rPr lang="en-US" sz="1400" dirty="0"/>
              <a:t>(“Cypress-like conifers”)</a:t>
            </a:r>
            <a:endParaRPr lang="en-GB" sz="1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3567C57-15B7-C14A-A7B4-C36937498B3C}"/>
              </a:ext>
            </a:extLst>
          </p:cNvPr>
          <p:cNvSpPr txBox="1">
            <a:spLocks/>
          </p:cNvSpPr>
          <p:nvPr/>
        </p:nvSpPr>
        <p:spPr>
          <a:xfrm>
            <a:off x="39857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Pine</a:t>
            </a:r>
            <a:endParaRPr lang="en-GB" sz="1400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9B1FE1F-8001-4017-CF88-8B85090F4DF4}"/>
              </a:ext>
            </a:extLst>
          </p:cNvPr>
          <p:cNvSpPr txBox="1">
            <a:spLocks/>
          </p:cNvSpPr>
          <p:nvPr/>
        </p:nvSpPr>
        <p:spPr>
          <a:xfrm>
            <a:off x="398574" y="4964207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Spruce</a:t>
            </a:r>
            <a:endParaRPr lang="en-GB" sz="140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9B15C15-F0C2-1670-96C3-1489B2CB8627}"/>
              </a:ext>
            </a:extLst>
          </p:cNvPr>
          <p:cNvSpPr txBox="1">
            <a:spLocks/>
          </p:cNvSpPr>
          <p:nvPr/>
        </p:nvSpPr>
        <p:spPr>
          <a:xfrm>
            <a:off x="398573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Cedar</a:t>
            </a:r>
            <a:endParaRPr lang="en-GB" sz="14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110546D-A3A2-8103-BB05-674571BF62EE}"/>
              </a:ext>
            </a:extLst>
          </p:cNvPr>
          <p:cNvSpPr txBox="1">
            <a:spLocks/>
          </p:cNvSpPr>
          <p:nvPr/>
        </p:nvSpPr>
        <p:spPr>
          <a:xfrm>
            <a:off x="413918" y="604894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Larch</a:t>
            </a:r>
            <a:endParaRPr lang="en-GB" sz="14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E75923-DBA1-A84B-83C3-332670AD3489}"/>
              </a:ext>
            </a:extLst>
          </p:cNvPr>
          <p:cNvSpPr txBox="1">
            <a:spLocks/>
          </p:cNvSpPr>
          <p:nvPr/>
        </p:nvSpPr>
        <p:spPr>
          <a:xfrm>
            <a:off x="2597949" y="4421839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Yew</a:t>
            </a:r>
            <a:endParaRPr lang="en-GB" sz="140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90F190A-1C10-1694-E7CB-D3AAF75A2B0F}"/>
              </a:ext>
            </a:extLst>
          </p:cNvPr>
          <p:cNvSpPr txBox="1">
            <a:spLocks/>
          </p:cNvSpPr>
          <p:nvPr/>
        </p:nvSpPr>
        <p:spPr>
          <a:xfrm>
            <a:off x="2597948" y="496196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Redwood</a:t>
            </a:r>
            <a:endParaRPr lang="en-GB" sz="1400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BF95CEF-485A-F165-3C72-6622710A9CCC}"/>
              </a:ext>
            </a:extLst>
          </p:cNvPr>
          <p:cNvSpPr txBox="1">
            <a:spLocks/>
          </p:cNvSpPr>
          <p:nvPr/>
        </p:nvSpPr>
        <p:spPr>
          <a:xfrm>
            <a:off x="2596880" y="550208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Sugi</a:t>
            </a:r>
            <a:endParaRPr lang="en-GB" sz="1400" dirty="0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FF5605E-4DE0-8379-68D4-28940F1158AB}"/>
              </a:ext>
            </a:extLst>
          </p:cNvPr>
          <p:cNvSpPr txBox="1">
            <a:spLocks/>
          </p:cNvSpPr>
          <p:nvPr/>
        </p:nvSpPr>
        <p:spPr>
          <a:xfrm>
            <a:off x="4698704" y="4959721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Juniper</a:t>
            </a:r>
            <a:endParaRPr lang="en-GB" sz="1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53CBD0A-9AFB-1CE7-A427-5116CA93F7B3}"/>
              </a:ext>
            </a:extLst>
          </p:cNvPr>
          <p:cNvSpPr txBox="1">
            <a:spLocks/>
          </p:cNvSpPr>
          <p:nvPr/>
        </p:nvSpPr>
        <p:spPr>
          <a:xfrm>
            <a:off x="4698704" y="4421840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“True” Cypress</a:t>
            </a:r>
            <a:endParaRPr lang="en-GB" sz="14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937CCB3-0BA5-683C-E59F-855B6E266062}"/>
              </a:ext>
            </a:extLst>
          </p:cNvPr>
          <p:cNvCxnSpPr>
            <a:stCxn id="6" idx="2"/>
            <a:endCxn id="9" idx="3"/>
          </p:cNvCxnSpPr>
          <p:nvPr/>
        </p:nvCxnSpPr>
        <p:spPr>
          <a:xfrm rot="5400000">
            <a:off x="4960399" y="1778806"/>
            <a:ext cx="194982" cy="149624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8ADDD6E-CA31-A91B-867F-E0049BDE6D23}"/>
              </a:ext>
            </a:extLst>
          </p:cNvPr>
          <p:cNvCxnSpPr>
            <a:cxnSpLocks/>
            <a:stCxn id="6" idx="2"/>
            <a:endCxn id="10" idx="1"/>
          </p:cNvCxnSpPr>
          <p:nvPr/>
        </p:nvCxnSpPr>
        <p:spPr>
          <a:xfrm rot="16200000" flipH="1">
            <a:off x="6518279" y="1717166"/>
            <a:ext cx="194981" cy="16195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BB834478-9F29-B67B-5A14-FAD11A11B939}"/>
              </a:ext>
            </a:extLst>
          </p:cNvPr>
          <p:cNvCxnSpPr>
            <a:cxnSpLocks/>
            <a:stCxn id="12" idx="2"/>
            <a:endCxn id="15" idx="3"/>
          </p:cNvCxnSpPr>
          <p:nvPr/>
        </p:nvCxnSpPr>
        <p:spPr>
          <a:xfrm rot="5400000">
            <a:off x="1643602" y="4198803"/>
            <a:ext cx="643216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817AD68-1062-4769-A620-77625F83E4B2}"/>
              </a:ext>
            </a:extLst>
          </p:cNvPr>
          <p:cNvCxnSpPr>
            <a:cxnSpLocks/>
            <a:stCxn id="12" idx="2"/>
            <a:endCxn id="16" idx="3"/>
          </p:cNvCxnSpPr>
          <p:nvPr/>
        </p:nvCxnSpPr>
        <p:spPr>
          <a:xfrm rot="5400000">
            <a:off x="1372419" y="4469986"/>
            <a:ext cx="1185583" cy="21523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031E82B-9FB7-69DA-870E-469141B20FB5}"/>
              </a:ext>
            </a:extLst>
          </p:cNvPr>
          <p:cNvCxnSpPr>
            <a:cxnSpLocks/>
            <a:stCxn id="12" idx="2"/>
            <a:endCxn id="17" idx="3"/>
          </p:cNvCxnSpPr>
          <p:nvPr/>
        </p:nvCxnSpPr>
        <p:spPr>
          <a:xfrm rot="5400000">
            <a:off x="1101235" y="4741170"/>
            <a:ext cx="1727950" cy="215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5CF5CF8F-53FB-3C8E-7518-4E4DB943D906}"/>
              </a:ext>
            </a:extLst>
          </p:cNvPr>
          <p:cNvCxnSpPr>
            <a:cxnSpLocks/>
            <a:stCxn id="12" idx="2"/>
            <a:endCxn id="18" idx="3"/>
          </p:cNvCxnSpPr>
          <p:nvPr/>
        </p:nvCxnSpPr>
        <p:spPr>
          <a:xfrm rot="5400000">
            <a:off x="837724" y="5020025"/>
            <a:ext cx="2270317" cy="1998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E4A64A32-3332-8A38-BDE8-0C9ED575C55D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rot="5400000">
            <a:off x="3611622" y="3700648"/>
            <a:ext cx="437028" cy="100535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6591E45-518C-E4C4-FFB0-82C104F2FE4D}"/>
              </a:ext>
            </a:extLst>
          </p:cNvPr>
          <p:cNvCxnSpPr>
            <a:cxnSpLocks/>
            <a:stCxn id="13" idx="2"/>
            <a:endCxn id="20" idx="3"/>
          </p:cNvCxnSpPr>
          <p:nvPr/>
        </p:nvCxnSpPr>
        <p:spPr>
          <a:xfrm rot="5400000">
            <a:off x="3603220" y="4438558"/>
            <a:ext cx="1183341" cy="27584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40F6F18-F303-BE50-AAD3-E2EE08F402EF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3332624" y="4708086"/>
            <a:ext cx="1723465" cy="27691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CCE68D1-3EF1-41DC-6713-578F7D7568F7}"/>
              </a:ext>
            </a:extLst>
          </p:cNvPr>
          <p:cNvCxnSpPr>
            <a:cxnSpLocks/>
            <a:stCxn id="13" idx="2"/>
            <a:endCxn id="22" idx="1"/>
          </p:cNvCxnSpPr>
          <p:nvPr/>
        </p:nvCxnSpPr>
        <p:spPr>
          <a:xfrm rot="16200000" flipH="1">
            <a:off x="3925209" y="4392414"/>
            <a:ext cx="1181098" cy="36589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71B95999-49C1-758E-26B8-A30DEBD83176}"/>
              </a:ext>
            </a:extLst>
          </p:cNvPr>
          <p:cNvCxnSpPr>
            <a:cxnSpLocks/>
            <a:stCxn id="9" idx="1"/>
            <a:endCxn id="11" idx="3"/>
          </p:cNvCxnSpPr>
          <p:nvPr/>
        </p:nvCxnSpPr>
        <p:spPr>
          <a:xfrm rot="10800000" flipV="1">
            <a:off x="1748118" y="2624417"/>
            <a:ext cx="453214" cy="23756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A6719EAA-0F05-3F97-0DCD-4F7C69B2C885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rot="5400000">
            <a:off x="2484895" y="2546284"/>
            <a:ext cx="358589" cy="118272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D8613F1-3DB9-7C87-342C-35118F92854F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3614888" y="2599015"/>
            <a:ext cx="358588" cy="107726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6ECF587-E6B9-3CA6-780C-C49484881D1A}"/>
              </a:ext>
            </a:extLst>
          </p:cNvPr>
          <p:cNvSpPr txBox="1">
            <a:spLocks/>
          </p:cNvSpPr>
          <p:nvPr/>
        </p:nvSpPr>
        <p:spPr>
          <a:xfrm>
            <a:off x="4695154" y="5499845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“False” Cedar</a:t>
            </a:r>
            <a:endParaRPr lang="en-GB" sz="1400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A2EB879-2706-46D1-783A-7D6C34F3B036}"/>
              </a:ext>
            </a:extLst>
          </p:cNvPr>
          <p:cNvCxnSpPr>
            <a:cxnSpLocks/>
            <a:stCxn id="23" idx="1"/>
            <a:endCxn id="67" idx="1"/>
          </p:cNvCxnSpPr>
          <p:nvPr/>
        </p:nvCxnSpPr>
        <p:spPr>
          <a:xfrm rot="10800000" flipV="1">
            <a:off x="4695154" y="4628027"/>
            <a:ext cx="3550" cy="1078005"/>
          </a:xfrm>
          <a:prstGeom prst="bentConnector3">
            <a:avLst>
              <a:gd name="adj1" fmla="val 5024282"/>
            </a:avLst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0DDEE4E0-3C2C-A6A5-661E-B991470BD3CF}"/>
              </a:ext>
            </a:extLst>
          </p:cNvPr>
          <p:cNvSpPr txBox="1">
            <a:spLocks/>
          </p:cNvSpPr>
          <p:nvPr/>
        </p:nvSpPr>
        <p:spPr>
          <a:xfrm>
            <a:off x="6700288" y="3312758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Asterids</a:t>
            </a:r>
            <a:endParaRPr lang="en-GB" sz="1400" dirty="0"/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69DC1840-B99A-508B-4856-050EF258AE8F}"/>
              </a:ext>
            </a:extLst>
          </p:cNvPr>
          <p:cNvSpPr txBox="1">
            <a:spLocks/>
          </p:cNvSpPr>
          <p:nvPr/>
        </p:nvSpPr>
        <p:spPr>
          <a:xfrm>
            <a:off x="9170232" y="3312757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/>
              <a:t>Rosids</a:t>
            </a:r>
            <a:endParaRPr lang="en-GB" sz="1400" dirty="0"/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DB52DA43-42B5-0DEA-9A88-D87324F06DB2}"/>
              </a:ext>
            </a:extLst>
          </p:cNvPr>
          <p:cNvSpPr txBox="1">
            <a:spLocks/>
          </p:cNvSpPr>
          <p:nvPr/>
        </p:nvSpPr>
        <p:spPr>
          <a:xfrm>
            <a:off x="9949120" y="2233333"/>
            <a:ext cx="2108437" cy="667871"/>
          </a:xfrm>
          <a:prstGeom prst="roundRect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Magnoliids</a:t>
            </a:r>
            <a:endParaRPr lang="en-GB" sz="1400" dirty="0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6C9CCD02-DD98-6FC1-B6FB-E2FFD9F65CE2}"/>
              </a:ext>
            </a:extLst>
          </p:cNvPr>
          <p:cNvCxnSpPr>
            <a:cxnSpLocks/>
            <a:stCxn id="10" idx="2"/>
            <a:endCxn id="71" idx="0"/>
          </p:cNvCxnSpPr>
          <p:nvPr/>
        </p:nvCxnSpPr>
        <p:spPr>
          <a:xfrm rot="5400000">
            <a:off x="7939924" y="2772934"/>
            <a:ext cx="354407" cy="72524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F81D29A-72A2-0163-7E3A-3082FCD76234}"/>
              </a:ext>
            </a:extLst>
          </p:cNvPr>
          <p:cNvCxnSpPr>
            <a:cxnSpLocks/>
            <a:stCxn id="10" idx="3"/>
            <a:endCxn id="73" idx="1"/>
          </p:cNvCxnSpPr>
          <p:nvPr/>
        </p:nvCxnSpPr>
        <p:spPr>
          <a:xfrm flipV="1">
            <a:off x="9533965" y="2567269"/>
            <a:ext cx="415155" cy="57147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C95A3B90-D277-3059-62CA-583B9A43E51F}"/>
              </a:ext>
            </a:extLst>
          </p:cNvPr>
          <p:cNvCxnSpPr>
            <a:cxnSpLocks/>
            <a:stCxn id="10" idx="2"/>
            <a:endCxn id="72" idx="0"/>
          </p:cNvCxnSpPr>
          <p:nvPr/>
        </p:nvCxnSpPr>
        <p:spPr>
          <a:xfrm rot="16200000" flipH="1">
            <a:off x="9174896" y="2263202"/>
            <a:ext cx="354406" cy="174470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C78D1030-0F90-A018-57E7-F6D0FB225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8051" y="114561"/>
            <a:ext cx="2404850" cy="1848974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Prune as:</a:t>
            </a:r>
          </a:p>
          <a:p>
            <a:pPr marL="457200" lvl="1" indent="0">
              <a:buNone/>
            </a:pPr>
            <a:r>
              <a:rPr lang="en-US" sz="1400" dirty="0"/>
              <a:t>Broadleaf</a:t>
            </a:r>
          </a:p>
          <a:p>
            <a:pPr marL="457200" lvl="1" indent="0">
              <a:buNone/>
            </a:pPr>
            <a:r>
              <a:rPr lang="en-US" sz="1400" dirty="0" err="1"/>
              <a:t>Needley</a:t>
            </a:r>
            <a:r>
              <a:rPr lang="en-US" sz="1400" dirty="0"/>
              <a:t> conifer</a:t>
            </a:r>
          </a:p>
          <a:p>
            <a:pPr marL="457200" lvl="1" indent="0">
              <a:buNone/>
            </a:pPr>
            <a:r>
              <a:rPr lang="en-US" sz="1400" dirty="0"/>
              <a:t>Spiky / scaly conifer</a:t>
            </a:r>
          </a:p>
          <a:p>
            <a:pPr marL="457200" lvl="1" indent="0">
              <a:buNone/>
            </a:pPr>
            <a:r>
              <a:rPr lang="en-US" sz="1400" dirty="0"/>
              <a:t>Special case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EB920890-DF44-8284-1735-0ADC183281E5}"/>
              </a:ext>
            </a:extLst>
          </p:cNvPr>
          <p:cNvSpPr/>
          <p:nvPr/>
        </p:nvSpPr>
        <p:spPr>
          <a:xfrm>
            <a:off x="9667002" y="4889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48FC26D-195E-FFD7-1CF7-49617DFEDFB5}"/>
              </a:ext>
            </a:extLst>
          </p:cNvPr>
          <p:cNvSpPr/>
          <p:nvPr/>
        </p:nvSpPr>
        <p:spPr>
          <a:xfrm>
            <a:off x="9667002" y="81829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544266B-F319-6379-E355-5AB62FC6E111}"/>
              </a:ext>
            </a:extLst>
          </p:cNvPr>
          <p:cNvSpPr/>
          <p:nvPr/>
        </p:nvSpPr>
        <p:spPr>
          <a:xfrm>
            <a:off x="9667002" y="116904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0162DFE-5965-5454-C23C-F5AECA769F19}"/>
              </a:ext>
            </a:extLst>
          </p:cNvPr>
          <p:cNvSpPr/>
          <p:nvPr/>
        </p:nvSpPr>
        <p:spPr>
          <a:xfrm>
            <a:off x="206132" y="2525801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1C134F6-A111-A771-68E4-B84036461F98}"/>
              </a:ext>
            </a:extLst>
          </p:cNvPr>
          <p:cNvSpPr/>
          <p:nvPr/>
        </p:nvSpPr>
        <p:spPr>
          <a:xfrm>
            <a:off x="11137213" y="318336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B5A115F-47AE-85F1-7F1E-12930F457BA8}"/>
              </a:ext>
            </a:extLst>
          </p:cNvPr>
          <p:cNvSpPr/>
          <p:nvPr/>
        </p:nvSpPr>
        <p:spPr>
          <a:xfrm>
            <a:off x="9856657" y="210691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199D31C-AFD9-D3F1-E2DE-71DE739CFB25}"/>
              </a:ext>
            </a:extLst>
          </p:cNvPr>
          <p:cNvSpPr/>
          <p:nvPr/>
        </p:nvSpPr>
        <p:spPr>
          <a:xfrm>
            <a:off x="8631297" y="3201296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38D153F3-FF10-6BC0-0F91-7C42FF778717}"/>
              </a:ext>
            </a:extLst>
          </p:cNvPr>
          <p:cNvSpPr/>
          <p:nvPr/>
        </p:nvSpPr>
        <p:spPr>
          <a:xfrm>
            <a:off x="263040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D6BA309-EDE3-1BAA-551F-84763D0240D7}"/>
              </a:ext>
            </a:extLst>
          </p:cNvPr>
          <p:cNvSpPr/>
          <p:nvPr/>
        </p:nvSpPr>
        <p:spPr>
          <a:xfrm>
            <a:off x="249841" y="487403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AE25757A-9B98-1D6A-D33C-2F85460ED8A9}"/>
              </a:ext>
            </a:extLst>
          </p:cNvPr>
          <p:cNvSpPr/>
          <p:nvPr/>
        </p:nvSpPr>
        <p:spPr>
          <a:xfrm>
            <a:off x="278918" y="5409672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476C9E2-319F-E22F-802D-B46D4B2F078D}"/>
              </a:ext>
            </a:extLst>
          </p:cNvPr>
          <p:cNvSpPr/>
          <p:nvPr/>
        </p:nvSpPr>
        <p:spPr>
          <a:xfrm>
            <a:off x="289099" y="595150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</a:t>
            </a:r>
            <a:endParaRPr lang="en-GB" sz="1400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DC598AB-94F2-ACF8-9ED6-4EC360DDF1E2}"/>
              </a:ext>
            </a:extLst>
          </p:cNvPr>
          <p:cNvSpPr/>
          <p:nvPr/>
        </p:nvSpPr>
        <p:spPr>
          <a:xfrm>
            <a:off x="2426562" y="4294624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28EFB2A-E36E-568B-CB49-7A0DCFD95EA2}"/>
              </a:ext>
            </a:extLst>
          </p:cNvPr>
          <p:cNvSpPr/>
          <p:nvPr/>
        </p:nvSpPr>
        <p:spPr>
          <a:xfrm>
            <a:off x="6049685" y="430267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D092CDD-483E-F126-3EEF-82024A5B1E9D}"/>
              </a:ext>
            </a:extLst>
          </p:cNvPr>
          <p:cNvSpPr/>
          <p:nvPr/>
        </p:nvSpPr>
        <p:spPr>
          <a:xfrm>
            <a:off x="6011555" y="4910649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FC73CBA-D8A1-EB4F-5ECA-93CBEF1AE0F6}"/>
              </a:ext>
            </a:extLst>
          </p:cNvPr>
          <p:cNvSpPr/>
          <p:nvPr/>
        </p:nvSpPr>
        <p:spPr>
          <a:xfrm>
            <a:off x="5996851" y="5414920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0A8DFB-BA59-87EF-DD39-F51FFD50B1AC}"/>
              </a:ext>
            </a:extLst>
          </p:cNvPr>
          <p:cNvSpPr/>
          <p:nvPr/>
        </p:nvSpPr>
        <p:spPr>
          <a:xfrm>
            <a:off x="2426562" y="4874585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</a:t>
            </a:r>
            <a:endParaRPr lang="en-GB" sz="1400" dirty="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2FA829A-19FE-F6CE-F72D-E38A8F882134}"/>
              </a:ext>
            </a:extLst>
          </p:cNvPr>
          <p:cNvSpPr/>
          <p:nvPr/>
        </p:nvSpPr>
        <p:spPr>
          <a:xfrm>
            <a:off x="2413584" y="5417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</a:t>
            </a:r>
            <a:endParaRPr lang="en-GB" sz="14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DF1D7217-6D7C-5ECA-AA92-4E546086CBB3}"/>
              </a:ext>
            </a:extLst>
          </p:cNvPr>
          <p:cNvSpPr/>
          <p:nvPr/>
        </p:nvSpPr>
        <p:spPr>
          <a:xfrm>
            <a:off x="9669542" y="1523163"/>
            <a:ext cx="270000" cy="270000"/>
          </a:xfrm>
          <a:prstGeom prst="ellipse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!</a:t>
            </a:r>
            <a:endParaRPr lang="en-GB" sz="1400" dirty="0"/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6A0B49CB-379A-12BD-6B96-377039B7E00B}"/>
              </a:ext>
            </a:extLst>
          </p:cNvPr>
          <p:cNvSpPr txBox="1">
            <a:spLocks/>
          </p:cNvSpPr>
          <p:nvPr/>
        </p:nvSpPr>
        <p:spPr>
          <a:xfrm>
            <a:off x="6595573" y="442295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Ash</a:t>
            </a:r>
            <a:endParaRPr lang="en-GB" sz="1400" dirty="0"/>
          </a:p>
        </p:txBody>
      </p:sp>
      <p:sp>
        <p:nvSpPr>
          <p:cNvPr id="120" name="Content Placeholder 2">
            <a:extLst>
              <a:ext uri="{FF2B5EF4-FFF2-40B4-BE49-F238E27FC236}">
                <a16:creationId xmlns:a16="http://schemas.microsoft.com/office/drawing/2014/main" id="{AF78E1B9-2672-184F-8164-5A0F9EAC8239}"/>
              </a:ext>
            </a:extLst>
          </p:cNvPr>
          <p:cNvSpPr txBox="1">
            <a:spLocks/>
          </p:cNvSpPr>
          <p:nvPr/>
        </p:nvSpPr>
        <p:spPr>
          <a:xfrm>
            <a:off x="6589309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Elder</a:t>
            </a:r>
            <a:endParaRPr lang="en-GB" sz="1400" dirty="0"/>
          </a:p>
        </p:txBody>
      </p:sp>
      <p:sp>
        <p:nvSpPr>
          <p:cNvPr id="121" name="Content Placeholder 2">
            <a:extLst>
              <a:ext uri="{FF2B5EF4-FFF2-40B4-BE49-F238E27FC236}">
                <a16:creationId xmlns:a16="http://schemas.microsoft.com/office/drawing/2014/main" id="{94E394B5-AB30-6E20-166F-85C6B0F54359}"/>
              </a:ext>
            </a:extLst>
          </p:cNvPr>
          <p:cNvSpPr txBox="1">
            <a:spLocks/>
          </p:cNvSpPr>
          <p:nvPr/>
        </p:nvSpPr>
        <p:spPr>
          <a:xfrm>
            <a:off x="10571715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Oak</a:t>
            </a:r>
            <a:endParaRPr lang="en-GB" sz="1400" dirty="0"/>
          </a:p>
        </p:txBody>
      </p:sp>
      <p:sp>
        <p:nvSpPr>
          <p:cNvPr id="133" name="Content Placeholder 2">
            <a:extLst>
              <a:ext uri="{FF2B5EF4-FFF2-40B4-BE49-F238E27FC236}">
                <a16:creationId xmlns:a16="http://schemas.microsoft.com/office/drawing/2014/main" id="{384469BA-51F4-5E1B-BD53-03C70682860B}"/>
              </a:ext>
            </a:extLst>
          </p:cNvPr>
          <p:cNvSpPr txBox="1">
            <a:spLocks/>
          </p:cNvSpPr>
          <p:nvPr/>
        </p:nvSpPr>
        <p:spPr>
          <a:xfrm>
            <a:off x="10571715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Maple</a:t>
            </a:r>
            <a:endParaRPr lang="en-GB" sz="1400" dirty="0"/>
          </a:p>
        </p:txBody>
      </p:sp>
      <p:sp>
        <p:nvSpPr>
          <p:cNvPr id="134" name="Content Placeholder 2">
            <a:extLst>
              <a:ext uri="{FF2B5EF4-FFF2-40B4-BE49-F238E27FC236}">
                <a16:creationId xmlns:a16="http://schemas.microsoft.com/office/drawing/2014/main" id="{ACF38C7D-DB28-7885-C758-38E27A2C3D13}"/>
              </a:ext>
            </a:extLst>
          </p:cNvPr>
          <p:cNvSpPr txBox="1">
            <a:spLocks/>
          </p:cNvSpPr>
          <p:nvPr/>
        </p:nvSpPr>
        <p:spPr>
          <a:xfrm>
            <a:off x="10571715" y="5506574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Lime</a:t>
            </a:r>
            <a:endParaRPr lang="en-GB" sz="1400" dirty="0"/>
          </a:p>
        </p:txBody>
      </p:sp>
      <p:sp>
        <p:nvSpPr>
          <p:cNvPr id="135" name="Content Placeholder 2">
            <a:extLst>
              <a:ext uri="{FF2B5EF4-FFF2-40B4-BE49-F238E27FC236}">
                <a16:creationId xmlns:a16="http://schemas.microsoft.com/office/drawing/2014/main" id="{7551F0EE-826B-4523-A160-C74E81163FD1}"/>
              </a:ext>
            </a:extLst>
          </p:cNvPr>
          <p:cNvSpPr txBox="1">
            <a:spLocks/>
          </p:cNvSpPr>
          <p:nvPr/>
        </p:nvSpPr>
        <p:spPr>
          <a:xfrm>
            <a:off x="10571715" y="6038686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Beech</a:t>
            </a:r>
            <a:endParaRPr lang="en-GB" sz="1400" dirty="0"/>
          </a:p>
        </p:txBody>
      </p:sp>
      <p:sp>
        <p:nvSpPr>
          <p:cNvPr id="136" name="Content Placeholder 2">
            <a:extLst>
              <a:ext uri="{FF2B5EF4-FFF2-40B4-BE49-F238E27FC236}">
                <a16:creationId xmlns:a16="http://schemas.microsoft.com/office/drawing/2014/main" id="{43EDBDEE-2E5E-1976-E182-FD2B8FB575B5}"/>
              </a:ext>
            </a:extLst>
          </p:cNvPr>
          <p:cNvSpPr txBox="1">
            <a:spLocks/>
          </p:cNvSpPr>
          <p:nvPr/>
        </p:nvSpPr>
        <p:spPr>
          <a:xfrm>
            <a:off x="8477983" y="442183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(Crab) Apple</a:t>
            </a:r>
            <a:endParaRPr lang="en-GB" sz="1400" dirty="0"/>
          </a:p>
        </p:txBody>
      </p:sp>
      <p:sp>
        <p:nvSpPr>
          <p:cNvPr id="137" name="Content Placeholder 2">
            <a:extLst>
              <a:ext uri="{FF2B5EF4-FFF2-40B4-BE49-F238E27FC236}">
                <a16:creationId xmlns:a16="http://schemas.microsoft.com/office/drawing/2014/main" id="{41013A49-4B48-44FB-D1C4-0C940AF23743}"/>
              </a:ext>
            </a:extLst>
          </p:cNvPr>
          <p:cNvSpPr txBox="1">
            <a:spLocks/>
          </p:cNvSpPr>
          <p:nvPr/>
        </p:nvSpPr>
        <p:spPr>
          <a:xfrm>
            <a:off x="8474314" y="4974462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Elm</a:t>
            </a:r>
            <a:endParaRPr lang="en-GB" sz="1400" dirty="0"/>
          </a:p>
        </p:txBody>
      </p:sp>
      <p:sp>
        <p:nvSpPr>
          <p:cNvPr id="138" name="Content Placeholder 2">
            <a:extLst>
              <a:ext uri="{FF2B5EF4-FFF2-40B4-BE49-F238E27FC236}">
                <a16:creationId xmlns:a16="http://schemas.microsoft.com/office/drawing/2014/main" id="{A338DEB1-8EA1-3FA0-86E3-7CD6C08E7FC5}"/>
              </a:ext>
            </a:extLst>
          </p:cNvPr>
          <p:cNvSpPr txBox="1">
            <a:spLocks/>
          </p:cNvSpPr>
          <p:nvPr/>
        </p:nvSpPr>
        <p:spPr>
          <a:xfrm>
            <a:off x="6589309" y="5506573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Rhododendron</a:t>
            </a:r>
            <a:endParaRPr lang="en-GB" sz="1400" dirty="0"/>
          </a:p>
        </p:txBody>
      </p:sp>
      <p:sp>
        <p:nvSpPr>
          <p:cNvPr id="139" name="Content Placeholder 2">
            <a:extLst>
              <a:ext uri="{FF2B5EF4-FFF2-40B4-BE49-F238E27FC236}">
                <a16:creationId xmlns:a16="http://schemas.microsoft.com/office/drawing/2014/main" id="{859D490C-A125-8273-608D-EC6BD9FFFC44}"/>
              </a:ext>
            </a:extLst>
          </p:cNvPr>
          <p:cNvSpPr txBox="1">
            <a:spLocks/>
          </p:cNvSpPr>
          <p:nvPr/>
        </p:nvSpPr>
        <p:spPr>
          <a:xfrm>
            <a:off x="6599103" y="6183878"/>
            <a:ext cx="1459019" cy="412375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Azalea</a:t>
            </a:r>
            <a:endParaRPr lang="en-GB" sz="1400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1C383C3-11B8-83C5-BD3D-5A3AEDADF9AA}"/>
              </a:ext>
            </a:extLst>
          </p:cNvPr>
          <p:cNvCxnSpPr>
            <a:cxnSpLocks/>
            <a:stCxn id="71" idx="1"/>
            <a:endCxn id="119" idx="1"/>
          </p:cNvCxnSpPr>
          <p:nvPr/>
        </p:nvCxnSpPr>
        <p:spPr>
          <a:xfrm rot="10800000" flipV="1">
            <a:off x="6595574" y="3646694"/>
            <a:ext cx="104715" cy="982452"/>
          </a:xfrm>
          <a:prstGeom prst="bentConnector3">
            <a:avLst>
              <a:gd name="adj1" fmla="val 31830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DB9F6D99-32CC-378F-901D-F18B198ADA7A}"/>
              </a:ext>
            </a:extLst>
          </p:cNvPr>
          <p:cNvCxnSpPr>
            <a:cxnSpLocks/>
            <a:stCxn id="71" idx="1"/>
            <a:endCxn id="138" idx="1"/>
          </p:cNvCxnSpPr>
          <p:nvPr/>
        </p:nvCxnSpPr>
        <p:spPr>
          <a:xfrm rot="10800000" flipV="1">
            <a:off x="6589310" y="3646693"/>
            <a:ext cx="110979" cy="2066067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8598CEA-087A-7D91-9CB3-91C61FA317CD}"/>
              </a:ext>
            </a:extLst>
          </p:cNvPr>
          <p:cNvCxnSpPr>
            <a:cxnSpLocks/>
            <a:stCxn id="71" idx="1"/>
            <a:endCxn id="120" idx="1"/>
          </p:cNvCxnSpPr>
          <p:nvPr/>
        </p:nvCxnSpPr>
        <p:spPr>
          <a:xfrm rot="10800000" flipV="1">
            <a:off x="6589310" y="3646694"/>
            <a:ext cx="110979" cy="1533956"/>
          </a:xfrm>
          <a:prstGeom prst="bentConnector3">
            <a:avLst>
              <a:gd name="adj1" fmla="val 30598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D3749FB-26D5-08CB-FE43-63FA2BD59924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 rot="16200000" flipH="1">
            <a:off x="7191251" y="6046516"/>
            <a:ext cx="264930" cy="979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41489CB7-C7DC-9FA4-7F59-F8CC5761246B}"/>
              </a:ext>
            </a:extLst>
          </p:cNvPr>
          <p:cNvCxnSpPr>
            <a:cxnSpLocks/>
            <a:stCxn id="72" idx="2"/>
            <a:endCxn id="121" idx="1"/>
          </p:cNvCxnSpPr>
          <p:nvPr/>
        </p:nvCxnSpPr>
        <p:spPr>
          <a:xfrm rot="16200000" flipH="1">
            <a:off x="10074384" y="4130695"/>
            <a:ext cx="647398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ADA4AFFB-66D9-9F81-D0B1-B436FC8C407D}"/>
              </a:ext>
            </a:extLst>
          </p:cNvPr>
          <p:cNvCxnSpPr>
            <a:cxnSpLocks/>
            <a:stCxn id="72" idx="2"/>
            <a:endCxn id="133" idx="1"/>
          </p:cNvCxnSpPr>
          <p:nvPr/>
        </p:nvCxnSpPr>
        <p:spPr>
          <a:xfrm rot="16200000" flipH="1">
            <a:off x="9798072" y="4407007"/>
            <a:ext cx="1200022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CC262CF1-9F99-A9B2-CF18-213C10923F91}"/>
              </a:ext>
            </a:extLst>
          </p:cNvPr>
          <p:cNvCxnSpPr>
            <a:cxnSpLocks/>
            <a:stCxn id="72" idx="2"/>
            <a:endCxn id="134" idx="1"/>
          </p:cNvCxnSpPr>
          <p:nvPr/>
        </p:nvCxnSpPr>
        <p:spPr>
          <a:xfrm rot="16200000" flipH="1">
            <a:off x="9532016" y="4673063"/>
            <a:ext cx="173213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B0AE898-79B8-AF34-F775-F5B7626F1C6D}"/>
              </a:ext>
            </a:extLst>
          </p:cNvPr>
          <p:cNvCxnSpPr>
            <a:cxnSpLocks/>
            <a:endCxn id="135" idx="1"/>
          </p:cNvCxnSpPr>
          <p:nvPr/>
        </p:nvCxnSpPr>
        <p:spPr>
          <a:xfrm rot="16200000" flipH="1">
            <a:off x="9276121" y="4949280"/>
            <a:ext cx="2243924" cy="34726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63D2233A-F09A-9401-4DF3-851B6CD4C4C8}"/>
              </a:ext>
            </a:extLst>
          </p:cNvPr>
          <p:cNvCxnSpPr>
            <a:cxnSpLocks/>
            <a:stCxn id="72" idx="2"/>
            <a:endCxn id="136" idx="3"/>
          </p:cNvCxnSpPr>
          <p:nvPr/>
        </p:nvCxnSpPr>
        <p:spPr>
          <a:xfrm rot="5400000">
            <a:off x="9757028" y="4160603"/>
            <a:ext cx="647398" cy="2874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BAE418C1-2E0E-B084-512F-A2E87091A233}"/>
              </a:ext>
            </a:extLst>
          </p:cNvPr>
          <p:cNvCxnSpPr>
            <a:cxnSpLocks/>
            <a:stCxn id="72" idx="2"/>
            <a:endCxn id="137" idx="3"/>
          </p:cNvCxnSpPr>
          <p:nvPr/>
        </p:nvCxnSpPr>
        <p:spPr>
          <a:xfrm rot="5400000">
            <a:off x="9478881" y="4435080"/>
            <a:ext cx="1200022" cy="29111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Content Placeholder 2">
            <a:extLst>
              <a:ext uri="{FF2B5EF4-FFF2-40B4-BE49-F238E27FC236}">
                <a16:creationId xmlns:a16="http://schemas.microsoft.com/office/drawing/2014/main" id="{236F9850-A888-332F-3FC5-710BA24B16BE}"/>
              </a:ext>
            </a:extLst>
          </p:cNvPr>
          <p:cNvSpPr txBox="1">
            <a:spLocks/>
          </p:cNvSpPr>
          <p:nvPr/>
        </p:nvSpPr>
        <p:spPr>
          <a:xfrm>
            <a:off x="8477982" y="5506572"/>
            <a:ext cx="1459019" cy="1089681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Prunus:</a:t>
            </a:r>
            <a:br>
              <a:rPr lang="en-US" sz="1400" dirty="0"/>
            </a:br>
            <a:r>
              <a:rPr lang="en-US" sz="1400" dirty="0"/>
              <a:t>Cherry, Plum, Apricot, </a:t>
            </a:r>
            <a:r>
              <a:rPr lang="en-US" sz="1400" dirty="0" err="1"/>
              <a:t>etc</a:t>
            </a:r>
            <a:endParaRPr lang="en-GB" sz="14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A67C616A-0F41-2269-7A8D-72C4CA85891D}"/>
              </a:ext>
            </a:extLst>
          </p:cNvPr>
          <p:cNvCxnSpPr>
            <a:cxnSpLocks/>
            <a:stCxn id="72" idx="2"/>
            <a:endCxn id="174" idx="3"/>
          </p:cNvCxnSpPr>
          <p:nvPr/>
        </p:nvCxnSpPr>
        <p:spPr>
          <a:xfrm rot="5400000">
            <a:off x="9045334" y="4872295"/>
            <a:ext cx="2070785" cy="28745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495920F-608D-4031-F227-398F99555849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4888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642709" y="-310166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Wiring a Bonsai Pot</a:t>
            </a:r>
            <a:br>
              <a:rPr lang="en-US" dirty="0"/>
            </a:br>
            <a:r>
              <a:rPr lang="en-US" sz="2800" dirty="0"/>
              <a:t>What could go wrong?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6E04AE0-7F6E-3209-9ABD-73480984CE23}"/>
              </a:ext>
            </a:extLst>
          </p:cNvPr>
          <p:cNvSpPr/>
          <p:nvPr/>
        </p:nvSpPr>
        <p:spPr>
          <a:xfrm>
            <a:off x="969787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59FC436-FBC8-C200-05EC-77B212162561}"/>
              </a:ext>
            </a:extLst>
          </p:cNvPr>
          <p:cNvSpPr/>
          <p:nvPr/>
        </p:nvSpPr>
        <p:spPr>
          <a:xfrm>
            <a:off x="1144598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17C04-335D-7557-74D9-0BF47A65E2C5}"/>
              </a:ext>
            </a:extLst>
          </p:cNvPr>
          <p:cNvSpPr/>
          <p:nvPr/>
        </p:nvSpPr>
        <p:spPr>
          <a:xfrm rot="5400000">
            <a:off x="1862715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735D05-10DD-BA3B-5D27-89DF969441B9}"/>
              </a:ext>
            </a:extLst>
          </p:cNvPr>
          <p:cNvSpPr/>
          <p:nvPr/>
        </p:nvSpPr>
        <p:spPr>
          <a:xfrm rot="5400000">
            <a:off x="1998486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754F60-6732-D235-D782-A8436C7B6DE9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 flipV="1">
            <a:off x="1998486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410DA4-A247-5F3E-A06F-F7E8439164C4}"/>
              </a:ext>
            </a:extLst>
          </p:cNvPr>
          <p:cNvCxnSpPr>
            <a:cxnSpLocks/>
          </p:cNvCxnSpPr>
          <p:nvPr/>
        </p:nvCxnSpPr>
        <p:spPr>
          <a:xfrm rot="5400000">
            <a:off x="2171999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DB57BE-6F85-80F4-807E-4FC815181512}"/>
              </a:ext>
            </a:extLst>
          </p:cNvPr>
          <p:cNvCxnSpPr>
            <a:cxnSpLocks/>
          </p:cNvCxnSpPr>
          <p:nvPr/>
        </p:nvCxnSpPr>
        <p:spPr>
          <a:xfrm rot="5400000">
            <a:off x="2172472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A4B71D3-413B-0D1D-3EE9-9CEEA61C86B3}"/>
              </a:ext>
            </a:extLst>
          </p:cNvPr>
          <p:cNvSpPr txBox="1">
            <a:spLocks/>
          </p:cNvSpPr>
          <p:nvPr/>
        </p:nvSpPr>
        <p:spPr>
          <a:xfrm>
            <a:off x="677334" y="1765807"/>
            <a:ext cx="3782124" cy="7288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Mesh &amp; Staple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(Plastic mesh, 2mm alum. wire)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1E81AF-E7BB-EBA8-971F-BF4A2EE8C7EB}"/>
              </a:ext>
            </a:extLst>
          </p:cNvPr>
          <p:cNvSpPr/>
          <p:nvPr/>
        </p:nvSpPr>
        <p:spPr>
          <a:xfrm>
            <a:off x="5455036" y="2896293"/>
            <a:ext cx="2756647" cy="171375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D1B102-EECA-4B77-8336-93A9141DC4EB}"/>
              </a:ext>
            </a:extLst>
          </p:cNvPr>
          <p:cNvSpPr/>
          <p:nvPr/>
        </p:nvSpPr>
        <p:spPr>
          <a:xfrm>
            <a:off x="5629847" y="3092769"/>
            <a:ext cx="2407024" cy="13208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B1E828-6DBE-E3E4-A1C0-652C66E2EFF8}"/>
              </a:ext>
            </a:extLst>
          </p:cNvPr>
          <p:cNvSpPr/>
          <p:nvPr/>
        </p:nvSpPr>
        <p:spPr>
          <a:xfrm rot="5400000">
            <a:off x="6347964" y="3294667"/>
            <a:ext cx="943896" cy="943896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69894A-17F9-B18E-4296-AA15240CDBA8}"/>
              </a:ext>
            </a:extLst>
          </p:cNvPr>
          <p:cNvSpPr/>
          <p:nvPr/>
        </p:nvSpPr>
        <p:spPr>
          <a:xfrm rot="5400000">
            <a:off x="6483735" y="3430439"/>
            <a:ext cx="672353" cy="672353"/>
          </a:xfrm>
          <a:prstGeom prst="ellipse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E373AD-6B80-9B02-0738-E1D8B5A9F4C0}"/>
              </a:ext>
            </a:extLst>
          </p:cNvPr>
          <p:cNvCxnSpPr>
            <a:stCxn id="17" idx="2"/>
          </p:cNvCxnSpPr>
          <p:nvPr/>
        </p:nvCxnSpPr>
        <p:spPr>
          <a:xfrm rot="5400000" flipV="1">
            <a:off x="6483735" y="3766615"/>
            <a:ext cx="672353" cy="1"/>
          </a:xfrm>
          <a:prstGeom prst="line">
            <a:avLst/>
          </a:prstGeom>
          <a:ln w="508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BC597F-FDC2-E749-CDA9-E82598A36F8F}"/>
              </a:ext>
            </a:extLst>
          </p:cNvPr>
          <p:cNvCxnSpPr>
            <a:cxnSpLocks/>
          </p:cNvCxnSpPr>
          <p:nvPr/>
        </p:nvCxnSpPr>
        <p:spPr>
          <a:xfrm rot="5400000">
            <a:off x="6657248" y="4211670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006556-8608-6A0A-B228-EBB606A13F2D}"/>
              </a:ext>
            </a:extLst>
          </p:cNvPr>
          <p:cNvCxnSpPr>
            <a:cxnSpLocks/>
          </p:cNvCxnSpPr>
          <p:nvPr/>
        </p:nvCxnSpPr>
        <p:spPr>
          <a:xfrm rot="5400000">
            <a:off x="6657721" y="3294667"/>
            <a:ext cx="325330" cy="0"/>
          </a:xfrm>
          <a:prstGeom prst="line">
            <a:avLst/>
          </a:prstGeom>
          <a:ln w="50800">
            <a:solidFill>
              <a:schemeClr val="accent3">
                <a:lumMod val="5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611E626-EA52-751A-4E30-66F8E7A09D2F}"/>
              </a:ext>
            </a:extLst>
          </p:cNvPr>
          <p:cNvSpPr txBox="1">
            <a:spLocks/>
          </p:cNvSpPr>
          <p:nvPr/>
        </p:nvSpPr>
        <p:spPr>
          <a:xfrm>
            <a:off x="5090581" y="1761564"/>
            <a:ext cx="4728668" cy="7245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b="1" dirty="0"/>
              <a:t>Guy wires</a:t>
            </a:r>
          </a:p>
          <a:p>
            <a:pPr marL="0" indent="0">
              <a:buFont typeface="Wingdings 3" charset="2"/>
              <a:buNone/>
            </a:pPr>
            <a:r>
              <a:rPr lang="en-US" dirty="0"/>
              <a:t>(1.5mm alum. wire x 2)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3CC1F30-384E-4767-41A8-A9EC83EC9A12}"/>
              </a:ext>
            </a:extLst>
          </p:cNvPr>
          <p:cNvCxnSpPr>
            <a:cxnSpLocks/>
          </p:cNvCxnSpPr>
          <p:nvPr/>
        </p:nvCxnSpPr>
        <p:spPr>
          <a:xfrm>
            <a:off x="1467394" y="2818303"/>
            <a:ext cx="853820" cy="93439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F03EB65-89B9-0E14-1095-1CF0D71519C3}"/>
              </a:ext>
            </a:extLst>
          </p:cNvPr>
          <p:cNvSpPr txBox="1">
            <a:spLocks/>
          </p:cNvSpPr>
          <p:nvPr/>
        </p:nvSpPr>
        <p:spPr>
          <a:xfrm>
            <a:off x="2422102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 &amp; pot</a:t>
            </a:r>
            <a:endParaRPr lang="en-US" sz="1400" dirty="0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2334840D-6E5D-E52D-A497-AB06B4935C05}"/>
              </a:ext>
            </a:extLst>
          </p:cNvPr>
          <p:cNvSpPr txBox="1">
            <a:spLocks/>
          </p:cNvSpPr>
          <p:nvPr/>
        </p:nvSpPr>
        <p:spPr>
          <a:xfrm>
            <a:off x="561017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</a:t>
            </a:r>
            <a:endParaRPr lang="en-US" sz="14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3B9D37-2439-C38B-6CBA-9549F4A70B69}"/>
              </a:ext>
            </a:extLst>
          </p:cNvPr>
          <p:cNvCxnSpPr>
            <a:cxnSpLocks/>
          </p:cNvCxnSpPr>
          <p:nvPr/>
        </p:nvCxnSpPr>
        <p:spPr>
          <a:xfrm flipH="1">
            <a:off x="2386571" y="2809491"/>
            <a:ext cx="823886" cy="396076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069F8E-E3BB-A2B4-6D70-EA182BC691B9}"/>
              </a:ext>
            </a:extLst>
          </p:cNvPr>
          <p:cNvCxnSpPr>
            <a:cxnSpLocks/>
          </p:cNvCxnSpPr>
          <p:nvPr/>
        </p:nvCxnSpPr>
        <p:spPr>
          <a:xfrm flipH="1">
            <a:off x="2386571" y="2814263"/>
            <a:ext cx="1202069" cy="148728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1DE2D4-144E-728E-7E14-884AA8D1F715}"/>
              </a:ext>
            </a:extLst>
          </p:cNvPr>
          <p:cNvCxnSpPr>
            <a:cxnSpLocks/>
          </p:cNvCxnSpPr>
          <p:nvPr/>
        </p:nvCxnSpPr>
        <p:spPr>
          <a:xfrm flipV="1">
            <a:off x="6653263" y="3562059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34BA1C4-23FB-877A-1EA3-02AEEF9772E4}"/>
              </a:ext>
            </a:extLst>
          </p:cNvPr>
          <p:cNvCxnSpPr>
            <a:cxnSpLocks/>
          </p:cNvCxnSpPr>
          <p:nvPr/>
        </p:nvCxnSpPr>
        <p:spPr>
          <a:xfrm>
            <a:off x="5174274" y="333070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F095F32-98B4-816D-5C58-687813A63259}"/>
              </a:ext>
            </a:extLst>
          </p:cNvPr>
          <p:cNvCxnSpPr>
            <a:cxnSpLocks/>
          </p:cNvCxnSpPr>
          <p:nvPr/>
        </p:nvCxnSpPr>
        <p:spPr>
          <a:xfrm flipH="1">
            <a:off x="6984429" y="3339787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101BD3A-9CBD-A901-BF26-3A3859C489DC}"/>
              </a:ext>
            </a:extLst>
          </p:cNvPr>
          <p:cNvCxnSpPr>
            <a:cxnSpLocks/>
          </p:cNvCxnSpPr>
          <p:nvPr/>
        </p:nvCxnSpPr>
        <p:spPr>
          <a:xfrm>
            <a:off x="6067945" y="2818303"/>
            <a:ext cx="656203" cy="72968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Content Placeholder 2">
            <a:extLst>
              <a:ext uri="{FF2B5EF4-FFF2-40B4-BE49-F238E27FC236}">
                <a16:creationId xmlns:a16="http://schemas.microsoft.com/office/drawing/2014/main" id="{9C917727-F7BF-5535-8328-69280EDAD674}"/>
              </a:ext>
            </a:extLst>
          </p:cNvPr>
          <p:cNvSpPr txBox="1">
            <a:spLocks/>
          </p:cNvSpPr>
          <p:nvPr/>
        </p:nvSpPr>
        <p:spPr>
          <a:xfrm>
            <a:off x="7083743" y="2576433"/>
            <a:ext cx="3601788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above mesh &amp; along sides of pot</a:t>
            </a:r>
            <a:endParaRPr lang="en-US" sz="1400" dirty="0"/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C60A51E7-39E8-99C3-198F-1C90B3CE7E7C}"/>
              </a:ext>
            </a:extLst>
          </p:cNvPr>
          <p:cNvSpPr txBox="1">
            <a:spLocks/>
          </p:cNvSpPr>
          <p:nvPr/>
        </p:nvSpPr>
        <p:spPr>
          <a:xfrm>
            <a:off x="5161568" y="2576433"/>
            <a:ext cx="2259040" cy="4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US" sz="1400" b="1" dirty="0"/>
              <a:t>wire below mesh</a:t>
            </a:r>
            <a:endParaRPr lang="en-US" sz="1400" dirty="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050A6AB-7CA5-BAB9-F2E9-94D19B145E91}"/>
              </a:ext>
            </a:extLst>
          </p:cNvPr>
          <p:cNvCxnSpPr>
            <a:cxnSpLocks/>
          </p:cNvCxnSpPr>
          <p:nvPr/>
        </p:nvCxnSpPr>
        <p:spPr>
          <a:xfrm flipH="1">
            <a:off x="6124935" y="2809491"/>
            <a:ext cx="1686073" cy="620012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1D53113-3E76-D57D-38CA-49E7E9299371}"/>
              </a:ext>
            </a:extLst>
          </p:cNvPr>
          <p:cNvCxnSpPr>
            <a:cxnSpLocks/>
          </p:cNvCxnSpPr>
          <p:nvPr/>
        </p:nvCxnSpPr>
        <p:spPr>
          <a:xfrm flipH="1">
            <a:off x="7784490" y="2814263"/>
            <a:ext cx="404701" cy="62801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D49A3499-174F-4BBD-0755-68D200AEEBDB}"/>
              </a:ext>
            </a:extLst>
          </p:cNvPr>
          <p:cNvSpPr/>
          <p:nvPr/>
        </p:nvSpPr>
        <p:spPr>
          <a:xfrm>
            <a:off x="1317982" y="5119423"/>
            <a:ext cx="205807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D6F330E-B1F6-760C-6225-23B5FCFA0D51}"/>
              </a:ext>
            </a:extLst>
          </p:cNvPr>
          <p:cNvSpPr/>
          <p:nvPr/>
        </p:nvSpPr>
        <p:spPr>
          <a:xfrm>
            <a:off x="1411660" y="5119423"/>
            <a:ext cx="187293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8656620-5B3F-801D-2962-C390E69856FA}"/>
              </a:ext>
            </a:extLst>
          </p:cNvPr>
          <p:cNvSpPr/>
          <p:nvPr/>
        </p:nvSpPr>
        <p:spPr>
          <a:xfrm>
            <a:off x="1236710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0F3D925-1143-12DB-BA8E-DEB68214AA02}"/>
              </a:ext>
            </a:extLst>
          </p:cNvPr>
          <p:cNvSpPr/>
          <p:nvPr/>
        </p:nvSpPr>
        <p:spPr>
          <a:xfrm>
            <a:off x="3284595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D52FBFA-6DE1-9E2E-18EC-A407FF11E26B}"/>
              </a:ext>
            </a:extLst>
          </p:cNvPr>
          <p:cNvSpPr/>
          <p:nvPr/>
        </p:nvSpPr>
        <p:spPr>
          <a:xfrm>
            <a:off x="1144597" y="5084936"/>
            <a:ext cx="2365343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FED797-D4F0-0F15-4909-7D05BF37ED38}"/>
              </a:ext>
            </a:extLst>
          </p:cNvPr>
          <p:cNvSpPr/>
          <p:nvPr/>
        </p:nvSpPr>
        <p:spPr>
          <a:xfrm>
            <a:off x="2000265" y="6058840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93D89EC-EE58-629B-D333-B7B138982BA4}"/>
              </a:ext>
            </a:extLst>
          </p:cNvPr>
          <p:cNvSpPr/>
          <p:nvPr/>
        </p:nvSpPr>
        <p:spPr>
          <a:xfrm>
            <a:off x="1864493" y="6007896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2B817EB-8B6E-E4D2-C1F5-88E277151700}"/>
              </a:ext>
            </a:extLst>
          </p:cNvPr>
          <p:cNvCxnSpPr>
            <a:cxnSpLocks/>
          </p:cNvCxnSpPr>
          <p:nvPr/>
        </p:nvCxnSpPr>
        <p:spPr>
          <a:xfrm>
            <a:off x="2627920" y="6174879"/>
            <a:ext cx="312762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038CE37-FDEF-C42B-C23F-FC6EAE25381A}"/>
              </a:ext>
            </a:extLst>
          </p:cNvPr>
          <p:cNvCxnSpPr>
            <a:cxnSpLocks/>
          </p:cNvCxnSpPr>
          <p:nvPr/>
        </p:nvCxnSpPr>
        <p:spPr>
          <a:xfrm>
            <a:off x="1698349" y="6174406"/>
            <a:ext cx="343055" cy="0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8226BC-C27D-E220-3517-4F2CB38232DA}"/>
              </a:ext>
            </a:extLst>
          </p:cNvPr>
          <p:cNvCxnSpPr>
            <a:cxnSpLocks/>
          </p:cNvCxnSpPr>
          <p:nvPr/>
        </p:nvCxnSpPr>
        <p:spPr>
          <a:xfrm flipV="1">
            <a:off x="2041404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5481D82-AE5F-DC0A-16A2-0C0DDEFAFAB2}"/>
              </a:ext>
            </a:extLst>
          </p:cNvPr>
          <p:cNvCxnSpPr>
            <a:cxnSpLocks/>
          </p:cNvCxnSpPr>
          <p:nvPr/>
        </p:nvCxnSpPr>
        <p:spPr>
          <a:xfrm flipV="1">
            <a:off x="2627920" y="5982052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A9D9ACE-6611-C8B9-333B-BFB3BD34D77C}"/>
              </a:ext>
            </a:extLst>
          </p:cNvPr>
          <p:cNvCxnSpPr>
            <a:cxnSpLocks/>
          </p:cNvCxnSpPr>
          <p:nvPr/>
        </p:nvCxnSpPr>
        <p:spPr>
          <a:xfrm>
            <a:off x="2041404" y="5976084"/>
            <a:ext cx="586516" cy="3797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D18A0AF8-0EFD-8EDC-056D-94AFB7B485FB}"/>
              </a:ext>
            </a:extLst>
          </p:cNvPr>
          <p:cNvSpPr/>
          <p:nvPr/>
        </p:nvSpPr>
        <p:spPr>
          <a:xfrm>
            <a:off x="5493692" y="5119423"/>
            <a:ext cx="2589940" cy="1032313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4C5ECD66-F919-348D-F236-F9AF8A60F638}"/>
              </a:ext>
            </a:extLst>
          </p:cNvPr>
          <p:cNvSpPr/>
          <p:nvPr/>
        </p:nvSpPr>
        <p:spPr>
          <a:xfrm>
            <a:off x="5585150" y="5119423"/>
            <a:ext cx="2407024" cy="943213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1856209A-F215-216B-22CE-75185813DF31}"/>
              </a:ext>
            </a:extLst>
          </p:cNvPr>
          <p:cNvSpPr/>
          <p:nvPr/>
        </p:nvSpPr>
        <p:spPr>
          <a:xfrm>
            <a:off x="5414618" y="5171433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13E42A6-4E79-79EE-6202-A0A2E824B4E8}"/>
              </a:ext>
            </a:extLst>
          </p:cNvPr>
          <p:cNvSpPr/>
          <p:nvPr/>
        </p:nvSpPr>
        <p:spPr>
          <a:xfrm>
            <a:off x="7992174" y="5167314"/>
            <a:ext cx="161071" cy="164757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5931C5B-D3C2-3BDD-574C-5FD8B4855A41}"/>
              </a:ext>
            </a:extLst>
          </p:cNvPr>
          <p:cNvSpPr/>
          <p:nvPr/>
        </p:nvSpPr>
        <p:spPr>
          <a:xfrm>
            <a:off x="5381426" y="5084936"/>
            <a:ext cx="2836094" cy="164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7CA6282-1B6D-4DC4-BBDC-D83006816879}"/>
              </a:ext>
            </a:extLst>
          </p:cNvPr>
          <p:cNvSpPr/>
          <p:nvPr/>
        </p:nvSpPr>
        <p:spPr>
          <a:xfrm>
            <a:off x="6423572" y="6062637"/>
            <a:ext cx="672353" cy="11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F5247CA-7138-4B83-C380-57373DDDEBD9}"/>
              </a:ext>
            </a:extLst>
          </p:cNvPr>
          <p:cNvSpPr/>
          <p:nvPr/>
        </p:nvSpPr>
        <p:spPr>
          <a:xfrm>
            <a:off x="6287800" y="6011693"/>
            <a:ext cx="943896" cy="50943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tx2">
                <a:lumMod val="40000"/>
                <a:lumOff val="6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CA7CB1A1-3DA7-B388-A7CE-2D294E88B172}"/>
              </a:ext>
            </a:extLst>
          </p:cNvPr>
          <p:cNvCxnSpPr>
            <a:cxnSpLocks/>
          </p:cNvCxnSpPr>
          <p:nvPr/>
        </p:nvCxnSpPr>
        <p:spPr>
          <a:xfrm flipH="1">
            <a:off x="6663113" y="6080183"/>
            <a:ext cx="251139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928B966-5818-4F0B-9FDA-9E8C7319D896}"/>
              </a:ext>
            </a:extLst>
          </p:cNvPr>
          <p:cNvCxnSpPr>
            <a:cxnSpLocks/>
          </p:cNvCxnSpPr>
          <p:nvPr/>
        </p:nvCxnSpPr>
        <p:spPr>
          <a:xfrm flipH="1">
            <a:off x="6901984" y="59955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B2C5D1D-E128-3FFE-4426-4C98E011501E}"/>
              </a:ext>
            </a:extLst>
          </p:cNvPr>
          <p:cNvCxnSpPr>
            <a:cxnSpLocks/>
          </p:cNvCxnSpPr>
          <p:nvPr/>
        </p:nvCxnSpPr>
        <p:spPr>
          <a:xfrm flipH="1">
            <a:off x="7027532" y="5988571"/>
            <a:ext cx="819007" cy="652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32E1A4F-584A-126D-D47F-5B5583A3C17A}"/>
              </a:ext>
            </a:extLst>
          </p:cNvPr>
          <p:cNvCxnSpPr>
            <a:cxnSpLocks/>
          </p:cNvCxnSpPr>
          <p:nvPr/>
        </p:nvCxnSpPr>
        <p:spPr>
          <a:xfrm flipH="1">
            <a:off x="5706409" y="5995095"/>
            <a:ext cx="830682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E1C0AF8-583E-EAF3-CF47-196D0822A82C}"/>
              </a:ext>
            </a:extLst>
          </p:cNvPr>
          <p:cNvCxnSpPr>
            <a:cxnSpLocks/>
          </p:cNvCxnSpPr>
          <p:nvPr/>
        </p:nvCxnSpPr>
        <p:spPr>
          <a:xfrm>
            <a:off x="6537092" y="5989830"/>
            <a:ext cx="129584" cy="85088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B972811E-1402-6B30-5171-781B1EF76470}"/>
              </a:ext>
            </a:extLst>
          </p:cNvPr>
          <p:cNvCxnSpPr>
            <a:cxnSpLocks/>
          </p:cNvCxnSpPr>
          <p:nvPr/>
        </p:nvCxnSpPr>
        <p:spPr>
          <a:xfrm flipH="1">
            <a:off x="7865764" y="5903587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F28A637C-BE27-86C6-FC06-646AEF76DD0C}"/>
              </a:ext>
            </a:extLst>
          </p:cNvPr>
          <p:cNvCxnSpPr>
            <a:cxnSpLocks/>
          </p:cNvCxnSpPr>
          <p:nvPr/>
        </p:nvCxnSpPr>
        <p:spPr>
          <a:xfrm>
            <a:off x="5630677" y="5908156"/>
            <a:ext cx="75732" cy="8498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2AB4594-FD94-187F-1561-34663C6891F6}"/>
              </a:ext>
            </a:extLst>
          </p:cNvPr>
          <p:cNvCxnSpPr>
            <a:cxnSpLocks/>
          </p:cNvCxnSpPr>
          <p:nvPr/>
        </p:nvCxnSpPr>
        <p:spPr>
          <a:xfrm>
            <a:off x="7941496" y="520282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F02B440-C7EB-0215-2E9A-8CA5D30CBDA4}"/>
              </a:ext>
            </a:extLst>
          </p:cNvPr>
          <p:cNvCxnSpPr>
            <a:cxnSpLocks/>
          </p:cNvCxnSpPr>
          <p:nvPr/>
        </p:nvCxnSpPr>
        <p:spPr>
          <a:xfrm>
            <a:off x="5630677" y="5212031"/>
            <a:ext cx="0" cy="696125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6869CD1-5ED6-BAAD-EC12-200132F58C7D}"/>
              </a:ext>
            </a:extLst>
          </p:cNvPr>
          <p:cNvCxnSpPr>
            <a:cxnSpLocks/>
          </p:cNvCxnSpPr>
          <p:nvPr/>
        </p:nvCxnSpPr>
        <p:spPr>
          <a:xfrm flipH="1">
            <a:off x="7949256" y="520282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515C3706-58FC-3BB3-BAF7-37F7077B18E8}"/>
              </a:ext>
            </a:extLst>
          </p:cNvPr>
          <p:cNvCxnSpPr>
            <a:cxnSpLocks/>
          </p:cNvCxnSpPr>
          <p:nvPr/>
        </p:nvCxnSpPr>
        <p:spPr>
          <a:xfrm flipH="1">
            <a:off x="5411979" y="5212031"/>
            <a:ext cx="217868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6677323C-F099-2EEE-5917-39D1D6E840CE}"/>
              </a:ext>
            </a:extLst>
          </p:cNvPr>
          <p:cNvCxnSpPr>
            <a:cxnSpLocks/>
          </p:cNvCxnSpPr>
          <p:nvPr/>
        </p:nvCxnSpPr>
        <p:spPr>
          <a:xfrm flipH="1">
            <a:off x="4985468" y="5212031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9562E4AC-C791-A560-1112-51DC00C4D72B}"/>
              </a:ext>
            </a:extLst>
          </p:cNvPr>
          <p:cNvCxnSpPr>
            <a:cxnSpLocks/>
          </p:cNvCxnSpPr>
          <p:nvPr/>
        </p:nvCxnSpPr>
        <p:spPr>
          <a:xfrm>
            <a:off x="8161480" y="5204292"/>
            <a:ext cx="426511" cy="52352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993372C-A01D-D32B-A8A7-2A0EFF3029C5}"/>
              </a:ext>
            </a:extLst>
          </p:cNvPr>
          <p:cNvCxnSpPr>
            <a:cxnSpLocks/>
          </p:cNvCxnSpPr>
          <p:nvPr/>
        </p:nvCxnSpPr>
        <p:spPr>
          <a:xfrm flipH="1">
            <a:off x="8589622" y="5466055"/>
            <a:ext cx="259425" cy="2617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Content Placeholder 2">
            <a:extLst>
              <a:ext uri="{FF2B5EF4-FFF2-40B4-BE49-F238E27FC236}">
                <a16:creationId xmlns:a16="http://schemas.microsoft.com/office/drawing/2014/main" id="{181F765B-B333-34E5-4A58-E853C52137D4}"/>
              </a:ext>
            </a:extLst>
          </p:cNvPr>
          <p:cNvSpPr txBox="1">
            <a:spLocks/>
          </p:cNvSpPr>
          <p:nvPr/>
        </p:nvSpPr>
        <p:spPr>
          <a:xfrm>
            <a:off x="9298473" y="3394507"/>
            <a:ext cx="1563970" cy="71637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one side of each wire longer than the other</a:t>
            </a:r>
            <a:endParaRPr lang="en-US" sz="1400" dirty="0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06EAF20-8638-51BF-21BE-9ADC34B39158}"/>
              </a:ext>
            </a:extLst>
          </p:cNvPr>
          <p:cNvCxnSpPr>
            <a:cxnSpLocks/>
          </p:cNvCxnSpPr>
          <p:nvPr/>
        </p:nvCxnSpPr>
        <p:spPr>
          <a:xfrm flipH="1" flipV="1">
            <a:off x="8912314" y="3572175"/>
            <a:ext cx="312549" cy="14966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DE1B4518-0644-C0B6-5573-06917B9E52D1}"/>
              </a:ext>
            </a:extLst>
          </p:cNvPr>
          <p:cNvCxnSpPr>
            <a:cxnSpLocks/>
          </p:cNvCxnSpPr>
          <p:nvPr/>
        </p:nvCxnSpPr>
        <p:spPr>
          <a:xfrm flipH="1">
            <a:off x="8943246" y="3820102"/>
            <a:ext cx="281617" cy="16757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Content Placeholder 2">
            <a:extLst>
              <a:ext uri="{FF2B5EF4-FFF2-40B4-BE49-F238E27FC236}">
                <a16:creationId xmlns:a16="http://schemas.microsoft.com/office/drawing/2014/main" id="{8F19E532-FDD5-20E9-4EE6-2A6487ADFBAD}"/>
              </a:ext>
            </a:extLst>
          </p:cNvPr>
          <p:cNvSpPr txBox="1">
            <a:spLocks/>
          </p:cNvSpPr>
          <p:nvPr/>
        </p:nvSpPr>
        <p:spPr>
          <a:xfrm>
            <a:off x="9100310" y="5560093"/>
            <a:ext cx="1773708" cy="1288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extra bend makes it obvious which is the longer side</a:t>
            </a:r>
            <a:endParaRPr lang="en-US" sz="1400" dirty="0"/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42E351B6-17E9-BD55-8F2E-8B0728F54E6D}"/>
              </a:ext>
            </a:extLst>
          </p:cNvPr>
          <p:cNvCxnSpPr>
            <a:cxnSpLocks/>
          </p:cNvCxnSpPr>
          <p:nvPr/>
        </p:nvCxnSpPr>
        <p:spPr>
          <a:xfrm flipH="1" flipV="1">
            <a:off x="8658157" y="5825926"/>
            <a:ext cx="442153" cy="120153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2A4D6AE-EECA-9B58-C43C-AED4EC758516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9C9075F-BB5E-6A25-9B77-A873AAB5E7AF}"/>
              </a:ext>
            </a:extLst>
          </p:cNvPr>
          <p:cNvSpPr/>
          <p:nvPr/>
        </p:nvSpPr>
        <p:spPr>
          <a:xfrm>
            <a:off x="6740406" y="5933846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8EC7BCC-11ED-BC5A-E33E-088952E9D484}"/>
              </a:ext>
            </a:extLst>
          </p:cNvPr>
          <p:cNvSpPr/>
          <p:nvPr/>
        </p:nvSpPr>
        <p:spPr>
          <a:xfrm>
            <a:off x="6738852" y="6119698"/>
            <a:ext cx="99663" cy="9966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F196451-24F1-7F90-2DBB-3788A693A0E0}"/>
              </a:ext>
            </a:extLst>
          </p:cNvPr>
          <p:cNvCxnSpPr>
            <a:cxnSpLocks/>
          </p:cNvCxnSpPr>
          <p:nvPr/>
        </p:nvCxnSpPr>
        <p:spPr>
          <a:xfrm flipV="1">
            <a:off x="6789754" y="5976084"/>
            <a:ext cx="0" cy="187934"/>
          </a:xfrm>
          <a:prstGeom prst="line">
            <a:avLst/>
          </a:prstGeom>
          <a:ln w="508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E785F280-6E38-9A94-756B-8CC2F5F3A30A}"/>
              </a:ext>
            </a:extLst>
          </p:cNvPr>
          <p:cNvSpPr txBox="1">
            <a:spLocks/>
          </p:cNvSpPr>
          <p:nvPr/>
        </p:nvSpPr>
        <p:spPr>
          <a:xfrm>
            <a:off x="3906937" y="5862653"/>
            <a:ext cx="1474998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guy wire will be held in place by staple</a:t>
            </a:r>
            <a:endParaRPr lang="en-US" sz="14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2004BC-8847-040E-992B-C101CCC7E537}"/>
              </a:ext>
            </a:extLst>
          </p:cNvPr>
          <p:cNvCxnSpPr>
            <a:cxnSpLocks/>
          </p:cNvCxnSpPr>
          <p:nvPr/>
        </p:nvCxnSpPr>
        <p:spPr>
          <a:xfrm flipV="1">
            <a:off x="5224666" y="6164018"/>
            <a:ext cx="1367450" cy="16350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25F18B91-3D11-47B5-0623-426584496B09}"/>
              </a:ext>
            </a:extLst>
          </p:cNvPr>
          <p:cNvSpPr txBox="1">
            <a:spLocks/>
          </p:cNvSpPr>
          <p:nvPr/>
        </p:nvSpPr>
        <p:spPr>
          <a:xfrm>
            <a:off x="1813318" y="5287247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short side</a:t>
            </a:r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DFE9F13-B1F8-028C-2953-826D80E9E1A0}"/>
              </a:ext>
            </a:extLst>
          </p:cNvPr>
          <p:cNvCxnSpPr>
            <a:cxnSpLocks/>
          </p:cNvCxnSpPr>
          <p:nvPr/>
        </p:nvCxnSpPr>
        <p:spPr>
          <a:xfrm flipV="1">
            <a:off x="6650079" y="3962963"/>
            <a:ext cx="337565" cy="2161"/>
          </a:xfrm>
          <a:prstGeom prst="line">
            <a:avLst/>
          </a:prstGeom>
          <a:ln w="317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7FBE1BC-19E6-EAB0-5D8C-5A1AF5C58654}"/>
              </a:ext>
            </a:extLst>
          </p:cNvPr>
          <p:cNvCxnSpPr>
            <a:cxnSpLocks/>
          </p:cNvCxnSpPr>
          <p:nvPr/>
        </p:nvCxnSpPr>
        <p:spPr>
          <a:xfrm flipV="1">
            <a:off x="5177157" y="3962223"/>
            <a:ext cx="1476264" cy="23042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662BF7-AA9D-8F3D-00D7-7F1A85222EA7}"/>
              </a:ext>
            </a:extLst>
          </p:cNvPr>
          <p:cNvCxnSpPr>
            <a:cxnSpLocks/>
          </p:cNvCxnSpPr>
          <p:nvPr/>
        </p:nvCxnSpPr>
        <p:spPr>
          <a:xfrm flipH="1" flipV="1">
            <a:off x="6980822" y="3960383"/>
            <a:ext cx="1939464" cy="22629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EA220DD7-D58D-E5AB-CD96-4E7B8B40EEC7}"/>
              </a:ext>
            </a:extLst>
          </p:cNvPr>
          <p:cNvSpPr txBox="1">
            <a:spLocks/>
          </p:cNvSpPr>
          <p:nvPr/>
        </p:nvSpPr>
        <p:spPr>
          <a:xfrm>
            <a:off x="6248822" y="5300215"/>
            <a:ext cx="1054894" cy="83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lang="en-US" sz="1400" b="1" dirty="0"/>
              <a:t>view from long side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27528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Repotting step-by-step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003977"/>
            <a:ext cx="4184035" cy="48271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dirty="0"/>
              <a:t>Regular repotting – often back into the same pot! - helps limit tree size via “root-to-shoot ratio”</a:t>
            </a:r>
          </a:p>
          <a:p>
            <a:pPr marL="0" indent="0">
              <a:buNone/>
            </a:pPr>
            <a:r>
              <a:rPr lang="en-US" dirty="0"/>
              <a:t>1. Prepare pot</a:t>
            </a:r>
          </a:p>
          <a:p>
            <a:r>
              <a:rPr lang="en-US" sz="1600" dirty="0"/>
              <a:t>Pick a (tentative) pot</a:t>
            </a:r>
          </a:p>
          <a:p>
            <a:r>
              <a:rPr lang="en-US" sz="1600" dirty="0"/>
              <a:t>Scrub clean</a:t>
            </a:r>
          </a:p>
          <a:p>
            <a:r>
              <a:rPr lang="en-US" sz="1600" dirty="0"/>
              <a:t>Staple mesh over holes</a:t>
            </a:r>
          </a:p>
          <a:p>
            <a:r>
              <a:rPr lang="en-US" sz="1600" dirty="0"/>
              <a:t>Add guy wires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2. Prepare tree</a:t>
            </a:r>
          </a:p>
          <a:p>
            <a:r>
              <a:rPr lang="en-US" sz="1600" dirty="0"/>
              <a:t>Remove from pot</a:t>
            </a:r>
          </a:p>
          <a:p>
            <a:r>
              <a:rPr lang="en-US" sz="1600" dirty="0"/>
              <a:t>Clean off soil surface</a:t>
            </a:r>
          </a:p>
          <a:p>
            <a:r>
              <a:rPr lang="en-US" sz="1600" dirty="0"/>
              <a:t>Dig down to expose </a:t>
            </a:r>
            <a:r>
              <a:rPr lang="en-US" sz="1600" dirty="0" err="1"/>
              <a:t>nebari</a:t>
            </a:r>
            <a:endParaRPr lang="en-US" sz="1600" dirty="0"/>
          </a:p>
          <a:p>
            <a:r>
              <a:rPr lang="en-US" sz="1600" dirty="0"/>
              <a:t>Choose “front” if not already clear</a:t>
            </a:r>
          </a:p>
          <a:p>
            <a:r>
              <a:rPr lang="en-US" sz="1600" dirty="0"/>
              <a:t>Dig up / in to define root-ball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E138C-6EE5-2895-CC89-8FB90D5DD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030872"/>
            <a:ext cx="4793618" cy="482712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Untangle lateral roots where poss. (esp. girdling roots)</a:t>
            </a:r>
          </a:p>
          <a:p>
            <a:r>
              <a:rPr lang="en-US" sz="1600" dirty="0"/>
              <a:t>Clear any growth from lower trunk</a:t>
            </a:r>
          </a:p>
          <a:p>
            <a:r>
              <a:rPr lang="en-US" sz="1600" dirty="0"/>
              <a:t>Spray with water if starting to dry!</a:t>
            </a:r>
            <a:br>
              <a:rPr lang="en-US" sz="1600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3. Insert tree into pot</a:t>
            </a:r>
          </a:p>
          <a:p>
            <a:r>
              <a:rPr lang="en-US" sz="1600" dirty="0"/>
              <a:t>Add shallow layer of soil to base</a:t>
            </a:r>
          </a:p>
          <a:p>
            <a:r>
              <a:rPr lang="en-US" sz="1600" dirty="0"/>
              <a:t>Place root ball in pot and pack soil around</a:t>
            </a:r>
          </a:p>
          <a:p>
            <a:r>
              <a:rPr lang="en-US" sz="1600" dirty="0"/>
              <a:t>Compress soil to “brownie” hardness</a:t>
            </a:r>
          </a:p>
          <a:p>
            <a:r>
              <a:rPr lang="en-GB" sz="1600" dirty="0"/>
              <a:t>Pull guy wires over root ball, twist pairs together tightly, and trim to 3-4 twists</a:t>
            </a:r>
          </a:p>
          <a:p>
            <a:r>
              <a:rPr lang="en-GB" sz="1600" dirty="0"/>
              <a:t>Cover with dried, grated, rehydrated sphagnum and compress surface</a:t>
            </a:r>
          </a:p>
          <a:p>
            <a:r>
              <a:rPr lang="en-GB" sz="1600" dirty="0"/>
              <a:t>Sprinkle with grated acrocarpous (upward-growing) moss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88A698-1B8F-B677-8398-81A09942F302}"/>
              </a:ext>
            </a:extLst>
          </p:cNvPr>
          <p:cNvGrpSpPr/>
          <p:nvPr/>
        </p:nvGrpSpPr>
        <p:grpSpPr>
          <a:xfrm>
            <a:off x="9827929" y="2363990"/>
            <a:ext cx="1030866" cy="1351658"/>
            <a:chOff x="8039533" y="461124"/>
            <a:chExt cx="1030866" cy="1351658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96EC410-6382-2278-6BC8-379809AED5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70890" y="1105663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D64AB5A-2961-F3BA-71E5-992EC86222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9047" y="97727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28ACB9E-2DC2-6D77-D4B3-7039D5E305AB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97207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CB198F4-23D6-438B-6134-B77D58088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46631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795A00C-7353-F6C4-1D2D-E23F06B8892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461124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0569753-E957-CB17-3263-D4DB191DE7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589517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D809435-49A5-52AD-076A-9BB385F47C6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594712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749D662-44A7-A51B-320A-F15042DDC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714614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4394438-38CE-B736-B576-A1BA2D9BEA58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709419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5788213-C586-97C6-A3DC-8EE745AA51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53723" y="837812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7EE0124-D309-EF76-8581-20BEDBB15570}"/>
                </a:ext>
              </a:extLst>
            </p:cNvPr>
            <p:cNvCxnSpPr>
              <a:cxnSpLocks/>
            </p:cNvCxnSpPr>
            <p:nvPr/>
          </p:nvCxnSpPr>
          <p:spPr>
            <a:xfrm>
              <a:off x="8953723" y="843007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583E3F5-A0E3-7530-3544-C4EB3E8CEE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9533" y="1556548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523AF4AA-7DC4-0624-177B-7A07A2CCCB2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700194" y="1497104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0664D4D-8A63-A248-C074-06C61DCCF09C}"/>
                </a:ext>
              </a:extLst>
            </p:cNvPr>
            <p:cNvCxnSpPr>
              <a:cxnSpLocks/>
            </p:cNvCxnSpPr>
            <p:nvPr/>
          </p:nvCxnSpPr>
          <p:spPr>
            <a:xfrm>
              <a:off x="8959047" y="1100991"/>
              <a:ext cx="56826" cy="80434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4EDE3BE-6070-E7E6-A0DE-32C76DAB1A52}"/>
              </a:ext>
            </a:extLst>
          </p:cNvPr>
          <p:cNvGrpSpPr/>
          <p:nvPr/>
        </p:nvGrpSpPr>
        <p:grpSpPr>
          <a:xfrm>
            <a:off x="9413203" y="4385879"/>
            <a:ext cx="1385604" cy="768424"/>
            <a:chOff x="9978711" y="418145"/>
            <a:chExt cx="1385604" cy="768424"/>
          </a:xfrm>
        </p:grpSpPr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75FD03C-461E-22B9-9B74-069B83E4B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3823" y="934291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C6C5F56-C05E-23FE-D398-C82B33703B5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823" y="929096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C2E5AE8-D5FE-D8A9-7E1D-2A0A71DFF4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42334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B4F20D2-E942-BB86-131E-DA5630B626D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41814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417EBE58-5E45-4713-088F-2F8775FA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54653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8F6A03E-B52A-BB49-4B7E-712FC94DAAA3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55173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69F7847-1340-8F6D-6DC3-EC23B6199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67163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886420-000E-2CB7-AE3C-78B6688C52FF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66644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9DE52C7-2A2A-54AA-E0A1-F6BE7756F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7948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4068AF-3AD1-A893-5F24-81DE6E8558BA}"/>
                </a:ext>
              </a:extLst>
            </p:cNvPr>
            <p:cNvCxnSpPr>
              <a:cxnSpLocks/>
            </p:cNvCxnSpPr>
            <p:nvPr/>
          </p:nvCxnSpPr>
          <p:spPr>
            <a:xfrm>
              <a:off x="10618499" y="80002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B47A112-A610-3D05-0D21-294880DAEE66}"/>
                </a:ext>
              </a:extLst>
            </p:cNvPr>
            <p:cNvCxnSpPr>
              <a:cxnSpLocks/>
            </p:cNvCxnSpPr>
            <p:nvPr/>
          </p:nvCxnSpPr>
          <p:spPr>
            <a:xfrm>
              <a:off x="9978711" y="1183972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01B64A1-AE15-C51C-0A78-4FDE00F6850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732958" y="1177391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77CE0D85-3B97-C573-513E-5C3378285C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8499" y="105793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8BED534-07A4-E01C-F8C6-3BBF34E9470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419" y="1057489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83" name="Content Placeholder 14">
            <a:extLst>
              <a:ext uri="{FF2B5EF4-FFF2-40B4-BE49-F238E27FC236}">
                <a16:creationId xmlns:a16="http://schemas.microsoft.com/office/drawing/2014/main" id="{6AEBBF43-3DE4-BA02-F559-B50D47623293}"/>
              </a:ext>
            </a:extLst>
          </p:cNvPr>
          <p:cNvSpPr txBox="1">
            <a:spLocks/>
          </p:cNvSpPr>
          <p:nvPr/>
        </p:nvSpPr>
        <p:spPr>
          <a:xfrm>
            <a:off x="10592041" y="184513"/>
            <a:ext cx="779400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</a:t>
            </a:r>
            <a:endParaRPr lang="en-GB" sz="4800" dirty="0"/>
          </a:p>
        </p:txBody>
      </p:sp>
      <p:sp>
        <p:nvSpPr>
          <p:cNvPr id="84" name="Content Placeholder 14">
            <a:extLst>
              <a:ext uri="{FF2B5EF4-FFF2-40B4-BE49-F238E27FC236}">
                <a16:creationId xmlns:a16="http://schemas.microsoft.com/office/drawing/2014/main" id="{829A34D9-FAAB-E6B2-51AD-C5AE2ED45D35}"/>
              </a:ext>
            </a:extLst>
          </p:cNvPr>
          <p:cNvSpPr txBox="1">
            <a:spLocks/>
          </p:cNvSpPr>
          <p:nvPr/>
        </p:nvSpPr>
        <p:spPr>
          <a:xfrm>
            <a:off x="10203071" y="4024328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85" name="Content Placeholder 14">
            <a:extLst>
              <a:ext uri="{FF2B5EF4-FFF2-40B4-BE49-F238E27FC236}">
                <a16:creationId xmlns:a16="http://schemas.microsoft.com/office/drawing/2014/main" id="{36133E30-870D-42DA-4C7A-8C63BBB627D2}"/>
              </a:ext>
            </a:extLst>
          </p:cNvPr>
          <p:cNvSpPr txBox="1">
            <a:spLocks/>
          </p:cNvSpPr>
          <p:nvPr/>
        </p:nvSpPr>
        <p:spPr>
          <a:xfrm>
            <a:off x="9918000" y="2096153"/>
            <a:ext cx="720457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4800" dirty="0">
                <a:sym typeface="Wingdings" panose="05000000000000000000" pitchFamily="2" charset="2"/>
              </a:rPr>
              <a:t></a:t>
            </a:r>
            <a:endParaRPr lang="en-GB" sz="4800" dirty="0"/>
          </a:p>
        </p:txBody>
      </p:sp>
      <p:sp>
        <p:nvSpPr>
          <p:cNvPr id="91" name="Content Placeholder 14">
            <a:extLst>
              <a:ext uri="{FF2B5EF4-FFF2-40B4-BE49-F238E27FC236}">
                <a16:creationId xmlns:a16="http://schemas.microsoft.com/office/drawing/2014/main" id="{9827E5BC-9E9B-2649-3F93-4350DF1BBD74}"/>
              </a:ext>
            </a:extLst>
          </p:cNvPr>
          <p:cNvSpPr txBox="1">
            <a:spLocks/>
          </p:cNvSpPr>
          <p:nvPr/>
        </p:nvSpPr>
        <p:spPr>
          <a:xfrm>
            <a:off x="9661002" y="2575899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sp>
        <p:nvSpPr>
          <p:cNvPr id="92" name="Content Placeholder 14">
            <a:extLst>
              <a:ext uri="{FF2B5EF4-FFF2-40B4-BE49-F238E27FC236}">
                <a16:creationId xmlns:a16="http://schemas.microsoft.com/office/drawing/2014/main" id="{90E3E99F-275C-53D4-CCFE-51936BAC5830}"/>
              </a:ext>
            </a:extLst>
          </p:cNvPr>
          <p:cNvSpPr txBox="1">
            <a:spLocks/>
          </p:cNvSpPr>
          <p:nvPr/>
        </p:nvSpPr>
        <p:spPr>
          <a:xfrm>
            <a:off x="10106037" y="4445820"/>
            <a:ext cx="1070011" cy="783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/>
              <a:t>Prone to snapping!</a:t>
            </a:r>
            <a:endParaRPr lang="en-GB" sz="1400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30D3693-DA29-88FB-0B3D-1BCA34BE6D28}"/>
              </a:ext>
            </a:extLst>
          </p:cNvPr>
          <p:cNvGrpSpPr/>
          <p:nvPr/>
        </p:nvGrpSpPr>
        <p:grpSpPr>
          <a:xfrm>
            <a:off x="9036026" y="280181"/>
            <a:ext cx="2151401" cy="1573895"/>
            <a:chOff x="5482687" y="265988"/>
            <a:chExt cx="2151401" cy="157389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08A7AE-71FD-74E8-30B5-F2B23C5006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16931" y="1058429"/>
              <a:ext cx="399509" cy="450885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1680F51-9233-1062-44B6-DD5EA8BFDA5C}"/>
                </a:ext>
              </a:extLst>
            </p:cNvPr>
            <p:cNvCxnSpPr>
              <a:cxnSpLocks/>
            </p:cNvCxnSpPr>
            <p:nvPr/>
          </p:nvCxnSpPr>
          <p:spPr>
            <a:xfrm>
              <a:off x="6610283" y="1058429"/>
              <a:ext cx="392448" cy="45608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AA6F68-6BF7-5F51-2A65-3C574D9717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5088" y="930036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7A37A6E-F7A8-2AB7-2EB4-B9E5744C4D28}"/>
                </a:ext>
              </a:extLst>
            </p:cNvPr>
            <p:cNvCxnSpPr>
              <a:cxnSpLocks/>
            </p:cNvCxnSpPr>
            <p:nvPr/>
          </p:nvCxnSpPr>
          <p:spPr>
            <a:xfrm>
              <a:off x="6605088" y="924841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4D610C1-037E-6882-A44B-235EDE2722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419085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7E7705B-BE8E-CD75-70B2-B7FF1BAAD06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413890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2D97B54-FDE0-15C8-A226-197DA1D6F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542283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2EA44C5-EFD8-0B30-D5B7-D0B866EE3551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547478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EEF653A-A3F6-0603-BCF5-11786E9C2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667380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40B9832-5B15-3557-95B7-02263AF5A8A2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662185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5C98D3B-FB97-2CED-889A-D5340C9F2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9764" y="790578"/>
              <a:ext cx="106028" cy="128393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D5473C8-7A8C-06CB-518D-7DD49D34467B}"/>
                </a:ext>
              </a:extLst>
            </p:cNvPr>
            <p:cNvCxnSpPr>
              <a:cxnSpLocks/>
            </p:cNvCxnSpPr>
            <p:nvPr/>
          </p:nvCxnSpPr>
          <p:spPr>
            <a:xfrm>
              <a:off x="6599764" y="795773"/>
              <a:ext cx="106028" cy="123198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99DC6D1-9D89-5ED9-DBAB-0DAF6F31163F}"/>
                </a:ext>
              </a:extLst>
            </p:cNvPr>
            <p:cNvCxnSpPr>
              <a:cxnSpLocks/>
            </p:cNvCxnSpPr>
            <p:nvPr/>
          </p:nvCxnSpPr>
          <p:spPr>
            <a:xfrm>
              <a:off x="5685574" y="1509314"/>
              <a:ext cx="631357" cy="2597"/>
            </a:xfrm>
            <a:prstGeom prst="line">
              <a:avLst/>
            </a:prstGeom>
            <a:ln w="50800">
              <a:solidFill>
                <a:schemeClr val="accent3"/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9A80AD-D6BD-653D-76E1-31A188E1160F}"/>
                </a:ext>
              </a:extLst>
            </p:cNvPr>
            <p:cNvCxnSpPr>
              <a:cxnSpLocks/>
            </p:cNvCxnSpPr>
            <p:nvPr/>
          </p:nvCxnSpPr>
          <p:spPr>
            <a:xfrm>
              <a:off x="7002731" y="1515935"/>
              <a:ext cx="631357" cy="0"/>
            </a:xfrm>
            <a:prstGeom prst="line">
              <a:avLst/>
            </a:prstGeom>
            <a:ln w="50800">
              <a:solidFill>
                <a:schemeClr val="accent3">
                  <a:lumMod val="50000"/>
                </a:schemeClr>
              </a:solidFill>
            </a:ln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29D8696-F002-A6D9-E19F-EC18A2B45CA4}"/>
                </a:ext>
              </a:extLst>
            </p:cNvPr>
            <p:cNvSpPr/>
            <p:nvPr/>
          </p:nvSpPr>
          <p:spPr>
            <a:xfrm>
              <a:off x="5932468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35DBC28-D8E0-FF72-60C2-129C7922EE19}"/>
                </a:ext>
              </a:extLst>
            </p:cNvPr>
            <p:cNvSpPr/>
            <p:nvPr/>
          </p:nvSpPr>
          <p:spPr>
            <a:xfrm>
              <a:off x="6963032" y="1053234"/>
              <a:ext cx="452004" cy="35594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row: Right 36">
              <a:extLst>
                <a:ext uri="{FF2B5EF4-FFF2-40B4-BE49-F238E27FC236}">
                  <a16:creationId xmlns:a16="http://schemas.microsoft.com/office/drawing/2014/main" id="{80396236-D399-B238-3840-B36582C2DB32}"/>
                </a:ext>
              </a:extLst>
            </p:cNvPr>
            <p:cNvSpPr/>
            <p:nvPr/>
          </p:nvSpPr>
          <p:spPr>
            <a:xfrm rot="3653847">
              <a:off x="6101579" y="1259583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Arrow: Right 37">
              <a:extLst>
                <a:ext uri="{FF2B5EF4-FFF2-40B4-BE49-F238E27FC236}">
                  <a16:creationId xmlns:a16="http://schemas.microsoft.com/office/drawing/2014/main" id="{6D88DE27-3A4D-2E66-FCEA-CE27B7F452FE}"/>
                </a:ext>
              </a:extLst>
            </p:cNvPr>
            <p:cNvSpPr/>
            <p:nvPr/>
          </p:nvSpPr>
          <p:spPr>
            <a:xfrm rot="16200000" flipV="1">
              <a:off x="6703163" y="301157"/>
              <a:ext cx="243140" cy="172801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49A236D-BA21-9B2E-9E86-C7FA0DE60597}"/>
                </a:ext>
              </a:extLst>
            </p:cNvPr>
            <p:cNvCxnSpPr/>
            <p:nvPr/>
          </p:nvCxnSpPr>
          <p:spPr>
            <a:xfrm flipH="1">
              <a:off x="6648385" y="1171849"/>
              <a:ext cx="14774" cy="66803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Arrow: Right 87">
              <a:extLst>
                <a:ext uri="{FF2B5EF4-FFF2-40B4-BE49-F238E27FC236}">
                  <a16:creationId xmlns:a16="http://schemas.microsoft.com/office/drawing/2014/main" id="{F8473AB6-8396-D456-63CF-0673E698F1AE}"/>
                </a:ext>
              </a:extLst>
            </p:cNvPr>
            <p:cNvSpPr/>
            <p:nvPr/>
          </p:nvSpPr>
          <p:spPr>
            <a:xfrm rot="17946153" flipH="1">
              <a:off x="6962441" y="1267198"/>
              <a:ext cx="272997" cy="173252"/>
            </a:xfrm>
            <a:prstGeom prst="rightArrow">
              <a:avLst>
                <a:gd name="adj1" fmla="val 38550"/>
                <a:gd name="adj2" fmla="val 27100"/>
              </a:avLst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0" name="Block Arc 89">
              <a:extLst>
                <a:ext uri="{FF2B5EF4-FFF2-40B4-BE49-F238E27FC236}">
                  <a16:creationId xmlns:a16="http://schemas.microsoft.com/office/drawing/2014/main" id="{62007DC9-1451-BCDC-BDE2-BB84BDFBD64F}"/>
                </a:ext>
              </a:extLst>
            </p:cNvPr>
            <p:cNvSpPr/>
            <p:nvPr/>
          </p:nvSpPr>
          <p:spPr>
            <a:xfrm flipV="1">
              <a:off x="6353610" y="815879"/>
              <a:ext cx="619097" cy="619097"/>
            </a:xfrm>
            <a:prstGeom prst="blockArc">
              <a:avLst>
                <a:gd name="adj1" fmla="val 14017464"/>
                <a:gd name="adj2" fmla="val 18461169"/>
                <a:gd name="adj3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3" name="Content Placeholder 14">
              <a:extLst>
                <a:ext uri="{FF2B5EF4-FFF2-40B4-BE49-F238E27FC236}">
                  <a16:creationId xmlns:a16="http://schemas.microsoft.com/office/drawing/2014/main" id="{1FA3939F-35E2-287B-9B2B-42C59C6039E8}"/>
                </a:ext>
              </a:extLst>
            </p:cNvPr>
            <p:cNvSpPr txBox="1">
              <a:spLocks/>
            </p:cNvSpPr>
            <p:nvPr/>
          </p:nvSpPr>
          <p:spPr>
            <a:xfrm>
              <a:off x="5482687" y="752490"/>
              <a:ext cx="1070011" cy="36259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42900" indent="-3429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6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ts val="1000"/>
                </a:spcBef>
                <a:spcAft>
                  <a:spcPts val="0"/>
                </a:spcAft>
                <a:buClr>
                  <a:schemeClr val="accent1"/>
                </a:buClr>
                <a:buSzPct val="80000"/>
                <a:buFont typeface="Wingdings 3" charset="2"/>
                <a:buChar char=""/>
                <a:defRPr sz="12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/>
                <a:t>fingers</a:t>
              </a:r>
              <a:endParaRPr lang="en-GB" sz="1400" dirty="0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F1FD6E6-E2DA-C260-84E5-93E820231A15}"/>
              </a:ext>
            </a:extLst>
          </p:cNvPr>
          <p:cNvSpPr/>
          <p:nvPr/>
        </p:nvSpPr>
        <p:spPr>
          <a:xfrm>
            <a:off x="7070912" y="372088"/>
            <a:ext cx="3966882" cy="582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Good enough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6472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EF77-A5A3-AD65-F15C-D79AA143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67D53-1192-3AC3-6667-6682C265F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Dev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E8326-AEC3-5ACB-3C0D-9D7B3F31B9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Diagram creation and other partial content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0743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27BE917-1D92-94F6-B482-A62B7253A3C3}"/>
              </a:ext>
            </a:extLst>
          </p:cNvPr>
          <p:cNvGrpSpPr/>
          <p:nvPr/>
        </p:nvGrpSpPr>
        <p:grpSpPr>
          <a:xfrm>
            <a:off x="9291099" y="-704126"/>
            <a:ext cx="2370744" cy="4852213"/>
            <a:chOff x="8313944" y="1345704"/>
            <a:chExt cx="2370744" cy="4852213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21F0DDB-2531-7D42-2806-F091BBBD2350}"/>
                </a:ext>
              </a:extLst>
            </p:cNvPr>
            <p:cNvSpPr/>
            <p:nvPr/>
          </p:nvSpPr>
          <p:spPr>
            <a:xfrm>
              <a:off x="8540400" y="1529028"/>
              <a:ext cx="1917832" cy="435092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1DCE31-76B5-80E5-E758-215D8F689EC9}"/>
                </a:ext>
              </a:extLst>
            </p:cNvPr>
            <p:cNvSpPr/>
            <p:nvPr/>
          </p:nvSpPr>
          <p:spPr>
            <a:xfrm>
              <a:off x="8540400" y="5194155"/>
              <a:ext cx="1917832" cy="10037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24D53922-4A30-33D6-A60A-EA61BB40B625}"/>
                </a:ext>
              </a:extLst>
            </p:cNvPr>
            <p:cNvSpPr/>
            <p:nvPr/>
          </p:nvSpPr>
          <p:spPr>
            <a:xfrm flipH="1">
              <a:off x="9214419" y="1975772"/>
              <a:ext cx="576557" cy="4222145"/>
            </a:xfrm>
            <a:prstGeom prst="trapezoid">
              <a:avLst>
                <a:gd name="adj" fmla="val 50000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Trapezoid 13">
              <a:extLst>
                <a:ext uri="{FF2B5EF4-FFF2-40B4-BE49-F238E27FC236}">
                  <a16:creationId xmlns:a16="http://schemas.microsoft.com/office/drawing/2014/main" id="{4F85B4B3-41AD-0A9C-D280-F02CDD60A697}"/>
                </a:ext>
              </a:extLst>
            </p:cNvPr>
            <p:cNvSpPr/>
            <p:nvPr/>
          </p:nvSpPr>
          <p:spPr>
            <a:xfrm flipV="1">
              <a:off x="8313944" y="3160058"/>
              <a:ext cx="2370744" cy="510987"/>
            </a:xfrm>
            <a:prstGeom prst="trapezoid">
              <a:avLst>
                <a:gd name="adj" fmla="val 21561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560BB9-7600-6D8D-390D-A9BADB368E25}"/>
                </a:ext>
              </a:extLst>
            </p:cNvPr>
            <p:cNvSpPr/>
            <p:nvPr/>
          </p:nvSpPr>
          <p:spPr>
            <a:xfrm>
              <a:off x="8417859" y="1345704"/>
              <a:ext cx="2162914" cy="18143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A273668-E563-FD1F-933B-8D40AAB16C4F}"/>
              </a:ext>
            </a:extLst>
          </p:cNvPr>
          <p:cNvGrpSpPr/>
          <p:nvPr/>
        </p:nvGrpSpPr>
        <p:grpSpPr>
          <a:xfrm>
            <a:off x="178478" y="156395"/>
            <a:ext cx="1652103" cy="2658674"/>
            <a:chOff x="6263849" y="2694551"/>
            <a:chExt cx="1652103" cy="265867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64D9375-5214-1163-7E9F-57C998095271}"/>
                </a:ext>
              </a:extLst>
            </p:cNvPr>
            <p:cNvSpPr/>
            <p:nvPr/>
          </p:nvSpPr>
          <p:spPr>
            <a:xfrm>
              <a:off x="6263849" y="2694551"/>
              <a:ext cx="1652103" cy="235575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rapezoid 23">
              <a:extLst>
                <a:ext uri="{FF2B5EF4-FFF2-40B4-BE49-F238E27FC236}">
                  <a16:creationId xmlns:a16="http://schemas.microsoft.com/office/drawing/2014/main" id="{621D6AFC-66A5-3496-1F3E-E59B7A832931}"/>
                </a:ext>
              </a:extLst>
            </p:cNvPr>
            <p:cNvSpPr/>
            <p:nvPr/>
          </p:nvSpPr>
          <p:spPr>
            <a:xfrm flipH="1">
              <a:off x="6791066" y="2826353"/>
              <a:ext cx="583575" cy="2526872"/>
            </a:xfrm>
            <a:prstGeom prst="trapezoid">
              <a:avLst>
                <a:gd name="adj" fmla="val 29821"/>
              </a:avLst>
            </a:prstGeom>
            <a:solidFill>
              <a:srgbClr val="9966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33E9ED-8C14-1A3F-CDDA-C9604C73EABB}"/>
              </a:ext>
            </a:extLst>
          </p:cNvPr>
          <p:cNvGrpSpPr/>
          <p:nvPr/>
        </p:nvGrpSpPr>
        <p:grpSpPr>
          <a:xfrm>
            <a:off x="1153039" y="156395"/>
            <a:ext cx="2233814" cy="2658674"/>
            <a:chOff x="6242598" y="223822"/>
            <a:chExt cx="2233814" cy="2658674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D747313-3549-9666-9F40-5F29A14BDD5F}"/>
                </a:ext>
              </a:extLst>
            </p:cNvPr>
            <p:cNvGrpSpPr/>
            <p:nvPr/>
          </p:nvGrpSpPr>
          <p:grpSpPr>
            <a:xfrm>
              <a:off x="6456508" y="223822"/>
              <a:ext cx="1652103" cy="2658674"/>
              <a:chOff x="3686290" y="2694551"/>
              <a:chExt cx="1652103" cy="2658674"/>
            </a:xfrm>
          </p:grpSpPr>
          <p:sp>
            <p:nvSpPr>
              <p:cNvPr id="42" name="Partial Circle 41">
                <a:extLst>
                  <a:ext uri="{FF2B5EF4-FFF2-40B4-BE49-F238E27FC236}">
                    <a16:creationId xmlns:a16="http://schemas.microsoft.com/office/drawing/2014/main" id="{1D583ACB-E1ED-AFD7-14E6-B572E73C8BF7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3" name="Trapezoid 42">
                <a:extLst>
                  <a:ext uri="{FF2B5EF4-FFF2-40B4-BE49-F238E27FC236}">
                    <a16:creationId xmlns:a16="http://schemas.microsoft.com/office/drawing/2014/main" id="{FB2F28B8-6613-CE8B-5698-D7FBF7725B74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593E426-C563-634A-213C-E27EF1682F27}"/>
                </a:ext>
              </a:extLst>
            </p:cNvPr>
            <p:cNvGrpSpPr/>
            <p:nvPr/>
          </p:nvGrpSpPr>
          <p:grpSpPr>
            <a:xfrm rot="4200000">
              <a:off x="7538951" y="776674"/>
              <a:ext cx="495631" cy="797602"/>
              <a:chOff x="6263849" y="2694551"/>
              <a:chExt cx="1652103" cy="265867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29D6342-7EE7-FD2B-B9BB-B2835EE44B47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rapezoid 45">
                <a:extLst>
                  <a:ext uri="{FF2B5EF4-FFF2-40B4-BE49-F238E27FC236}">
                    <a16:creationId xmlns:a16="http://schemas.microsoft.com/office/drawing/2014/main" id="{F4E191ED-BF86-91EE-9CDC-8CD4A62C61E2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A644E3-4EA4-9517-F229-B0E4E4AD3D9C}"/>
                </a:ext>
              </a:extLst>
            </p:cNvPr>
            <p:cNvGrpSpPr/>
            <p:nvPr/>
          </p:nvGrpSpPr>
          <p:grpSpPr>
            <a:xfrm rot="-4500000">
              <a:off x="6418748" y="1013780"/>
              <a:ext cx="578236" cy="930536"/>
              <a:chOff x="6263849" y="2694551"/>
              <a:chExt cx="1652103" cy="2658674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C434AF5-93F5-9334-4508-5B6A63456BC1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9" name="Trapezoid 48">
                <a:extLst>
                  <a:ext uri="{FF2B5EF4-FFF2-40B4-BE49-F238E27FC236}">
                    <a16:creationId xmlns:a16="http://schemas.microsoft.com/office/drawing/2014/main" id="{E01DF3C0-2504-F2B8-A978-5EF17A9F569D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D33C460F-E221-8309-A0AD-8B8FAAD7208D}"/>
                </a:ext>
              </a:extLst>
            </p:cNvPr>
            <p:cNvGrpSpPr/>
            <p:nvPr/>
          </p:nvGrpSpPr>
          <p:grpSpPr>
            <a:xfrm rot="4800000">
              <a:off x="7614256" y="1356339"/>
              <a:ext cx="660841" cy="1063470"/>
              <a:chOff x="6263849" y="2694551"/>
              <a:chExt cx="1652103" cy="265867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C9BDBA5A-710F-0F3B-BD22-8912692F345F}"/>
                  </a:ext>
                </a:extLst>
              </p:cNvPr>
              <p:cNvSpPr/>
              <p:nvPr/>
            </p:nvSpPr>
            <p:spPr>
              <a:xfrm>
                <a:off x="6263849" y="2694551"/>
                <a:ext cx="1652103" cy="235575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2" name="Trapezoid 51">
                <a:extLst>
                  <a:ext uri="{FF2B5EF4-FFF2-40B4-BE49-F238E27FC236}">
                    <a16:creationId xmlns:a16="http://schemas.microsoft.com/office/drawing/2014/main" id="{0EE19EF7-E7F4-4041-AE03-F3616FC0D238}"/>
                  </a:ext>
                </a:extLst>
              </p:cNvPr>
              <p:cNvSpPr/>
              <p:nvPr/>
            </p:nvSpPr>
            <p:spPr>
              <a:xfrm flipH="1">
                <a:off x="6791066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78C76AD-10C4-A40B-940D-ABAE74CFE837}"/>
              </a:ext>
            </a:extLst>
          </p:cNvPr>
          <p:cNvGrpSpPr/>
          <p:nvPr/>
        </p:nvGrpSpPr>
        <p:grpSpPr>
          <a:xfrm>
            <a:off x="3447981" y="166705"/>
            <a:ext cx="2301634" cy="2658674"/>
            <a:chOff x="2786419" y="3445339"/>
            <a:chExt cx="2301634" cy="2658674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581FDB04-338A-CAC7-4BB6-B1724163F003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35" name="Partial Circle 134">
                <a:extLst>
                  <a:ext uri="{FF2B5EF4-FFF2-40B4-BE49-F238E27FC236}">
                    <a16:creationId xmlns:a16="http://schemas.microsoft.com/office/drawing/2014/main" id="{E5D106B8-4916-EC31-DA80-081019E8798A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36" name="Trapezoid 135">
                <a:extLst>
                  <a:ext uri="{FF2B5EF4-FFF2-40B4-BE49-F238E27FC236}">
                    <a16:creationId xmlns:a16="http://schemas.microsoft.com/office/drawing/2014/main" id="{03C61428-63AA-6D27-CE2B-AC6D03BABD9A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42838FB4-5081-552B-40CF-1E146F1DCE8D}"/>
                </a:ext>
              </a:extLst>
            </p:cNvPr>
            <p:cNvGrpSpPr/>
            <p:nvPr/>
          </p:nvGrpSpPr>
          <p:grpSpPr>
            <a:xfrm rot="4200000">
              <a:off x="4079468" y="4012660"/>
              <a:ext cx="660841" cy="797602"/>
              <a:chOff x="6242598" y="223822"/>
              <a:chExt cx="2233814" cy="2658674"/>
            </a:xfrm>
          </p:grpSpPr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5E79C77-AE82-A94C-2CC8-7063E46D3064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33" name="Partial Circle 132">
                  <a:extLst>
                    <a:ext uri="{FF2B5EF4-FFF2-40B4-BE49-F238E27FC236}">
                      <a16:creationId xmlns:a16="http://schemas.microsoft.com/office/drawing/2014/main" id="{31C690B8-A8F8-A1FD-7551-34DF0B90E11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4" name="Trapezoid 133">
                  <a:extLst>
                    <a:ext uri="{FF2B5EF4-FFF2-40B4-BE49-F238E27FC236}">
                      <a16:creationId xmlns:a16="http://schemas.microsoft.com/office/drawing/2014/main" id="{F115EAE5-2798-2ED2-A6EC-CC6DB49C878B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1F0B555E-FD80-E7C4-3877-F355FD77B54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3C93E2A2-7242-1EEC-6444-4C35BF95BE77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2" name="Trapezoid 131">
                  <a:extLst>
                    <a:ext uri="{FF2B5EF4-FFF2-40B4-BE49-F238E27FC236}">
                      <a16:creationId xmlns:a16="http://schemas.microsoft.com/office/drawing/2014/main" id="{7A2CC21C-0EE6-A270-DB5A-F8F9A33C44D3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7A4B080C-64E1-F57E-B7A6-8ACE4EA97CA2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131BE8D7-1035-7CA4-0079-415A84C6F65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30" name="Trapezoid 129">
                  <a:extLst>
                    <a:ext uri="{FF2B5EF4-FFF2-40B4-BE49-F238E27FC236}">
                      <a16:creationId xmlns:a16="http://schemas.microsoft.com/office/drawing/2014/main" id="{022D6CA7-0712-F8A8-A223-30EFA3C0CE0C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B96681-E487-D7C8-062B-1F81B98D730F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10D8DDD7-F51C-5563-36A1-7FB2AE7B1F9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8" name="Trapezoid 127">
                  <a:extLst>
                    <a:ext uri="{FF2B5EF4-FFF2-40B4-BE49-F238E27FC236}">
                      <a16:creationId xmlns:a16="http://schemas.microsoft.com/office/drawing/2014/main" id="{686B95C0-1CF4-0DAB-C133-05E434F20EFA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746263F0-9623-2D44-3861-2EBFEDB28E71}"/>
                </a:ext>
              </a:extLst>
            </p:cNvPr>
            <p:cNvGrpSpPr/>
            <p:nvPr/>
          </p:nvGrpSpPr>
          <p:grpSpPr>
            <a:xfrm rot="-4500000" flipH="1">
              <a:off x="2860769" y="4316583"/>
              <a:ext cx="781835" cy="930536"/>
              <a:chOff x="6242598" y="223822"/>
              <a:chExt cx="2233814" cy="2658674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92C51374-B2C9-A183-C681-B2E8CEDD00B6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21" name="Partial Circle 120">
                  <a:extLst>
                    <a:ext uri="{FF2B5EF4-FFF2-40B4-BE49-F238E27FC236}">
                      <a16:creationId xmlns:a16="http://schemas.microsoft.com/office/drawing/2014/main" id="{AC96C636-86EF-688A-0944-DE04153259F1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2" name="Trapezoid 121">
                  <a:extLst>
                    <a:ext uri="{FF2B5EF4-FFF2-40B4-BE49-F238E27FC236}">
                      <a16:creationId xmlns:a16="http://schemas.microsoft.com/office/drawing/2014/main" id="{0A95D954-4D31-0D7C-0A2F-6E8E77330081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05F76BC3-5859-29F6-177F-8D35625733C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D26E1C8-52F6-30C8-9B6B-E3A075ABF233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20" name="Trapezoid 119">
                  <a:extLst>
                    <a:ext uri="{FF2B5EF4-FFF2-40B4-BE49-F238E27FC236}">
                      <a16:creationId xmlns:a16="http://schemas.microsoft.com/office/drawing/2014/main" id="{43481163-AE70-AC7C-6EAE-CF5E42136235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A182CA81-5262-39FF-20BC-95FA4730B9ED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09E81ADC-F97D-DC0D-5B23-FBDA52865616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8" name="Trapezoid 117">
                  <a:extLst>
                    <a:ext uri="{FF2B5EF4-FFF2-40B4-BE49-F238E27FC236}">
                      <a16:creationId xmlns:a16="http://schemas.microsoft.com/office/drawing/2014/main" id="{C530A786-3305-E205-892A-FF8BD2B9A89E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448BA790-31BA-C1E1-412B-8F2ACF569846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44F16D70-E21B-C87A-F040-5FB409C91EE4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6" name="Trapezoid 115">
                  <a:extLst>
                    <a:ext uri="{FF2B5EF4-FFF2-40B4-BE49-F238E27FC236}">
                      <a16:creationId xmlns:a16="http://schemas.microsoft.com/office/drawing/2014/main" id="{A5B173F3-B2FF-4273-1601-47BE636CBBCB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54B98703-9ECC-349C-0047-40424CD661F5}"/>
                </a:ext>
              </a:extLst>
            </p:cNvPr>
            <p:cNvGrpSpPr/>
            <p:nvPr/>
          </p:nvGrpSpPr>
          <p:grpSpPr>
            <a:xfrm rot="4800000">
              <a:off x="4109555" y="4769353"/>
              <a:ext cx="893526" cy="1063470"/>
              <a:chOff x="6242598" y="223822"/>
              <a:chExt cx="2233814" cy="2658674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48EC1725-79EE-A58B-4E78-5FCACF50C21F}"/>
                  </a:ext>
                </a:extLst>
              </p:cNvPr>
              <p:cNvGrpSpPr/>
              <p:nvPr/>
            </p:nvGrpSpPr>
            <p:grpSpPr>
              <a:xfrm>
                <a:off x="6456508" y="223822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109" name="Partial Circle 108">
                  <a:extLst>
                    <a:ext uri="{FF2B5EF4-FFF2-40B4-BE49-F238E27FC236}">
                      <a16:creationId xmlns:a16="http://schemas.microsoft.com/office/drawing/2014/main" id="{DC5F8E20-4FF3-90DC-718D-26D274DC7E6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10" name="Trapezoid 109">
                  <a:extLst>
                    <a:ext uri="{FF2B5EF4-FFF2-40B4-BE49-F238E27FC236}">
                      <a16:creationId xmlns:a16="http://schemas.microsoft.com/office/drawing/2014/main" id="{DDFAF966-934D-3C93-63B5-34EA9CC55729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5870B3DE-27BD-1F61-52C4-9D240576EF3D}"/>
                  </a:ext>
                </a:extLst>
              </p:cNvPr>
              <p:cNvGrpSpPr/>
              <p:nvPr/>
            </p:nvGrpSpPr>
            <p:grpSpPr>
              <a:xfrm rot="4200000">
                <a:off x="7538951" y="776674"/>
                <a:ext cx="495631" cy="797602"/>
                <a:chOff x="6263849" y="2694551"/>
                <a:chExt cx="1652103" cy="2658674"/>
              </a:xfrm>
            </p:grpSpPr>
            <p:sp>
              <p:nvSpPr>
                <p:cNvPr id="107" name="Oval 106">
                  <a:extLst>
                    <a:ext uri="{FF2B5EF4-FFF2-40B4-BE49-F238E27FC236}">
                      <a16:creationId xmlns:a16="http://schemas.microsoft.com/office/drawing/2014/main" id="{D4656167-8157-7B64-2709-DEBA2C3B8E5B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8" name="Trapezoid 107">
                  <a:extLst>
                    <a:ext uri="{FF2B5EF4-FFF2-40B4-BE49-F238E27FC236}">
                      <a16:creationId xmlns:a16="http://schemas.microsoft.com/office/drawing/2014/main" id="{FF567128-7CC1-6CBB-4521-CAC6081384BA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1838CD86-F81F-2BA3-FDE7-8F475D9508CE}"/>
                  </a:ext>
                </a:extLst>
              </p:cNvPr>
              <p:cNvGrpSpPr/>
              <p:nvPr/>
            </p:nvGrpSpPr>
            <p:grpSpPr>
              <a:xfrm rot="-4500000">
                <a:off x="6418748" y="1013780"/>
                <a:ext cx="578236" cy="930536"/>
                <a:chOff x="6263849" y="2694551"/>
                <a:chExt cx="1652103" cy="2658674"/>
              </a:xfrm>
            </p:grpSpPr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E8D8F814-19E8-11FE-AE84-CEECB58ED7DE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6" name="Trapezoid 105">
                  <a:extLst>
                    <a:ext uri="{FF2B5EF4-FFF2-40B4-BE49-F238E27FC236}">
                      <a16:creationId xmlns:a16="http://schemas.microsoft.com/office/drawing/2014/main" id="{68C3C1C9-2765-97BD-4505-CF9E228CC7C5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3018F734-34E7-361F-C103-A09ED4191BBF}"/>
                  </a:ext>
                </a:extLst>
              </p:cNvPr>
              <p:cNvGrpSpPr/>
              <p:nvPr/>
            </p:nvGrpSpPr>
            <p:grpSpPr>
              <a:xfrm rot="4800000">
                <a:off x="7614256" y="1356339"/>
                <a:ext cx="660841" cy="1063470"/>
                <a:chOff x="6263849" y="2694551"/>
                <a:chExt cx="1652103" cy="2658674"/>
              </a:xfrm>
            </p:grpSpPr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22192942-4116-C72A-6047-98EA08F2D6A0}"/>
                    </a:ext>
                  </a:extLst>
                </p:cNvPr>
                <p:cNvSpPr/>
                <p:nvPr/>
              </p:nvSpPr>
              <p:spPr>
                <a:xfrm>
                  <a:off x="6263849" y="2694551"/>
                  <a:ext cx="1652103" cy="2355751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4" name="Trapezoid 103">
                  <a:extLst>
                    <a:ext uri="{FF2B5EF4-FFF2-40B4-BE49-F238E27FC236}">
                      <a16:creationId xmlns:a16="http://schemas.microsoft.com/office/drawing/2014/main" id="{484F9B52-A8A1-B9CF-5FC3-FE924076D564}"/>
                    </a:ext>
                  </a:extLst>
                </p:cNvPr>
                <p:cNvSpPr/>
                <p:nvPr/>
              </p:nvSpPr>
              <p:spPr>
                <a:xfrm flipH="1">
                  <a:off x="6791066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D5423F15-572B-7448-195C-E732465586AF}"/>
              </a:ext>
            </a:extLst>
          </p:cNvPr>
          <p:cNvGrpSpPr/>
          <p:nvPr/>
        </p:nvGrpSpPr>
        <p:grpSpPr>
          <a:xfrm>
            <a:off x="2878293" y="3332021"/>
            <a:ext cx="1819317" cy="2126939"/>
            <a:chOff x="2819860" y="3445339"/>
            <a:chExt cx="2274146" cy="265867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FBF5040-0145-0F27-9247-6DF5243859DE}"/>
                </a:ext>
              </a:extLst>
            </p:cNvPr>
            <p:cNvGrpSpPr/>
            <p:nvPr/>
          </p:nvGrpSpPr>
          <p:grpSpPr>
            <a:xfrm>
              <a:off x="3074658" y="3445339"/>
              <a:ext cx="1652103" cy="2658674"/>
              <a:chOff x="3686290" y="2694551"/>
              <a:chExt cx="1652103" cy="2658674"/>
            </a:xfrm>
          </p:grpSpPr>
          <p:sp>
            <p:nvSpPr>
              <p:cNvPr id="17" name="Partial Circle 16">
                <a:extLst>
                  <a:ext uri="{FF2B5EF4-FFF2-40B4-BE49-F238E27FC236}">
                    <a16:creationId xmlns:a16="http://schemas.microsoft.com/office/drawing/2014/main" id="{29C96EB8-1487-2A17-D25D-C7CC43CA0249}"/>
                  </a:ext>
                </a:extLst>
              </p:cNvPr>
              <p:cNvSpPr/>
              <p:nvPr/>
            </p:nvSpPr>
            <p:spPr>
              <a:xfrm>
                <a:off x="3686290" y="2694551"/>
                <a:ext cx="1652103" cy="1497621"/>
              </a:xfrm>
              <a:prstGeom prst="pie">
                <a:avLst>
                  <a:gd name="adj1" fmla="val 11793460"/>
                  <a:gd name="adj2" fmla="val 20592665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CF6A1824-436E-5E2C-F3C5-66FD7E10615E}"/>
                  </a:ext>
                </a:extLst>
              </p:cNvPr>
              <p:cNvSpPr/>
              <p:nvPr/>
            </p:nvSpPr>
            <p:spPr>
              <a:xfrm flipH="1">
                <a:off x="4213507" y="2826353"/>
                <a:ext cx="583575" cy="2526872"/>
              </a:xfrm>
              <a:prstGeom prst="trapezoid">
                <a:avLst>
                  <a:gd name="adj" fmla="val 29821"/>
                </a:avLst>
              </a:prstGeom>
              <a:solidFill>
                <a:srgbClr val="9966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1927CD99-7E3B-AD5B-E855-43B090BC4282}"/>
                </a:ext>
              </a:extLst>
            </p:cNvPr>
            <p:cNvGrpSpPr/>
            <p:nvPr/>
          </p:nvGrpSpPr>
          <p:grpSpPr>
            <a:xfrm rot="4200000">
              <a:off x="4067236" y="4008546"/>
              <a:ext cx="690490" cy="797602"/>
              <a:chOff x="2786419" y="3445339"/>
              <a:chExt cx="2301634" cy="2658674"/>
            </a:xfrm>
          </p:grpSpPr>
          <p:grpSp>
            <p:nvGrpSpPr>
              <p:cNvPr id="224" name="Group 223">
                <a:extLst>
                  <a:ext uri="{FF2B5EF4-FFF2-40B4-BE49-F238E27FC236}">
                    <a16:creationId xmlns:a16="http://schemas.microsoft.com/office/drawing/2014/main" id="{FFCD7212-A7B0-A88E-DACF-DA7A94751124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264" name="Partial Circle 263">
                  <a:extLst>
                    <a:ext uri="{FF2B5EF4-FFF2-40B4-BE49-F238E27FC236}">
                      <a16:creationId xmlns:a16="http://schemas.microsoft.com/office/drawing/2014/main" id="{CC2E2397-3930-C198-2FE8-68AF179FA38D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5" name="Trapezoid 264">
                  <a:extLst>
                    <a:ext uri="{FF2B5EF4-FFF2-40B4-BE49-F238E27FC236}">
                      <a16:creationId xmlns:a16="http://schemas.microsoft.com/office/drawing/2014/main" id="{2523200B-828E-05A1-F68E-2F222B43CF66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9912E4AE-572B-F629-F92E-25D536B08B82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1C09AE34-F20A-74F1-357B-20A9E89D057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62" name="Partial Circle 261">
                    <a:extLst>
                      <a:ext uri="{FF2B5EF4-FFF2-40B4-BE49-F238E27FC236}">
                        <a16:creationId xmlns:a16="http://schemas.microsoft.com/office/drawing/2014/main" id="{1699F4D3-5FAB-0D12-E63E-8F8D05D61E9B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63" name="Trapezoid 262">
                    <a:extLst>
                      <a:ext uri="{FF2B5EF4-FFF2-40B4-BE49-F238E27FC236}">
                        <a16:creationId xmlns:a16="http://schemas.microsoft.com/office/drawing/2014/main" id="{CE75AFCA-64E2-69D5-7618-056B03FFE9EB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859EA4F1-4537-DCBC-E8C3-6B6BE6B3876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60" name="Oval 259">
                    <a:extLst>
                      <a:ext uri="{FF2B5EF4-FFF2-40B4-BE49-F238E27FC236}">
                        <a16:creationId xmlns:a16="http://schemas.microsoft.com/office/drawing/2014/main" id="{68D622EC-7DBB-839B-A159-0F88E4A6FB9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61" name="Trapezoid 260">
                    <a:extLst>
                      <a:ext uri="{FF2B5EF4-FFF2-40B4-BE49-F238E27FC236}">
                        <a16:creationId xmlns:a16="http://schemas.microsoft.com/office/drawing/2014/main" id="{819412B7-DB94-F0AD-5208-01617667B4A5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403414E6-9891-E38A-A577-6771350F30D5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58" name="Oval 257">
                    <a:extLst>
                      <a:ext uri="{FF2B5EF4-FFF2-40B4-BE49-F238E27FC236}">
                        <a16:creationId xmlns:a16="http://schemas.microsoft.com/office/drawing/2014/main" id="{C1250192-A0A7-4EED-1546-64D2D64EB1CE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9" name="Trapezoid 258">
                    <a:extLst>
                      <a:ext uri="{FF2B5EF4-FFF2-40B4-BE49-F238E27FC236}">
                        <a16:creationId xmlns:a16="http://schemas.microsoft.com/office/drawing/2014/main" id="{36DE37BF-79E6-9F40-4C84-1EB225F21A3C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55" name="Group 254">
                  <a:extLst>
                    <a:ext uri="{FF2B5EF4-FFF2-40B4-BE49-F238E27FC236}">
                      <a16:creationId xmlns:a16="http://schemas.microsoft.com/office/drawing/2014/main" id="{D4E4C456-A3AB-F92F-B0E8-08D71554A01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56" name="Oval 255">
                    <a:extLst>
                      <a:ext uri="{FF2B5EF4-FFF2-40B4-BE49-F238E27FC236}">
                        <a16:creationId xmlns:a16="http://schemas.microsoft.com/office/drawing/2014/main" id="{40240539-90CA-F57D-CE91-45C4A9A14CD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7" name="Trapezoid 256">
                    <a:extLst>
                      <a:ext uri="{FF2B5EF4-FFF2-40B4-BE49-F238E27FC236}">
                        <a16:creationId xmlns:a16="http://schemas.microsoft.com/office/drawing/2014/main" id="{3A7709EB-2D47-2AC3-843E-8E64ABCBAE6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40DDED72-9793-8BD4-93DC-5DC62DCCD086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B0632FAF-016C-ED00-854E-B1E9C11EC485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50" name="Partial Circle 249">
                    <a:extLst>
                      <a:ext uri="{FF2B5EF4-FFF2-40B4-BE49-F238E27FC236}">
                        <a16:creationId xmlns:a16="http://schemas.microsoft.com/office/drawing/2014/main" id="{C04ACB6C-BD35-8462-8F5C-165191AE5760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51" name="Trapezoid 250">
                    <a:extLst>
                      <a:ext uri="{FF2B5EF4-FFF2-40B4-BE49-F238E27FC236}">
                        <a16:creationId xmlns:a16="http://schemas.microsoft.com/office/drawing/2014/main" id="{0C043605-AA9D-51CE-5387-86DCBBBF0DBC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F5028711-2854-C87C-C4EF-09FD4366B97A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48" name="Oval 247">
                    <a:extLst>
                      <a:ext uri="{FF2B5EF4-FFF2-40B4-BE49-F238E27FC236}">
                        <a16:creationId xmlns:a16="http://schemas.microsoft.com/office/drawing/2014/main" id="{6B41F695-F463-7DE8-E310-898B1B5806D6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9" name="Trapezoid 248">
                    <a:extLst>
                      <a:ext uri="{FF2B5EF4-FFF2-40B4-BE49-F238E27FC236}">
                        <a16:creationId xmlns:a16="http://schemas.microsoft.com/office/drawing/2014/main" id="{D90FFAEA-5EBD-A3C9-2863-221D331D20A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388C4753-5205-EAB3-5F0C-4AC2F66FF842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46" name="Oval 245">
                    <a:extLst>
                      <a:ext uri="{FF2B5EF4-FFF2-40B4-BE49-F238E27FC236}">
                        <a16:creationId xmlns:a16="http://schemas.microsoft.com/office/drawing/2014/main" id="{FA7D33BB-72BE-77AF-D2CE-741C65283D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7" name="Trapezoid 246">
                    <a:extLst>
                      <a:ext uri="{FF2B5EF4-FFF2-40B4-BE49-F238E27FC236}">
                        <a16:creationId xmlns:a16="http://schemas.microsoft.com/office/drawing/2014/main" id="{A2EF80ED-0AA1-7C72-B8B7-119418846781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AA38DE0F-101B-8B2E-F684-C0793D5ADA76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44" name="Oval 243">
                    <a:extLst>
                      <a:ext uri="{FF2B5EF4-FFF2-40B4-BE49-F238E27FC236}">
                        <a16:creationId xmlns:a16="http://schemas.microsoft.com/office/drawing/2014/main" id="{9EB62D1F-A6F7-DBC6-6D53-F1B6E3F15D2F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45" name="Trapezoid 244">
                    <a:extLst>
                      <a:ext uri="{FF2B5EF4-FFF2-40B4-BE49-F238E27FC236}">
                        <a16:creationId xmlns:a16="http://schemas.microsoft.com/office/drawing/2014/main" id="{FC50BE34-59E8-9128-D131-48614A67026E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27" name="Group 226">
                <a:extLst>
                  <a:ext uri="{FF2B5EF4-FFF2-40B4-BE49-F238E27FC236}">
                    <a16:creationId xmlns:a16="http://schemas.microsoft.com/office/drawing/2014/main" id="{B1F903AD-9880-D453-8A92-BC9FEF0CB763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14F1F8C8-D048-C0BF-D5AB-034AA4BCA622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38" name="Partial Circle 237">
                    <a:extLst>
                      <a:ext uri="{FF2B5EF4-FFF2-40B4-BE49-F238E27FC236}">
                        <a16:creationId xmlns:a16="http://schemas.microsoft.com/office/drawing/2014/main" id="{E70C629F-9A8A-693C-D0F5-6B3CB41D92B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9" name="Trapezoid 238">
                    <a:extLst>
                      <a:ext uri="{FF2B5EF4-FFF2-40B4-BE49-F238E27FC236}">
                        <a16:creationId xmlns:a16="http://schemas.microsoft.com/office/drawing/2014/main" id="{AE822E16-7751-1118-81A7-AB922A35D538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8B7D699D-EDAB-61D8-8799-0F53E45599F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36" name="Oval 235">
                    <a:extLst>
                      <a:ext uri="{FF2B5EF4-FFF2-40B4-BE49-F238E27FC236}">
                        <a16:creationId xmlns:a16="http://schemas.microsoft.com/office/drawing/2014/main" id="{8CABFF53-FC60-6699-9AAA-BA3CAD57C45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7" name="Trapezoid 236">
                    <a:extLst>
                      <a:ext uri="{FF2B5EF4-FFF2-40B4-BE49-F238E27FC236}">
                        <a16:creationId xmlns:a16="http://schemas.microsoft.com/office/drawing/2014/main" id="{5F086966-DA55-32CE-D0A3-D036FEA63C8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88190D29-2064-F464-47BA-8162AAB7CAE8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65D4E72B-6D3E-686F-5A75-DA352D502DF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5" name="Trapezoid 234">
                    <a:extLst>
                      <a:ext uri="{FF2B5EF4-FFF2-40B4-BE49-F238E27FC236}">
                        <a16:creationId xmlns:a16="http://schemas.microsoft.com/office/drawing/2014/main" id="{486C1BFC-328A-8E2D-3781-6812FD81877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8680C112-F308-9B44-AD6D-EA63B20184C9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793140BE-6881-9DA3-285B-EEED8E24AA2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33" name="Trapezoid 232">
                    <a:extLst>
                      <a:ext uri="{FF2B5EF4-FFF2-40B4-BE49-F238E27FC236}">
                        <a16:creationId xmlns:a16="http://schemas.microsoft.com/office/drawing/2014/main" id="{2DCCF7AD-7528-CA51-E097-4DAB49B1F4AD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7713854C-A6F6-771F-97A3-3988111A66C0}"/>
                </a:ext>
              </a:extLst>
            </p:cNvPr>
            <p:cNvGrpSpPr/>
            <p:nvPr/>
          </p:nvGrpSpPr>
          <p:grpSpPr>
            <a:xfrm rot="-4500000" flipH="1">
              <a:off x="2882342" y="4292077"/>
              <a:ext cx="805572" cy="930536"/>
              <a:chOff x="2786419" y="3445339"/>
              <a:chExt cx="2301634" cy="2658674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E27E8154-8107-EB68-25D8-68504AF6D605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307" name="Partial Circle 306">
                  <a:extLst>
                    <a:ext uri="{FF2B5EF4-FFF2-40B4-BE49-F238E27FC236}">
                      <a16:creationId xmlns:a16="http://schemas.microsoft.com/office/drawing/2014/main" id="{8D7799CF-EF84-00B1-BB48-F1C8046B02B6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08" name="Trapezoid 307">
                  <a:extLst>
                    <a:ext uri="{FF2B5EF4-FFF2-40B4-BE49-F238E27FC236}">
                      <a16:creationId xmlns:a16="http://schemas.microsoft.com/office/drawing/2014/main" id="{D2CF617E-7CBD-E4BA-8B4B-25BE7BED46AD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0D24A6DC-A53E-6CE5-5418-C9DADE14F524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4E4A5597-4F5C-0CEF-FC23-2A5727572E6B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05" name="Partial Circle 304">
                    <a:extLst>
                      <a:ext uri="{FF2B5EF4-FFF2-40B4-BE49-F238E27FC236}">
                        <a16:creationId xmlns:a16="http://schemas.microsoft.com/office/drawing/2014/main" id="{779F3401-628C-C533-B2BA-91E419BFD258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6" name="Trapezoid 305">
                    <a:extLst>
                      <a:ext uri="{FF2B5EF4-FFF2-40B4-BE49-F238E27FC236}">
                        <a16:creationId xmlns:a16="http://schemas.microsoft.com/office/drawing/2014/main" id="{6C2B1952-A850-571E-08D4-BAB872E8978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0C0CDCDD-39A1-C9EF-19F5-B82603C7CD91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03" name="Oval 302">
                    <a:extLst>
                      <a:ext uri="{FF2B5EF4-FFF2-40B4-BE49-F238E27FC236}">
                        <a16:creationId xmlns:a16="http://schemas.microsoft.com/office/drawing/2014/main" id="{D6C8C56A-0008-111E-CFD8-0F83E73BD5C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4" name="Trapezoid 303">
                    <a:extLst>
                      <a:ext uri="{FF2B5EF4-FFF2-40B4-BE49-F238E27FC236}">
                        <a16:creationId xmlns:a16="http://schemas.microsoft.com/office/drawing/2014/main" id="{2CEDB14E-3CE8-3113-2EF1-84D1E6C6278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EB27675E-AF8F-B1C7-4585-480CED69E130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CD6A06EB-9EC2-90F6-C7C2-0CFFF26EEE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2" name="Trapezoid 301">
                    <a:extLst>
                      <a:ext uri="{FF2B5EF4-FFF2-40B4-BE49-F238E27FC236}">
                        <a16:creationId xmlns:a16="http://schemas.microsoft.com/office/drawing/2014/main" id="{DB415D83-4B76-671E-F8E0-20BC30F0E726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AAD4EA19-6006-8EB5-4DAD-2991C718065B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99" name="Oval 298">
                    <a:extLst>
                      <a:ext uri="{FF2B5EF4-FFF2-40B4-BE49-F238E27FC236}">
                        <a16:creationId xmlns:a16="http://schemas.microsoft.com/office/drawing/2014/main" id="{477CC319-C8DB-3CC6-E851-088FD620CDF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00" name="Trapezoid 299">
                    <a:extLst>
                      <a:ext uri="{FF2B5EF4-FFF2-40B4-BE49-F238E27FC236}">
                        <a16:creationId xmlns:a16="http://schemas.microsoft.com/office/drawing/2014/main" id="{E6AF7499-1B67-0258-6BA0-1717F4FF304C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69" name="Group 268">
                <a:extLst>
                  <a:ext uri="{FF2B5EF4-FFF2-40B4-BE49-F238E27FC236}">
                    <a16:creationId xmlns:a16="http://schemas.microsoft.com/office/drawing/2014/main" id="{8CA33A63-15D6-D431-5ECB-0A5498C42BC1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6EEB5A92-F168-F66E-D40D-0DEDCDBB1D43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93" name="Partial Circle 292">
                    <a:extLst>
                      <a:ext uri="{FF2B5EF4-FFF2-40B4-BE49-F238E27FC236}">
                        <a16:creationId xmlns:a16="http://schemas.microsoft.com/office/drawing/2014/main" id="{55DA2980-B8B4-253B-4C0E-CAFF0719F065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4" name="Trapezoid 293">
                    <a:extLst>
                      <a:ext uri="{FF2B5EF4-FFF2-40B4-BE49-F238E27FC236}">
                        <a16:creationId xmlns:a16="http://schemas.microsoft.com/office/drawing/2014/main" id="{8A30A57C-6158-9C3F-7DE6-D22242326C44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90CDB2DF-2080-E974-38FD-AE9C3930BEAC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91" name="Oval 290">
                    <a:extLst>
                      <a:ext uri="{FF2B5EF4-FFF2-40B4-BE49-F238E27FC236}">
                        <a16:creationId xmlns:a16="http://schemas.microsoft.com/office/drawing/2014/main" id="{42D1250B-7021-47F1-CF8E-A07113B4CC7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2" name="Trapezoid 291">
                    <a:extLst>
                      <a:ext uri="{FF2B5EF4-FFF2-40B4-BE49-F238E27FC236}">
                        <a16:creationId xmlns:a16="http://schemas.microsoft.com/office/drawing/2014/main" id="{F15B1E6A-50C2-6532-AC2B-6E036ACDDDE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484A3A63-E541-4841-C481-B2105324536C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89" name="Oval 288">
                    <a:extLst>
                      <a:ext uri="{FF2B5EF4-FFF2-40B4-BE49-F238E27FC236}">
                        <a16:creationId xmlns:a16="http://schemas.microsoft.com/office/drawing/2014/main" id="{898C15F4-01C9-4B64-7517-EA28B17BA6F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90" name="Trapezoid 289">
                    <a:extLst>
                      <a:ext uri="{FF2B5EF4-FFF2-40B4-BE49-F238E27FC236}">
                        <a16:creationId xmlns:a16="http://schemas.microsoft.com/office/drawing/2014/main" id="{79F92594-8CB4-B2A1-033F-CA29AAA6A27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508FDB88-53EF-4C86-C096-4C4011D8165A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87" name="Oval 286">
                    <a:extLst>
                      <a:ext uri="{FF2B5EF4-FFF2-40B4-BE49-F238E27FC236}">
                        <a16:creationId xmlns:a16="http://schemas.microsoft.com/office/drawing/2014/main" id="{13B6D8AD-3CA5-9F22-50C1-1BAE1A89D487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8" name="Trapezoid 287">
                    <a:extLst>
                      <a:ext uri="{FF2B5EF4-FFF2-40B4-BE49-F238E27FC236}">
                        <a16:creationId xmlns:a16="http://schemas.microsoft.com/office/drawing/2014/main" id="{D135FD0D-ED07-0C9A-4E7F-6AC9B2AADC2D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37AA76C9-02FF-774A-32EF-DF7510029241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271" name="Group 270">
                  <a:extLst>
                    <a:ext uri="{FF2B5EF4-FFF2-40B4-BE49-F238E27FC236}">
                      <a16:creationId xmlns:a16="http://schemas.microsoft.com/office/drawing/2014/main" id="{EE550403-2481-4464-4A81-02D56434DF87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281" name="Partial Circle 280">
                    <a:extLst>
                      <a:ext uri="{FF2B5EF4-FFF2-40B4-BE49-F238E27FC236}">
                        <a16:creationId xmlns:a16="http://schemas.microsoft.com/office/drawing/2014/main" id="{BA13DFC0-A344-0B4E-269B-D4839C8CDF6E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2" name="Trapezoid 281">
                    <a:extLst>
                      <a:ext uri="{FF2B5EF4-FFF2-40B4-BE49-F238E27FC236}">
                        <a16:creationId xmlns:a16="http://schemas.microsoft.com/office/drawing/2014/main" id="{A15AE78E-8C15-2D32-4A01-E336A308D607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2" name="Group 271">
                  <a:extLst>
                    <a:ext uri="{FF2B5EF4-FFF2-40B4-BE49-F238E27FC236}">
                      <a16:creationId xmlns:a16="http://schemas.microsoft.com/office/drawing/2014/main" id="{E76C16AF-8FD0-7B51-F9E8-A63D77C2C7A9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279" name="Oval 278">
                    <a:extLst>
                      <a:ext uri="{FF2B5EF4-FFF2-40B4-BE49-F238E27FC236}">
                        <a16:creationId xmlns:a16="http://schemas.microsoft.com/office/drawing/2014/main" id="{99BE96F4-3212-B789-67D0-EE4CAA1B0484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80" name="Trapezoid 279">
                    <a:extLst>
                      <a:ext uri="{FF2B5EF4-FFF2-40B4-BE49-F238E27FC236}">
                        <a16:creationId xmlns:a16="http://schemas.microsoft.com/office/drawing/2014/main" id="{A5EE9E01-A0AC-69F5-1E90-FB30EC6344AB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3" name="Group 272">
                  <a:extLst>
                    <a:ext uri="{FF2B5EF4-FFF2-40B4-BE49-F238E27FC236}">
                      <a16:creationId xmlns:a16="http://schemas.microsoft.com/office/drawing/2014/main" id="{A27F0192-A780-4FBC-8208-1D439DE7FE5B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622CD763-040A-3640-7DEE-4890E98BE8D8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8" name="Trapezoid 277">
                    <a:extLst>
                      <a:ext uri="{FF2B5EF4-FFF2-40B4-BE49-F238E27FC236}">
                        <a16:creationId xmlns:a16="http://schemas.microsoft.com/office/drawing/2014/main" id="{C5E94FB1-A7D0-5D2D-80C7-CA5C94DB5182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274" name="Group 273">
                  <a:extLst>
                    <a:ext uri="{FF2B5EF4-FFF2-40B4-BE49-F238E27FC236}">
                      <a16:creationId xmlns:a16="http://schemas.microsoft.com/office/drawing/2014/main" id="{138C2C9A-2211-7621-E4BE-1DE6749991A5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3FAE4CDC-E204-334C-25F0-2489D226BD8A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76" name="Trapezoid 275">
                    <a:extLst>
                      <a:ext uri="{FF2B5EF4-FFF2-40B4-BE49-F238E27FC236}">
                        <a16:creationId xmlns:a16="http://schemas.microsoft.com/office/drawing/2014/main" id="{8C04EDB1-5797-E4AE-4D94-4C78DA2C564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D2AB66C5-5CC9-5F4D-B163-448484A13760}"/>
                </a:ext>
              </a:extLst>
            </p:cNvPr>
            <p:cNvGrpSpPr/>
            <p:nvPr/>
          </p:nvGrpSpPr>
          <p:grpSpPr>
            <a:xfrm rot="4800000">
              <a:off x="4101944" y="4789803"/>
              <a:ext cx="920654" cy="1063470"/>
              <a:chOff x="2786419" y="3445339"/>
              <a:chExt cx="2301634" cy="2658674"/>
            </a:xfrm>
          </p:grpSpPr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147B79FD-87D9-BE20-AF28-021CFFE5FD6F}"/>
                  </a:ext>
                </a:extLst>
              </p:cNvPr>
              <p:cNvGrpSpPr/>
              <p:nvPr/>
            </p:nvGrpSpPr>
            <p:grpSpPr>
              <a:xfrm>
                <a:off x="3074658" y="3445339"/>
                <a:ext cx="1652103" cy="2658674"/>
                <a:chOff x="3686290" y="2694551"/>
                <a:chExt cx="1652103" cy="2658674"/>
              </a:xfrm>
            </p:grpSpPr>
            <p:sp>
              <p:nvSpPr>
                <p:cNvPr id="350" name="Partial Circle 349">
                  <a:extLst>
                    <a:ext uri="{FF2B5EF4-FFF2-40B4-BE49-F238E27FC236}">
                      <a16:creationId xmlns:a16="http://schemas.microsoft.com/office/drawing/2014/main" id="{0F1C898B-8042-5DB8-F45B-B20397C91F0C}"/>
                    </a:ext>
                  </a:extLst>
                </p:cNvPr>
                <p:cNvSpPr/>
                <p:nvPr/>
              </p:nvSpPr>
              <p:spPr>
                <a:xfrm>
                  <a:off x="3686290" y="2694551"/>
                  <a:ext cx="1652103" cy="1497621"/>
                </a:xfrm>
                <a:prstGeom prst="pie">
                  <a:avLst>
                    <a:gd name="adj1" fmla="val 11793460"/>
                    <a:gd name="adj2" fmla="val 20592665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51" name="Trapezoid 350">
                  <a:extLst>
                    <a:ext uri="{FF2B5EF4-FFF2-40B4-BE49-F238E27FC236}">
                      <a16:creationId xmlns:a16="http://schemas.microsoft.com/office/drawing/2014/main" id="{F929332B-A380-5058-039C-42B37C41E520}"/>
                    </a:ext>
                  </a:extLst>
                </p:cNvPr>
                <p:cNvSpPr/>
                <p:nvPr/>
              </p:nvSpPr>
              <p:spPr>
                <a:xfrm flipH="1">
                  <a:off x="4213507" y="2826353"/>
                  <a:ext cx="583575" cy="2526872"/>
                </a:xfrm>
                <a:prstGeom prst="trapezoid">
                  <a:avLst>
                    <a:gd name="adj" fmla="val 29821"/>
                  </a:avLst>
                </a:prstGeom>
                <a:solidFill>
                  <a:srgbClr val="99663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E503C26B-54D6-0E77-0DA4-7E2A5C53B866}"/>
                  </a:ext>
                </a:extLst>
              </p:cNvPr>
              <p:cNvGrpSpPr/>
              <p:nvPr/>
            </p:nvGrpSpPr>
            <p:grpSpPr>
              <a:xfrm rot="4200000">
                <a:off x="4079468" y="4012660"/>
                <a:ext cx="660841" cy="797602"/>
                <a:chOff x="6242598" y="223822"/>
                <a:chExt cx="2233814" cy="2658674"/>
              </a:xfrm>
            </p:grpSpPr>
            <p:grpSp>
              <p:nvGrpSpPr>
                <p:cNvPr id="338" name="Group 337">
                  <a:extLst>
                    <a:ext uri="{FF2B5EF4-FFF2-40B4-BE49-F238E27FC236}">
                      <a16:creationId xmlns:a16="http://schemas.microsoft.com/office/drawing/2014/main" id="{9540E820-045F-926E-D8FF-311B714E17CF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48" name="Partial Circle 347">
                    <a:extLst>
                      <a:ext uri="{FF2B5EF4-FFF2-40B4-BE49-F238E27FC236}">
                        <a16:creationId xmlns:a16="http://schemas.microsoft.com/office/drawing/2014/main" id="{16598E8E-DFF9-E97D-E814-CA4939346D66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9" name="Trapezoid 348">
                    <a:extLst>
                      <a:ext uri="{FF2B5EF4-FFF2-40B4-BE49-F238E27FC236}">
                        <a16:creationId xmlns:a16="http://schemas.microsoft.com/office/drawing/2014/main" id="{0B95F212-DE0B-8050-C734-E6C0602D9AD6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39" name="Group 338">
                  <a:extLst>
                    <a:ext uri="{FF2B5EF4-FFF2-40B4-BE49-F238E27FC236}">
                      <a16:creationId xmlns:a16="http://schemas.microsoft.com/office/drawing/2014/main" id="{C587E9E1-9CF6-5907-8DEB-21C174C43670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AE14FD41-E0E5-6294-B7DA-DCE4DBEF588B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7" name="Trapezoid 346">
                    <a:extLst>
                      <a:ext uri="{FF2B5EF4-FFF2-40B4-BE49-F238E27FC236}">
                        <a16:creationId xmlns:a16="http://schemas.microsoft.com/office/drawing/2014/main" id="{F70F6C68-4AEA-077E-11CB-00D75DB8E27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40" name="Group 339">
                  <a:extLst>
                    <a:ext uri="{FF2B5EF4-FFF2-40B4-BE49-F238E27FC236}">
                      <a16:creationId xmlns:a16="http://schemas.microsoft.com/office/drawing/2014/main" id="{6654F29A-C2BE-2CDB-8A2C-D5A4719D5028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44" name="Oval 343">
                    <a:extLst>
                      <a:ext uri="{FF2B5EF4-FFF2-40B4-BE49-F238E27FC236}">
                        <a16:creationId xmlns:a16="http://schemas.microsoft.com/office/drawing/2014/main" id="{29BA424F-4F79-14DA-DEDC-44D6D82FD98C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5" name="Trapezoid 344">
                    <a:extLst>
                      <a:ext uri="{FF2B5EF4-FFF2-40B4-BE49-F238E27FC236}">
                        <a16:creationId xmlns:a16="http://schemas.microsoft.com/office/drawing/2014/main" id="{8A893294-AF62-34C8-C1C5-01CEBB9D42C4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41" name="Group 340">
                  <a:extLst>
                    <a:ext uri="{FF2B5EF4-FFF2-40B4-BE49-F238E27FC236}">
                      <a16:creationId xmlns:a16="http://schemas.microsoft.com/office/drawing/2014/main" id="{2F86C24E-716D-65E8-9632-C2A4D600450B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42" name="Oval 341">
                    <a:extLst>
                      <a:ext uri="{FF2B5EF4-FFF2-40B4-BE49-F238E27FC236}">
                        <a16:creationId xmlns:a16="http://schemas.microsoft.com/office/drawing/2014/main" id="{6B7066A8-6350-4891-DDFF-481AA62B79A3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43" name="Trapezoid 342">
                    <a:extLst>
                      <a:ext uri="{FF2B5EF4-FFF2-40B4-BE49-F238E27FC236}">
                        <a16:creationId xmlns:a16="http://schemas.microsoft.com/office/drawing/2014/main" id="{E9FD619B-F0F6-58B4-FBD9-F77A7E1D6329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312" name="Group 311">
                <a:extLst>
                  <a:ext uri="{FF2B5EF4-FFF2-40B4-BE49-F238E27FC236}">
                    <a16:creationId xmlns:a16="http://schemas.microsoft.com/office/drawing/2014/main" id="{5AE2E9DC-8FD7-3EF5-4783-C0743964C0BC}"/>
                  </a:ext>
                </a:extLst>
              </p:cNvPr>
              <p:cNvGrpSpPr/>
              <p:nvPr/>
            </p:nvGrpSpPr>
            <p:grpSpPr>
              <a:xfrm rot="-4500000" flipH="1">
                <a:off x="2860769" y="4316583"/>
                <a:ext cx="781835" cy="930536"/>
                <a:chOff x="6242598" y="223822"/>
                <a:chExt cx="2233814" cy="2658674"/>
              </a:xfrm>
            </p:grpSpPr>
            <p:grpSp>
              <p:nvGrpSpPr>
                <p:cNvPr id="326" name="Group 325">
                  <a:extLst>
                    <a:ext uri="{FF2B5EF4-FFF2-40B4-BE49-F238E27FC236}">
                      <a16:creationId xmlns:a16="http://schemas.microsoft.com/office/drawing/2014/main" id="{7F5DC362-F890-E3F3-374F-F1A6D45B539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36" name="Partial Circle 335">
                    <a:extLst>
                      <a:ext uri="{FF2B5EF4-FFF2-40B4-BE49-F238E27FC236}">
                        <a16:creationId xmlns:a16="http://schemas.microsoft.com/office/drawing/2014/main" id="{DFFA923D-18BF-3C39-0219-F11A2E84B44D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7" name="Trapezoid 336">
                    <a:extLst>
                      <a:ext uri="{FF2B5EF4-FFF2-40B4-BE49-F238E27FC236}">
                        <a16:creationId xmlns:a16="http://schemas.microsoft.com/office/drawing/2014/main" id="{6A8C1F5C-ED7A-AA6E-2761-97714060E6EE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7" name="Group 326">
                  <a:extLst>
                    <a:ext uri="{FF2B5EF4-FFF2-40B4-BE49-F238E27FC236}">
                      <a16:creationId xmlns:a16="http://schemas.microsoft.com/office/drawing/2014/main" id="{DF478333-A24C-61C0-2E99-F1655E2C5187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34" name="Oval 333">
                    <a:extLst>
                      <a:ext uri="{FF2B5EF4-FFF2-40B4-BE49-F238E27FC236}">
                        <a16:creationId xmlns:a16="http://schemas.microsoft.com/office/drawing/2014/main" id="{D5140AF9-D800-3DC2-CFBA-14323465AD2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5" name="Trapezoid 334">
                    <a:extLst>
                      <a:ext uri="{FF2B5EF4-FFF2-40B4-BE49-F238E27FC236}">
                        <a16:creationId xmlns:a16="http://schemas.microsoft.com/office/drawing/2014/main" id="{A0873E40-29D4-E339-68CA-3D19D11846F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8" name="Group 327">
                  <a:extLst>
                    <a:ext uri="{FF2B5EF4-FFF2-40B4-BE49-F238E27FC236}">
                      <a16:creationId xmlns:a16="http://schemas.microsoft.com/office/drawing/2014/main" id="{78AAF441-5BEE-607D-A6E0-C2345D7C27FA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32" name="Oval 331">
                    <a:extLst>
                      <a:ext uri="{FF2B5EF4-FFF2-40B4-BE49-F238E27FC236}">
                        <a16:creationId xmlns:a16="http://schemas.microsoft.com/office/drawing/2014/main" id="{1CB9592E-A89B-02D1-B00B-C7EA9EEA5B59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3" name="Trapezoid 332">
                    <a:extLst>
                      <a:ext uri="{FF2B5EF4-FFF2-40B4-BE49-F238E27FC236}">
                        <a16:creationId xmlns:a16="http://schemas.microsoft.com/office/drawing/2014/main" id="{4F1D7966-7711-2AC8-E464-0EFDC8A07300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29" name="Group 328">
                  <a:extLst>
                    <a:ext uri="{FF2B5EF4-FFF2-40B4-BE49-F238E27FC236}">
                      <a16:creationId xmlns:a16="http://schemas.microsoft.com/office/drawing/2014/main" id="{54BC4129-B36B-31C8-2BFF-01F4DC4CAF54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30" name="Oval 329">
                    <a:extLst>
                      <a:ext uri="{FF2B5EF4-FFF2-40B4-BE49-F238E27FC236}">
                        <a16:creationId xmlns:a16="http://schemas.microsoft.com/office/drawing/2014/main" id="{BDF08281-CA5C-8A1B-B27A-94772DD9660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31" name="Trapezoid 330">
                    <a:extLst>
                      <a:ext uri="{FF2B5EF4-FFF2-40B4-BE49-F238E27FC236}">
                        <a16:creationId xmlns:a16="http://schemas.microsoft.com/office/drawing/2014/main" id="{1D173BEC-82BD-3D25-8CFD-B3CDFBF14DAB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313" name="Group 312">
                <a:extLst>
                  <a:ext uri="{FF2B5EF4-FFF2-40B4-BE49-F238E27FC236}">
                    <a16:creationId xmlns:a16="http://schemas.microsoft.com/office/drawing/2014/main" id="{03C60031-8CA5-9D52-89A8-9862653ACAF5}"/>
                  </a:ext>
                </a:extLst>
              </p:cNvPr>
              <p:cNvGrpSpPr/>
              <p:nvPr/>
            </p:nvGrpSpPr>
            <p:grpSpPr>
              <a:xfrm rot="4800000">
                <a:off x="4109555" y="4769353"/>
                <a:ext cx="893526" cy="1063470"/>
                <a:chOff x="6242598" y="223822"/>
                <a:chExt cx="2233814" cy="2658674"/>
              </a:xfrm>
            </p:grpSpPr>
            <p:grpSp>
              <p:nvGrpSpPr>
                <p:cNvPr id="314" name="Group 313">
                  <a:extLst>
                    <a:ext uri="{FF2B5EF4-FFF2-40B4-BE49-F238E27FC236}">
                      <a16:creationId xmlns:a16="http://schemas.microsoft.com/office/drawing/2014/main" id="{C74BAEB1-D10F-FD05-25DD-FE348D945DF1}"/>
                    </a:ext>
                  </a:extLst>
                </p:cNvPr>
                <p:cNvGrpSpPr/>
                <p:nvPr/>
              </p:nvGrpSpPr>
              <p:grpSpPr>
                <a:xfrm>
                  <a:off x="6456508" y="223822"/>
                  <a:ext cx="1652103" cy="2658674"/>
                  <a:chOff x="3686290" y="2694551"/>
                  <a:chExt cx="1652103" cy="2658674"/>
                </a:xfrm>
              </p:grpSpPr>
              <p:sp>
                <p:nvSpPr>
                  <p:cNvPr id="324" name="Partial Circle 323">
                    <a:extLst>
                      <a:ext uri="{FF2B5EF4-FFF2-40B4-BE49-F238E27FC236}">
                        <a16:creationId xmlns:a16="http://schemas.microsoft.com/office/drawing/2014/main" id="{EC0407FA-ADE4-5049-8920-6B23A5972436}"/>
                      </a:ext>
                    </a:extLst>
                  </p:cNvPr>
                  <p:cNvSpPr/>
                  <p:nvPr/>
                </p:nvSpPr>
                <p:spPr>
                  <a:xfrm>
                    <a:off x="3686290" y="2694551"/>
                    <a:ext cx="1652103" cy="1497621"/>
                  </a:xfrm>
                  <a:prstGeom prst="pie">
                    <a:avLst>
                      <a:gd name="adj1" fmla="val 11793460"/>
                      <a:gd name="adj2" fmla="val 20592665"/>
                    </a:avLst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5" name="Trapezoid 324">
                    <a:extLst>
                      <a:ext uri="{FF2B5EF4-FFF2-40B4-BE49-F238E27FC236}">
                        <a16:creationId xmlns:a16="http://schemas.microsoft.com/office/drawing/2014/main" id="{E8EBEEC8-9D01-C225-A877-0D5A3247F241}"/>
                      </a:ext>
                    </a:extLst>
                  </p:cNvPr>
                  <p:cNvSpPr/>
                  <p:nvPr/>
                </p:nvSpPr>
                <p:spPr>
                  <a:xfrm flipH="1">
                    <a:off x="4213507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02CE3261-5088-BE67-6209-67A7CD456183}"/>
                    </a:ext>
                  </a:extLst>
                </p:cNvPr>
                <p:cNvGrpSpPr/>
                <p:nvPr/>
              </p:nvGrpSpPr>
              <p:grpSpPr>
                <a:xfrm rot="4200000">
                  <a:off x="7538951" y="776674"/>
                  <a:ext cx="495631" cy="797602"/>
                  <a:chOff x="6263849" y="2694551"/>
                  <a:chExt cx="1652103" cy="2658674"/>
                </a:xfrm>
              </p:grpSpPr>
              <p:sp>
                <p:nvSpPr>
                  <p:cNvPr id="322" name="Oval 321">
                    <a:extLst>
                      <a:ext uri="{FF2B5EF4-FFF2-40B4-BE49-F238E27FC236}">
                        <a16:creationId xmlns:a16="http://schemas.microsoft.com/office/drawing/2014/main" id="{6EC91D78-C074-34C5-191C-5BF2DAD1C822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3" name="Trapezoid 322">
                    <a:extLst>
                      <a:ext uri="{FF2B5EF4-FFF2-40B4-BE49-F238E27FC236}">
                        <a16:creationId xmlns:a16="http://schemas.microsoft.com/office/drawing/2014/main" id="{828FA9F8-F341-A09E-B24D-F8DF2B1DD247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F324DE50-7A4C-9204-C52B-F75E3C3D40F9}"/>
                    </a:ext>
                  </a:extLst>
                </p:cNvPr>
                <p:cNvGrpSpPr/>
                <p:nvPr/>
              </p:nvGrpSpPr>
              <p:grpSpPr>
                <a:xfrm rot="-4500000">
                  <a:off x="6418748" y="1013780"/>
                  <a:ext cx="578236" cy="930536"/>
                  <a:chOff x="6263849" y="2694551"/>
                  <a:chExt cx="1652103" cy="2658674"/>
                </a:xfrm>
              </p:grpSpPr>
              <p:sp>
                <p:nvSpPr>
                  <p:cNvPr id="320" name="Oval 319">
                    <a:extLst>
                      <a:ext uri="{FF2B5EF4-FFF2-40B4-BE49-F238E27FC236}">
                        <a16:creationId xmlns:a16="http://schemas.microsoft.com/office/drawing/2014/main" id="{D83883F9-7DA1-294E-0CCB-2FBCF965A5E0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21" name="Trapezoid 320">
                    <a:extLst>
                      <a:ext uri="{FF2B5EF4-FFF2-40B4-BE49-F238E27FC236}">
                        <a16:creationId xmlns:a16="http://schemas.microsoft.com/office/drawing/2014/main" id="{1AC8A95C-11DA-42CF-F7A6-A4104C44C038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317" name="Group 316">
                  <a:extLst>
                    <a:ext uri="{FF2B5EF4-FFF2-40B4-BE49-F238E27FC236}">
                      <a16:creationId xmlns:a16="http://schemas.microsoft.com/office/drawing/2014/main" id="{784C494D-AD29-72E7-CC3B-335754DD710E}"/>
                    </a:ext>
                  </a:extLst>
                </p:cNvPr>
                <p:cNvGrpSpPr/>
                <p:nvPr/>
              </p:nvGrpSpPr>
              <p:grpSpPr>
                <a:xfrm rot="4800000">
                  <a:off x="7614256" y="1356339"/>
                  <a:ext cx="660841" cy="1063470"/>
                  <a:chOff x="6263849" y="2694551"/>
                  <a:chExt cx="1652103" cy="2658674"/>
                </a:xfrm>
              </p:grpSpPr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23FFF125-B7FC-2028-353C-1C5BB75C4775}"/>
                      </a:ext>
                    </a:extLst>
                  </p:cNvPr>
                  <p:cNvSpPr/>
                  <p:nvPr/>
                </p:nvSpPr>
                <p:spPr>
                  <a:xfrm>
                    <a:off x="6263849" y="2694551"/>
                    <a:ext cx="1652103" cy="2355751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319" name="Trapezoid 318">
                    <a:extLst>
                      <a:ext uri="{FF2B5EF4-FFF2-40B4-BE49-F238E27FC236}">
                        <a16:creationId xmlns:a16="http://schemas.microsoft.com/office/drawing/2014/main" id="{D8D81191-A506-D3D8-E3E2-D8432BCC7D2F}"/>
                      </a:ext>
                    </a:extLst>
                  </p:cNvPr>
                  <p:cNvSpPr/>
                  <p:nvPr/>
                </p:nvSpPr>
                <p:spPr>
                  <a:xfrm flipH="1">
                    <a:off x="6791066" y="2826353"/>
                    <a:ext cx="583575" cy="2526872"/>
                  </a:xfrm>
                  <a:prstGeom prst="trapezoid">
                    <a:avLst>
                      <a:gd name="adj" fmla="val 29821"/>
                    </a:avLst>
                  </a:prstGeom>
                  <a:solidFill>
                    <a:srgbClr val="99663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2603307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10107206" cy="1151965"/>
          </a:xfrm>
        </p:spPr>
        <p:txBody>
          <a:bodyPr>
            <a:normAutofit/>
          </a:bodyPr>
          <a:lstStyle/>
          <a:p>
            <a:r>
              <a:rPr lang="en-US" dirty="0"/>
              <a:t>H1</a:t>
            </a:r>
            <a:br>
              <a:rPr lang="en-US" dirty="0"/>
            </a:br>
            <a:r>
              <a:rPr lang="en-US" sz="2800" dirty="0"/>
              <a:t>H2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896035"/>
            <a:ext cx="10107207" cy="4612342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84640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87DA1-4F08-03FE-6515-767CFEA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B32E8-77BF-A345-60D2-2636FF555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Situational slides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3C95AC-9B64-C9E9-E05D-3E7BC7E5F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>
            <a:normAutofit/>
          </a:bodyPr>
          <a:lstStyle/>
          <a:p>
            <a:r>
              <a:rPr lang="en-US" dirty="0"/>
              <a:t>For 2-session and 3-session workshops, to save me hunting down the last deck for that scenario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689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1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55679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Day 2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1764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A: Background to Bonsai</a:t>
            </a:r>
            <a:r>
              <a:rPr lang="en-US" dirty="0"/>
              <a:t> 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September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0359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A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/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/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/>
              <a:t>Watering bonsai</a:t>
            </a:r>
          </a:p>
          <a:p>
            <a:r>
              <a:rPr lang="en-GB" sz="1600" dirty="0"/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01549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B: Bonsai Aesthetics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738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 – Session B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how a bonsai is produced</a:t>
            </a:r>
          </a:p>
          <a:p>
            <a:r>
              <a:rPr lang="en-US" sz="1600" dirty="0"/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re-potting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/>
              <a:t>Exposing the </a:t>
            </a:r>
            <a:r>
              <a:rPr lang="en-GB" sz="1600" dirty="0" err="1"/>
              <a:t>nebari</a:t>
            </a:r>
            <a:endParaRPr lang="en-GB" sz="1600" dirty="0"/>
          </a:p>
          <a:p>
            <a:r>
              <a:rPr lang="en-GB" sz="1600" dirty="0"/>
              <a:t>Potting the prepared tree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Pruning for bulk, congestion and taper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20851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 Evening of Bonsai</a:t>
            </a:r>
            <a:br>
              <a:rPr lang="en-US" dirty="0"/>
            </a:br>
            <a:r>
              <a:rPr lang="en-US" sz="4000" dirty="0"/>
              <a:t>Session C: Bonsai Production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Alex Labram</a:t>
            </a:r>
          </a:p>
          <a:p>
            <a:r>
              <a:rPr lang="en-US" dirty="0"/>
              <a:t>October 2025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ECEF1E-B9DD-7C7C-D34D-A16C75848A55}"/>
              </a:ext>
            </a:extLst>
          </p:cNvPr>
          <p:cNvGrpSpPr/>
          <p:nvPr/>
        </p:nvGrpSpPr>
        <p:grpSpPr>
          <a:xfrm>
            <a:off x="982632" y="4663538"/>
            <a:ext cx="1801905" cy="1799092"/>
            <a:chOff x="606114" y="4663538"/>
            <a:chExt cx="1801905" cy="17990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D1B531-63E8-82B4-2F90-BE188C374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6114" y="4663538"/>
              <a:ext cx="1801905" cy="118354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E7C155-3620-D019-BD0D-DFE1C1B8A88A}"/>
                </a:ext>
              </a:extLst>
            </p:cNvPr>
            <p:cNvSpPr txBox="1"/>
            <p:nvPr/>
          </p:nvSpPr>
          <p:spPr>
            <a:xfrm>
              <a:off x="606114" y="5847077"/>
              <a:ext cx="1801905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Nemeta</a:t>
              </a:r>
              <a:r>
                <a:rPr lang="en-US" dirty="0">
                  <a:solidFill>
                    <a:schemeClr val="accent3">
                      <a:lumMod val="50000"/>
                    </a:schemeClr>
                  </a:solidFill>
                </a:rPr>
                <a:t> Bonsai</a:t>
              </a:r>
            </a:p>
            <a:p>
              <a:pPr algn="ctr"/>
              <a:r>
                <a:rPr lang="en-US" sz="1600" dirty="0">
                  <a:solidFill>
                    <a:schemeClr val="accent3">
                      <a:lumMod val="50000"/>
                    </a:schemeClr>
                  </a:solidFill>
                </a:rPr>
                <a:t>nemeta.co.uk</a:t>
              </a:r>
              <a:endParaRPr lang="en-GB" sz="16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892C7DB-1612-4672-BBAD-61056E038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974" y="4663538"/>
            <a:ext cx="1801905" cy="18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1214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  <a:br>
              <a:rPr lang="en-US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561589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Theory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Be aware of the history and culture of bonsai</a:t>
            </a:r>
          </a:p>
          <a:p>
            <a:r>
              <a:rPr lang="en-US" sz="1600" dirty="0"/>
              <a:t>Understand (at a high level) how a bonsai is produced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Understand (at a high level) what distinguishes good and bad bonsai</a:t>
            </a:r>
          </a:p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Know how to maintain a bonsai on a day-to-day basis</a:t>
            </a:r>
          </a:p>
          <a:p>
            <a:r>
              <a:rPr lang="en-US" sz="1600" dirty="0"/>
              <a:t>Experience the key activities of 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re-potting</a:t>
            </a:r>
            <a:r>
              <a:rPr lang="en-US" sz="1600" dirty="0"/>
              <a:t>, pruning and wiring</a:t>
            </a:r>
          </a:p>
          <a:p>
            <a:r>
              <a:rPr lang="en-GB" sz="1600" dirty="0"/>
              <a:t>Be aware of inexpensive options for further learning and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E9E1B-ABAD-44BB-B6F1-53AFD67B5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224" y="1930400"/>
            <a:ext cx="4141694" cy="4927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Practical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Watering bonsai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Wiring a bonsai pot for re-potting</a:t>
            </a: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Exposing the </a:t>
            </a:r>
            <a:r>
              <a:rPr lang="en-GB" sz="1600" dirty="0" err="1">
                <a:solidFill>
                  <a:schemeClr val="bg1">
                    <a:lumMod val="65000"/>
                  </a:schemeClr>
                </a:solidFill>
              </a:rPr>
              <a:t>nebari</a:t>
            </a:r>
            <a:endParaRPr lang="en-GB" sz="16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GB" sz="1600" dirty="0">
                <a:solidFill>
                  <a:schemeClr val="bg1">
                    <a:lumMod val="65000"/>
                  </a:schemeClr>
                </a:solidFill>
              </a:rPr>
              <a:t>Potting the prepared tree</a:t>
            </a:r>
          </a:p>
          <a:p>
            <a:r>
              <a:rPr lang="en-GB" sz="1600" dirty="0"/>
              <a:t>Pruning for bulk, congestion and taper</a:t>
            </a:r>
          </a:p>
          <a:p>
            <a:r>
              <a:rPr lang="en-GB" sz="1600" dirty="0"/>
              <a:t>Wiring for shape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22532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573B0-7B73-B186-D32F-E842E8D32C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456FE-92E1-5B1D-A3A4-47AF8EE7C6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Highlights of Evenings A &amp; 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63781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B64F6F81-92AB-7C0F-84F7-FAA6E5FC3CF2}"/>
              </a:ext>
            </a:extLst>
          </p:cNvPr>
          <p:cNvSpPr/>
          <p:nvPr/>
        </p:nvSpPr>
        <p:spPr>
          <a:xfrm>
            <a:off x="6833360" y="-18874"/>
            <a:ext cx="5069541" cy="6876874"/>
          </a:xfrm>
          <a:prstGeom prst="parallelogram">
            <a:avLst>
              <a:gd name="adj" fmla="val 19695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1973DA-B0F9-E1A4-AE56-F1BD7BF4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Had One Once, But It Died</a:t>
            </a:r>
            <a:br>
              <a:rPr lang="en-US" dirty="0"/>
            </a:br>
            <a:r>
              <a:rPr lang="en-US" sz="2800" dirty="0"/>
              <a:t>What a bonsai needs to survive</a:t>
            </a: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0934-5684-DA8A-A2B6-BA82211E45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0"/>
            <a:ext cx="4540125" cy="4799013"/>
          </a:xfrm>
        </p:spPr>
        <p:txBody>
          <a:bodyPr>
            <a:normAutofit/>
          </a:bodyPr>
          <a:lstStyle/>
          <a:p>
            <a:r>
              <a:rPr lang="en-US" dirty="0"/>
              <a:t>Environment</a:t>
            </a:r>
          </a:p>
          <a:p>
            <a:pPr lvl="1"/>
            <a:r>
              <a:rPr lang="en-US" dirty="0"/>
              <a:t>Indoor vs Outdoor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u="sng" dirty="0"/>
              <a:t>Watering!!!!!</a:t>
            </a:r>
          </a:p>
          <a:p>
            <a:pPr lvl="1"/>
            <a:r>
              <a:rPr lang="en-US" dirty="0"/>
              <a:t>Single biggest killer of bonsai</a:t>
            </a:r>
          </a:p>
          <a:p>
            <a:pPr lvl="1"/>
            <a:r>
              <a:rPr lang="en-US" dirty="0"/>
              <a:t>“Root hairs” die easily in drought</a:t>
            </a:r>
          </a:p>
          <a:p>
            <a:pPr lvl="1"/>
            <a:r>
              <a:rPr lang="en-US" dirty="0"/>
              <a:t>Over-watering is also dangerous!</a:t>
            </a:r>
          </a:p>
          <a:p>
            <a:r>
              <a:rPr lang="en-US" dirty="0"/>
              <a:t>Light</a:t>
            </a:r>
            <a:endParaRPr lang="en-GB" dirty="0"/>
          </a:p>
          <a:p>
            <a:r>
              <a:rPr lang="en-GB" dirty="0"/>
              <a:t>Heat</a:t>
            </a:r>
          </a:p>
          <a:p>
            <a:pPr lvl="1"/>
            <a:r>
              <a:rPr lang="en-GB" dirty="0"/>
              <a:t>Dormancy</a:t>
            </a:r>
          </a:p>
          <a:p>
            <a:r>
              <a:rPr lang="en-US" dirty="0"/>
              <a:t>Airflow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D427B-95B0-1A31-600F-91AE107DD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0615" y="1923921"/>
            <a:ext cx="5069540" cy="4799012"/>
          </a:xfrm>
        </p:spPr>
        <p:txBody>
          <a:bodyPr>
            <a:normAutofit/>
          </a:bodyPr>
          <a:lstStyle/>
          <a:p>
            <a:r>
              <a:rPr lang="en-US" dirty="0"/>
              <a:t>Pest Control</a:t>
            </a:r>
          </a:p>
          <a:p>
            <a:pPr lvl="1"/>
            <a:r>
              <a:rPr lang="en-GB" dirty="0"/>
              <a:t>Animals: spider mites, scale bugs, aphids, caterpillars, vine weevil, squirrels</a:t>
            </a:r>
          </a:p>
          <a:p>
            <a:pPr lvl="1"/>
            <a:r>
              <a:rPr lang="en-GB" dirty="0"/>
              <a:t>Plants etc: pearlwort, liverwort, wood sorrel, pennywort, nostoc</a:t>
            </a:r>
          </a:p>
          <a:p>
            <a:pPr lvl="1"/>
            <a:r>
              <a:rPr lang="en-GB" dirty="0"/>
              <a:t>Caution: environmental issues!</a:t>
            </a:r>
          </a:p>
          <a:p>
            <a:r>
              <a:rPr lang="en-GB" dirty="0"/>
              <a:t>Fertiliser</a:t>
            </a:r>
          </a:p>
          <a:p>
            <a:pPr lvl="1"/>
            <a:r>
              <a:rPr lang="en-GB" dirty="0"/>
              <a:t>“Balanced”: roughly even NPK</a:t>
            </a:r>
          </a:p>
          <a:p>
            <a:pPr lvl="1"/>
            <a:r>
              <a:rPr lang="en-GB" dirty="0"/>
              <a:t>Organic =&gt; micronutrients</a:t>
            </a:r>
          </a:p>
          <a:p>
            <a:pPr lvl="1"/>
            <a:r>
              <a:rPr lang="en-GB" dirty="0"/>
              <a:t>Caution: environmental &amp; ethical issues!</a:t>
            </a:r>
          </a:p>
          <a:p>
            <a:endParaRPr lang="en-GB" dirty="0"/>
          </a:p>
          <a:p>
            <a:r>
              <a:rPr lang="en-GB" dirty="0"/>
              <a:t>Bonsai are </a:t>
            </a:r>
            <a:r>
              <a:rPr lang="en-GB" u="sng" dirty="0"/>
              <a:t>far</a:t>
            </a:r>
            <a:r>
              <a:rPr lang="en-GB" dirty="0"/>
              <a:t> harder to keep alive than most common pot plants!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BBC0B3-3DB6-3CA4-1C06-8D1FF38EECEF}"/>
              </a:ext>
            </a:extLst>
          </p:cNvPr>
          <p:cNvSpPr/>
          <p:nvPr/>
        </p:nvSpPr>
        <p:spPr>
          <a:xfrm>
            <a:off x="556311" y="2962088"/>
            <a:ext cx="2366682" cy="68580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100B9C8-DB52-FE00-D784-00ED2A1EDCCD}"/>
              </a:ext>
            </a:extLst>
          </p:cNvPr>
          <p:cNvSpPr/>
          <p:nvPr/>
        </p:nvSpPr>
        <p:spPr>
          <a:xfrm>
            <a:off x="378503" y="2785362"/>
            <a:ext cx="2727767" cy="104705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993747-5BF9-96C8-675E-FEE9AF2AAD82}"/>
              </a:ext>
            </a:extLst>
          </p:cNvPr>
          <p:cNvSpPr/>
          <p:nvPr/>
        </p:nvSpPr>
        <p:spPr>
          <a:xfrm>
            <a:off x="213154" y="2619188"/>
            <a:ext cx="3067927" cy="1414930"/>
          </a:xfrm>
          <a:prstGeom prst="roundRect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392991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56816</TotalTime>
  <Words>4751</Words>
  <Application>Microsoft Office PowerPoint</Application>
  <PresentationFormat>Widescreen</PresentationFormat>
  <Paragraphs>750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Aptos</vt:lpstr>
      <vt:lpstr>Arial</vt:lpstr>
      <vt:lpstr>Trebuchet MS</vt:lpstr>
      <vt:lpstr>Wingdings</vt:lpstr>
      <vt:lpstr>Wingdings 3</vt:lpstr>
      <vt:lpstr>Facet</vt:lpstr>
      <vt:lpstr>Bonsai On A Budget</vt:lpstr>
      <vt:lpstr>Learning Outcomes </vt:lpstr>
      <vt:lpstr>Bonsai: What &amp; Why </vt:lpstr>
      <vt:lpstr>Bonsai: A Potted History </vt:lpstr>
      <vt:lpstr>Bonsai: Art &amp; Science </vt:lpstr>
      <vt:lpstr>Pragmatism 1</vt:lpstr>
      <vt:lpstr>What Kind Of Tree Is A “Bonsai”, Anyway? Trick question alert!</vt:lpstr>
      <vt:lpstr>I Had One Once, But It Died What a bonsai needs to survive</vt:lpstr>
      <vt:lpstr>Watering Your Bonsai No, seriously, this is important</vt:lpstr>
      <vt:lpstr>Authenticity &amp; Drama</vt:lpstr>
      <vt:lpstr>Arboriculture 101 What shapes a tree?</vt:lpstr>
      <vt:lpstr>Authenticity &amp; Age What makes a tree look mature?</vt:lpstr>
      <vt:lpstr>Art à la Japan Catching the eye</vt:lpstr>
      <vt:lpstr>Drama &amp; Perspective What makes a tree stand out?</vt:lpstr>
      <vt:lpstr>Flaws What gives the game away?</vt:lpstr>
      <vt:lpstr>Bonsai Styles The most common four archetypes of… thirty?  Really?!?</vt:lpstr>
      <vt:lpstr>Pragmatism 2</vt:lpstr>
      <vt:lpstr>Bonsai Lifecycle </vt:lpstr>
      <vt:lpstr>Why We Prune It’s not just repressed sadism, honest</vt:lpstr>
      <vt:lpstr>How We Prune A high-level introduction</vt:lpstr>
      <vt:lpstr>Botany &amp; Pruning (1) Not all trees are alike</vt:lpstr>
      <vt:lpstr>Botany &amp; Pruning (2) Three main types of foliage</vt:lpstr>
      <vt:lpstr>Structural Pruning Building a solid foundation</vt:lpstr>
      <vt:lpstr>Pruning for Ramification (1) Broadleaf trees: playing in easy mode</vt:lpstr>
      <vt:lpstr>Pruning for Ramification (2) Needle-bearing trees: getting trickier</vt:lpstr>
      <vt:lpstr>Pruning for Ramification (3) Spiky / scaly trees: super fiddly</vt:lpstr>
      <vt:lpstr>Wiring The rules guidelines</vt:lpstr>
      <vt:lpstr>Stress Management …No, I meant for the tree</vt:lpstr>
      <vt:lpstr>Death of a bonsai What to do when the worst happens</vt:lpstr>
      <vt:lpstr>Displaying your trees </vt:lpstr>
      <vt:lpstr>There Is A Season When to do what</vt:lpstr>
      <vt:lpstr>Next Steps</vt:lpstr>
      <vt:lpstr>Practice, Practice, Practice Practice, practice, practice, practice… you get the picture</vt:lpstr>
      <vt:lpstr>Learn From Others  Apart from yours truly</vt:lpstr>
      <vt:lpstr>Thanks For Attending!</vt:lpstr>
      <vt:lpstr>Appendices</vt:lpstr>
      <vt:lpstr>How Often To Water Some key factors</vt:lpstr>
      <vt:lpstr>Woody Plants: A Family Tree Evolution From A Bonsai Pruner’s Perspective</vt:lpstr>
      <vt:lpstr>Wiring a Bonsai Pot What could go wrong?</vt:lpstr>
      <vt:lpstr>Repotting step-by-step </vt:lpstr>
      <vt:lpstr>Dev slides</vt:lpstr>
      <vt:lpstr>PowerPoint Presentation</vt:lpstr>
      <vt:lpstr>H1 H2</vt:lpstr>
      <vt:lpstr>Situational slides</vt:lpstr>
      <vt:lpstr>Learning Outcomes – Day 1 </vt:lpstr>
      <vt:lpstr>Learning Outcomes – Day 2 </vt:lpstr>
      <vt:lpstr>An Evening of Bonsai Session A: Background to Bonsai </vt:lpstr>
      <vt:lpstr>Learning Outcomes – Session A </vt:lpstr>
      <vt:lpstr>An Evening of Bonsai Session B: Bonsai Aesthetics</vt:lpstr>
      <vt:lpstr>Learning Outcomes – Session B </vt:lpstr>
      <vt:lpstr>An Evening of Bonsai Session C: Bonsai Production</vt:lpstr>
      <vt:lpstr>Learning Outcomes </vt:lpstr>
      <vt:lpstr>Recap</vt:lpstr>
      <vt:lpstr>I Had One Once, But It Died What a bonsai needs to survive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Bonsai On A Budget</dc:title>
  <dc:creator>Alex Labram</dc:creator>
  <cp:lastModifiedBy>Alex Labram</cp:lastModifiedBy>
  <cp:revision>54</cp:revision>
  <dcterms:created xsi:type="dcterms:W3CDTF">2024-04-06T11:33:48Z</dcterms:created>
  <dcterms:modified xsi:type="dcterms:W3CDTF">2025-12-29T16:20:48Z</dcterms:modified>
</cp:coreProperties>
</file>