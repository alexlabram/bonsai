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0" r:id="rId1"/>
  </p:sldMasterIdLst>
  <p:notesMasterIdLst>
    <p:notesMasterId r:id="rId28"/>
  </p:notesMasterIdLst>
  <p:sldIdLst>
    <p:sldId id="304" r:id="rId2"/>
    <p:sldId id="257" r:id="rId3"/>
    <p:sldId id="305" r:id="rId4"/>
    <p:sldId id="260" r:id="rId5"/>
    <p:sldId id="306" r:id="rId6"/>
    <p:sldId id="267" r:id="rId7"/>
    <p:sldId id="271" r:id="rId8"/>
    <p:sldId id="264" r:id="rId9"/>
    <p:sldId id="279" r:id="rId10"/>
    <p:sldId id="290" r:id="rId11"/>
    <p:sldId id="299" r:id="rId12"/>
    <p:sldId id="300" r:id="rId13"/>
    <p:sldId id="302" r:id="rId14"/>
    <p:sldId id="273" r:id="rId15"/>
    <p:sldId id="293" r:id="rId16"/>
    <p:sldId id="301" r:id="rId17"/>
    <p:sldId id="294" r:id="rId18"/>
    <p:sldId id="295" r:id="rId19"/>
    <p:sldId id="303" r:id="rId20"/>
    <p:sldId id="289" r:id="rId21"/>
    <p:sldId id="296" r:id="rId22"/>
    <p:sldId id="297" r:id="rId23"/>
    <p:sldId id="276" r:id="rId24"/>
    <p:sldId id="278" r:id="rId25"/>
    <p:sldId id="261" r:id="rId26"/>
    <p:sldId id="29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9000DBD-DD57-B9F5-1E22-669DF19DD1E1}" name="Alex Labram" initials="AL" userId="1b91434870779e5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4E5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04D6C-E348-4888-BF53-7D9093580813}" type="datetimeFigureOut">
              <a:rPr lang="en-GB" smtClean="0"/>
              <a:t>19/10/2025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DE7104-07E6-4433-AFA2-7ACC21A327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047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7104-07E6-4433-AFA2-7ACC21A32793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33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182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091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61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96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06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47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3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309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477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4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5069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481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7820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675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0448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8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77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Bonsai On A Budget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Alex Labram</a:t>
            </a:r>
          </a:p>
          <a:p>
            <a:r>
              <a:rPr lang="en-US" dirty="0"/>
              <a:t>October 2025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0FED29D-3814-2F10-FB43-1B9F6C93C75F}"/>
              </a:ext>
            </a:extLst>
          </p:cNvPr>
          <p:cNvGrpSpPr/>
          <p:nvPr/>
        </p:nvGrpSpPr>
        <p:grpSpPr>
          <a:xfrm>
            <a:off x="606114" y="4663538"/>
            <a:ext cx="1801905" cy="1799092"/>
            <a:chOff x="606114" y="4663538"/>
            <a:chExt cx="1801905" cy="179909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62E7D7-465D-67E7-297B-300075C20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114" y="4663538"/>
              <a:ext cx="1801905" cy="118354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0982023-5837-5127-BA43-D3D613DB4D9F}"/>
                </a:ext>
              </a:extLst>
            </p:cNvPr>
            <p:cNvSpPr txBox="1"/>
            <p:nvPr/>
          </p:nvSpPr>
          <p:spPr>
            <a:xfrm>
              <a:off x="606114" y="5847077"/>
              <a:ext cx="180190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3">
                      <a:lumMod val="50000"/>
                    </a:schemeClr>
                  </a:solidFill>
                </a:rPr>
                <a:t>Nemeta</a:t>
              </a:r>
              <a:r>
                <a:rPr lang="en-US" dirty="0">
                  <a:solidFill>
                    <a:schemeClr val="accent3">
                      <a:lumMod val="50000"/>
                    </a:schemeClr>
                  </a:solidFill>
                </a:rPr>
                <a:t> Bonsai</a:t>
              </a:r>
            </a:p>
            <a:p>
              <a:pPr algn="ctr"/>
              <a:r>
                <a:rPr lang="en-US" sz="1600" dirty="0">
                  <a:solidFill>
                    <a:schemeClr val="accent3">
                      <a:lumMod val="50000"/>
                    </a:schemeClr>
                  </a:solidFill>
                </a:rPr>
                <a:t>nemeta.co.uk</a:t>
              </a:r>
              <a:endParaRPr lang="en-GB" sz="16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4657419-78E6-1361-CF7A-12B75EC3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997" y="4914253"/>
            <a:ext cx="2649282" cy="1240600"/>
          </a:xfrm>
          <a:prstGeom prst="rect">
            <a:avLst/>
          </a:prstGeom>
          <a:solidFill>
            <a:srgbClr val="4E5F3F"/>
          </a:solidFill>
        </p:spPr>
      </p:pic>
    </p:spTree>
    <p:extLst>
      <p:ext uri="{BB962C8B-B14F-4D97-AF65-F5344CB8AC3E}">
        <p14:creationId xmlns:p14="http://schemas.microsoft.com/office/powerpoint/2010/main" val="51199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5615890" cy="4927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Theory</a:t>
            </a:r>
          </a:p>
          <a:p>
            <a:r>
              <a:rPr lang="en-US" sz="1600" dirty="0"/>
              <a:t>Be aware of the history and culture of bonsai</a:t>
            </a:r>
          </a:p>
          <a:p>
            <a:r>
              <a:rPr lang="en-US" sz="1600" dirty="0"/>
              <a:t>Understand (at a high level) how a bonsai is produced</a:t>
            </a:r>
          </a:p>
          <a:p>
            <a:r>
              <a:rPr lang="en-US" sz="1600" dirty="0"/>
              <a:t>Understand (at a high level) what distinguishes good and bad bonsai</a:t>
            </a:r>
          </a:p>
          <a:p>
            <a:r>
              <a:rPr lang="en-US" sz="1600" dirty="0"/>
              <a:t>Know how to maintain a bonsai on a day-to-day basis</a:t>
            </a:r>
          </a:p>
          <a:p>
            <a:r>
              <a:rPr lang="en-US" sz="1600" dirty="0"/>
              <a:t>Experience the key activities of re-potting, pruning and wiring</a:t>
            </a:r>
          </a:p>
          <a:p>
            <a:r>
              <a:rPr lang="en-GB" sz="1600" dirty="0"/>
              <a:t>Be aware of inexpensive options for further learning and practice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5E9E1B-ABAD-44BB-B6F1-53AFD67B56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224" y="1930400"/>
            <a:ext cx="4141694" cy="4927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Practical</a:t>
            </a:r>
          </a:p>
          <a:p>
            <a:r>
              <a:rPr lang="en-GB" sz="1600" dirty="0"/>
              <a:t>Watering bonsai</a:t>
            </a:r>
          </a:p>
          <a:p>
            <a:r>
              <a:rPr lang="en-GB" sz="1600" dirty="0"/>
              <a:t>Wiring a bonsai pot for re-potting</a:t>
            </a:r>
          </a:p>
          <a:p>
            <a:r>
              <a:rPr lang="en-GB" sz="1600" dirty="0"/>
              <a:t>Exposing the </a:t>
            </a:r>
            <a:r>
              <a:rPr lang="en-GB" sz="1600" dirty="0" err="1"/>
              <a:t>nebari</a:t>
            </a:r>
            <a:endParaRPr lang="en-GB" sz="1600" dirty="0"/>
          </a:p>
          <a:p>
            <a:r>
              <a:rPr lang="en-GB" sz="1600" dirty="0"/>
              <a:t>Potting the prepared tree</a:t>
            </a:r>
          </a:p>
          <a:p>
            <a:r>
              <a:rPr lang="en-GB" sz="1600" dirty="0"/>
              <a:t>Pruning for bulk, congestion and taper</a:t>
            </a:r>
          </a:p>
          <a:p>
            <a:r>
              <a:rPr lang="en-GB" sz="1600" dirty="0"/>
              <a:t>Wiring for shape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9852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You Should Remember From Yesterday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944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Bonsai: Art &amp; Science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5"/>
            <a:ext cx="4681307" cy="461234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Good bonsai practice is: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Authentic</a:t>
            </a:r>
            <a:r>
              <a:rPr lang="en-US" dirty="0"/>
              <a:t> - makes you think “tree”</a:t>
            </a:r>
          </a:p>
          <a:p>
            <a:pPr marL="457200" lvl="1" indent="0">
              <a:buNone/>
            </a:pPr>
            <a:r>
              <a:rPr lang="en-US" dirty="0"/>
              <a:t>Tree as biological / ecological process</a:t>
            </a:r>
          </a:p>
          <a:p>
            <a:endParaRPr lang="en-US" dirty="0"/>
          </a:p>
          <a:p>
            <a:r>
              <a:rPr lang="en-US" b="1" u="sng" dirty="0"/>
              <a:t>Dramatic</a:t>
            </a:r>
            <a:r>
              <a:rPr lang="en-US" dirty="0"/>
              <a:t> – makes you think “TREE”</a:t>
            </a:r>
          </a:p>
          <a:p>
            <a:pPr marL="457200" lvl="1" indent="0">
              <a:buNone/>
            </a:pPr>
            <a:r>
              <a:rPr lang="en-US" dirty="0"/>
              <a:t>Tree as compositional element</a:t>
            </a:r>
          </a:p>
          <a:p>
            <a:endParaRPr lang="en-US" dirty="0"/>
          </a:p>
          <a:p>
            <a:r>
              <a:rPr lang="en-US" b="1" u="sng" dirty="0"/>
              <a:t>Pragmatic</a:t>
            </a:r>
            <a:r>
              <a:rPr lang="en-US" dirty="0"/>
              <a:t> – doesn’t make you think “</a:t>
            </a:r>
            <a:r>
              <a:rPr lang="en-US" i="1" dirty="0"/>
              <a:t>dead</a:t>
            </a:r>
            <a:r>
              <a:rPr lang="en-US" dirty="0"/>
              <a:t> tree”…</a:t>
            </a:r>
          </a:p>
          <a:p>
            <a:pPr marL="457200" lvl="1" indent="0">
              <a:buNone/>
            </a:pPr>
            <a:r>
              <a:rPr lang="en-US" dirty="0"/>
              <a:t>Tree as living clay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3D940F-928E-4F3F-1A35-158433555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96035"/>
            <a:ext cx="4070047" cy="40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52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 Had One Once, But It Died</a:t>
            </a:r>
            <a:br>
              <a:rPr lang="en-US" dirty="0"/>
            </a:br>
            <a:r>
              <a:rPr lang="en-US" sz="2800" dirty="0"/>
              <a:t>What a bonsai needs to survive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930400"/>
            <a:ext cx="4540125" cy="4799013"/>
          </a:xfrm>
        </p:spPr>
        <p:txBody>
          <a:bodyPr>
            <a:normAutofit/>
          </a:bodyPr>
          <a:lstStyle/>
          <a:p>
            <a:r>
              <a:rPr lang="en-US" dirty="0"/>
              <a:t>Environment</a:t>
            </a:r>
          </a:p>
          <a:p>
            <a:pPr lvl="1"/>
            <a:r>
              <a:rPr lang="en-US" dirty="0"/>
              <a:t>Indoor vs Outdoor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u="sng" dirty="0"/>
              <a:t>Watering!!!!!</a:t>
            </a:r>
          </a:p>
          <a:p>
            <a:pPr lvl="1"/>
            <a:r>
              <a:rPr lang="en-US" dirty="0"/>
              <a:t>Single biggest killer of bonsai</a:t>
            </a:r>
          </a:p>
          <a:p>
            <a:pPr lvl="1"/>
            <a:r>
              <a:rPr lang="en-US" dirty="0"/>
              <a:t>“Root hairs” die easily in drought</a:t>
            </a:r>
          </a:p>
          <a:p>
            <a:pPr lvl="1"/>
            <a:r>
              <a:rPr lang="en-US" dirty="0"/>
              <a:t>Over-watering is also dangerous!</a:t>
            </a:r>
          </a:p>
          <a:p>
            <a:r>
              <a:rPr lang="en-US" dirty="0"/>
              <a:t>Light</a:t>
            </a:r>
            <a:endParaRPr lang="en-GB" dirty="0"/>
          </a:p>
          <a:p>
            <a:r>
              <a:rPr lang="en-GB" dirty="0"/>
              <a:t>Heat</a:t>
            </a:r>
          </a:p>
          <a:p>
            <a:pPr lvl="1"/>
            <a:r>
              <a:rPr lang="en-GB" dirty="0"/>
              <a:t>Dormancy</a:t>
            </a:r>
          </a:p>
          <a:p>
            <a:r>
              <a:rPr lang="en-US" dirty="0"/>
              <a:t>Airflow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D427B-95B0-1A31-600F-91AE107DD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60615" y="1923921"/>
            <a:ext cx="5069540" cy="4799012"/>
          </a:xfrm>
        </p:spPr>
        <p:txBody>
          <a:bodyPr>
            <a:normAutofit/>
          </a:bodyPr>
          <a:lstStyle/>
          <a:p>
            <a:r>
              <a:rPr lang="en-US" dirty="0"/>
              <a:t>Pest Control</a:t>
            </a:r>
          </a:p>
          <a:p>
            <a:pPr lvl="1"/>
            <a:r>
              <a:rPr lang="en-GB" dirty="0"/>
              <a:t>Animals: spider mites, scale bugs, aphids, caterpillars, vine weevil, squirrels</a:t>
            </a:r>
          </a:p>
          <a:p>
            <a:pPr lvl="1"/>
            <a:r>
              <a:rPr lang="en-GB" dirty="0"/>
              <a:t>Plants etc: pearlwort, liverwort, wood sorrel, pennywort, nostoc</a:t>
            </a:r>
          </a:p>
          <a:p>
            <a:pPr lvl="1"/>
            <a:r>
              <a:rPr lang="en-GB" dirty="0"/>
              <a:t>Caution: environmental issues!</a:t>
            </a:r>
          </a:p>
          <a:p>
            <a:r>
              <a:rPr lang="en-GB" dirty="0"/>
              <a:t>Fertiliser</a:t>
            </a:r>
          </a:p>
          <a:p>
            <a:pPr lvl="1"/>
            <a:r>
              <a:rPr lang="en-GB" dirty="0"/>
              <a:t>“Balanced”: roughly even NPK</a:t>
            </a:r>
          </a:p>
          <a:p>
            <a:pPr lvl="1"/>
            <a:r>
              <a:rPr lang="en-GB" dirty="0"/>
              <a:t>Organic =&gt; micronutrients</a:t>
            </a:r>
          </a:p>
          <a:p>
            <a:pPr lvl="1"/>
            <a:r>
              <a:rPr lang="en-GB" dirty="0"/>
              <a:t>Caution: environmental &amp; ethical issues!</a:t>
            </a:r>
          </a:p>
          <a:p>
            <a:endParaRPr lang="en-GB" dirty="0"/>
          </a:p>
          <a:p>
            <a:r>
              <a:rPr lang="en-GB" dirty="0"/>
              <a:t>Bonsai are </a:t>
            </a:r>
            <a:r>
              <a:rPr lang="en-GB" u="sng" dirty="0"/>
              <a:t>far</a:t>
            </a:r>
            <a:r>
              <a:rPr lang="en-GB" dirty="0"/>
              <a:t> harder to keep alive than most common pot plants!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BBC0B3-3DB6-3CA4-1C06-8D1FF38EECEF}"/>
              </a:ext>
            </a:extLst>
          </p:cNvPr>
          <p:cNvSpPr/>
          <p:nvPr/>
        </p:nvSpPr>
        <p:spPr>
          <a:xfrm>
            <a:off x="556311" y="2962088"/>
            <a:ext cx="2366682" cy="68580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00B9C8-DB52-FE00-D784-00ED2A1EDCCD}"/>
              </a:ext>
            </a:extLst>
          </p:cNvPr>
          <p:cNvSpPr/>
          <p:nvPr/>
        </p:nvSpPr>
        <p:spPr>
          <a:xfrm>
            <a:off x="378503" y="2785362"/>
            <a:ext cx="2727767" cy="104705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993747-5BF9-96C8-675E-FEE9AF2AAD82}"/>
              </a:ext>
            </a:extLst>
          </p:cNvPr>
          <p:cNvSpPr/>
          <p:nvPr/>
        </p:nvSpPr>
        <p:spPr>
          <a:xfrm>
            <a:off x="213154" y="2619188"/>
            <a:ext cx="3067927" cy="1414930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830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Authenticity &amp; Age</a:t>
            </a:r>
            <a:br>
              <a:rPr lang="en-US" dirty="0"/>
            </a:br>
            <a:r>
              <a:rPr lang="en-US" sz="2800" dirty="0"/>
              <a:t>What makes a tree look mature?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Canopy shape</a:t>
            </a:r>
          </a:p>
          <a:p>
            <a:pPr lvl="1"/>
            <a:r>
              <a:rPr lang="en-US" dirty="0"/>
              <a:t>Rounded triangle</a:t>
            </a:r>
          </a:p>
          <a:p>
            <a:pPr lvl="1"/>
            <a:r>
              <a:rPr lang="en-US" dirty="0"/>
              <a:t>Composed of rounded-triangle “pads” (for species that back-bud less readily)</a:t>
            </a:r>
          </a:p>
          <a:p>
            <a:r>
              <a:rPr lang="en-US" dirty="0"/>
              <a:t>Trunk &amp; branch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dirty="0"/>
              <a:t>Short inter-node distance</a:t>
            </a:r>
          </a:p>
          <a:p>
            <a:pPr lvl="1"/>
            <a:r>
              <a:rPr lang="en-US" dirty="0"/>
              <a:t>“Ramification”: fractal splitting of branches</a:t>
            </a:r>
          </a:p>
          <a:p>
            <a:pPr lvl="1"/>
            <a:r>
              <a:rPr lang="en-US" dirty="0"/>
              <a:t>“Square-cube law”: big tree = proportionally heavier load = more curvature</a:t>
            </a:r>
          </a:p>
          <a:p>
            <a:pPr lvl="1"/>
            <a:r>
              <a:rPr lang="en-US" dirty="0"/>
              <a:t>“Ruptures”: jagged direction changes</a:t>
            </a:r>
          </a:p>
          <a:p>
            <a:r>
              <a:rPr lang="en-US" dirty="0"/>
              <a:t>Texture</a:t>
            </a:r>
          </a:p>
          <a:p>
            <a:pPr lvl="1"/>
            <a:r>
              <a:rPr lang="en-US" dirty="0"/>
              <a:t>Bark</a:t>
            </a:r>
          </a:p>
          <a:p>
            <a:pPr lvl="1"/>
            <a:r>
              <a:rPr lang="en-US" dirty="0"/>
              <a:t>Dead-wood: advanced bonsai topic!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F16A0E5-9919-8CC8-FE83-C647510D232A}"/>
              </a:ext>
            </a:extLst>
          </p:cNvPr>
          <p:cNvSpPr txBox="1">
            <a:spLocks/>
          </p:cNvSpPr>
          <p:nvPr/>
        </p:nvSpPr>
        <p:spPr>
          <a:xfrm>
            <a:off x="677334" y="4948517"/>
            <a:ext cx="5177116" cy="1909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Taper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Nebari</a:t>
            </a:r>
            <a:r>
              <a:rPr lang="en-US" dirty="0"/>
              <a:t>” (</a:t>
            </a:r>
            <a:r>
              <a:rPr lang="ja-JP" altLang="en-US" dirty="0"/>
              <a:t>根張り</a:t>
            </a:r>
            <a:r>
              <a:rPr lang="en-US" dirty="0"/>
              <a:t>) = root flare / buttress</a:t>
            </a:r>
          </a:p>
          <a:p>
            <a:pPr lvl="1"/>
            <a:r>
              <a:rPr lang="en-US" dirty="0"/>
              <a:t>Trunk &amp; branch flare: from base to apex / tip</a:t>
            </a:r>
          </a:p>
          <a:p>
            <a:pPr lvl="1"/>
            <a:r>
              <a:rPr lang="en-US" dirty="0"/>
              <a:t>Trunk-to-branch (and branch to sub-branch) ratio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80E11-2DA9-F19A-F603-F0E36737500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577" y="1842246"/>
            <a:ext cx="3736152" cy="280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2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Drama &amp; Perspective</a:t>
            </a:r>
            <a:br>
              <a:rPr lang="en-US" dirty="0"/>
            </a:br>
            <a:r>
              <a:rPr lang="en-US" sz="2800" dirty="0"/>
              <a:t>What makes a tree stand out?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7424" y="1896034"/>
            <a:ext cx="5177116" cy="4961965"/>
          </a:xfrm>
        </p:spPr>
        <p:txBody>
          <a:bodyPr>
            <a:normAutofit/>
          </a:bodyPr>
          <a:lstStyle/>
          <a:p>
            <a:r>
              <a:rPr lang="en-US" dirty="0"/>
              <a:t>Taper (again!) </a:t>
            </a:r>
          </a:p>
          <a:p>
            <a:pPr lvl="1"/>
            <a:r>
              <a:rPr lang="en-US" dirty="0"/>
              <a:t>Taper appears stronger from viewpoint at base of tree</a:t>
            </a:r>
          </a:p>
          <a:p>
            <a:r>
              <a:rPr lang="en-US" dirty="0"/>
              <a:t>Pot: picture-frame for tree</a:t>
            </a:r>
          </a:p>
          <a:p>
            <a:pPr lvl="1"/>
            <a:r>
              <a:rPr lang="en-US" dirty="0"/>
              <a:t>“Heavy” earthenware vs “light” glazed</a:t>
            </a:r>
          </a:p>
          <a:p>
            <a:pPr lvl="1"/>
            <a:r>
              <a:rPr lang="en-US" dirty="0"/>
              <a:t>Depth ≈ trunk thickness; width ≈ 2/3 canopy height (tall tree) or width (wide tree)</a:t>
            </a:r>
          </a:p>
          <a:p>
            <a:pPr lvl="1"/>
            <a:r>
              <a:rPr lang="en-US" dirty="0"/>
              <a:t>Style: heavy vs light, plain vs ornate</a:t>
            </a:r>
          </a:p>
          <a:p>
            <a:r>
              <a:rPr lang="en-US" dirty="0"/>
              <a:t>Use of negative space</a:t>
            </a:r>
          </a:p>
          <a:p>
            <a:pPr lvl="1"/>
            <a:r>
              <a:rPr lang="en-US" dirty="0"/>
              <a:t>…Often in imitation of wind-flow or trunk death in full-scale trees</a:t>
            </a:r>
          </a:p>
          <a:p>
            <a:r>
              <a:rPr lang="en-US" dirty="0"/>
              <a:t>Scaled-down decorations</a:t>
            </a:r>
          </a:p>
          <a:p>
            <a:pPr lvl="1"/>
            <a:r>
              <a:rPr lang="en-US" dirty="0"/>
              <a:t>Moss “grass”, accent plants, rocks (“</a:t>
            </a:r>
            <a:r>
              <a:rPr lang="en-US" dirty="0" err="1"/>
              <a:t>suiseki</a:t>
            </a:r>
            <a:r>
              <a:rPr lang="en-US" dirty="0"/>
              <a:t>”)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B0135E5-977D-1EF9-1FB5-19C7441D6167}"/>
              </a:ext>
            </a:extLst>
          </p:cNvPr>
          <p:cNvSpPr txBox="1">
            <a:spLocks/>
          </p:cNvSpPr>
          <p:nvPr/>
        </p:nvSpPr>
        <p:spPr>
          <a:xfrm>
            <a:off x="677334" y="4381496"/>
            <a:ext cx="5177116" cy="2402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Well-defined “front”</a:t>
            </a:r>
          </a:p>
          <a:p>
            <a:pPr lvl="1"/>
            <a:r>
              <a:rPr lang="en-US" dirty="0"/>
              <a:t>Style is firmly established</a:t>
            </a:r>
          </a:p>
          <a:p>
            <a:pPr lvl="1"/>
            <a:r>
              <a:rPr lang="en-US" dirty="0"/>
              <a:t>Sense of strength or movement captured</a:t>
            </a:r>
          </a:p>
          <a:p>
            <a:pPr lvl="1"/>
            <a:r>
              <a:rPr lang="en-US" dirty="0"/>
              <a:t>Clear view of lower trunk</a:t>
            </a:r>
          </a:p>
          <a:p>
            <a:pPr lvl="1"/>
            <a:r>
              <a:rPr lang="en-US" dirty="0"/>
              <a:t>No crossed branches</a:t>
            </a:r>
          </a:p>
          <a:p>
            <a:pPr lvl="1"/>
            <a:r>
              <a:rPr lang="en-US" dirty="0"/>
              <a:t>Tree’s “</a:t>
            </a:r>
            <a:r>
              <a:rPr lang="en-US" dirty="0" err="1"/>
              <a:t>centre</a:t>
            </a:r>
            <a:r>
              <a:rPr lang="en-US" dirty="0"/>
              <a:t> of mass” is in middle of pot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E8B13A-76DF-3BAB-9EBF-FECB3ED08D6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5526" y="1761564"/>
            <a:ext cx="3303244" cy="247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44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Pragmatism 2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Life In Miniature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209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Bonsai Lifecycle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FD17420-724E-03B3-BF2C-7E8CFE4B1F07}"/>
              </a:ext>
            </a:extLst>
          </p:cNvPr>
          <p:cNvSpPr/>
          <p:nvPr/>
        </p:nvSpPr>
        <p:spPr>
          <a:xfrm rot="5400000">
            <a:off x="1414997" y="3085270"/>
            <a:ext cx="2998694" cy="1008529"/>
          </a:xfrm>
          <a:prstGeom prst="trapezoid">
            <a:avLst>
              <a:gd name="adj" fmla="val 130333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F4E7DE31-1BCD-7A06-DA17-64BB1D58FF7C}"/>
              </a:ext>
            </a:extLst>
          </p:cNvPr>
          <p:cNvSpPr txBox="1">
            <a:spLocks/>
          </p:cNvSpPr>
          <p:nvPr/>
        </p:nvSpPr>
        <p:spPr>
          <a:xfrm>
            <a:off x="548862" y="2227688"/>
            <a:ext cx="1843387" cy="4387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Slow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Seeds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Cuttings</a:t>
            </a:r>
          </a:p>
          <a:p>
            <a:pPr marL="0" indent="0">
              <a:buNone/>
            </a:pPr>
            <a:r>
              <a:rPr lang="en-GB" sz="1400" dirty="0"/>
              <a:t>Fast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Garden centre seedlings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Scavenging</a:t>
            </a:r>
          </a:p>
          <a:p>
            <a:pPr marL="0" indent="0">
              <a:buNone/>
            </a:pPr>
            <a:r>
              <a:rPr lang="en-GB" sz="1400" dirty="0"/>
              <a:t>Pot-ready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“</a:t>
            </a:r>
            <a:r>
              <a:rPr lang="en-GB" sz="1400" dirty="0" err="1"/>
              <a:t>Nonsai</a:t>
            </a:r>
            <a:r>
              <a:rPr lang="en-GB" sz="1400" dirty="0"/>
              <a:t>”</a:t>
            </a:r>
          </a:p>
          <a:p>
            <a:pPr>
              <a:spcBef>
                <a:spcPts val="300"/>
              </a:spcBef>
            </a:pPr>
            <a:r>
              <a:rPr lang="en-GB" sz="1400" dirty="0"/>
              <a:t>Garden centre mature trees</a:t>
            </a:r>
          </a:p>
          <a:p>
            <a:pPr>
              <a:spcBef>
                <a:spcPts val="300"/>
              </a:spcBef>
            </a:pPr>
            <a:r>
              <a:rPr lang="en-GB" sz="1400" dirty="0" err="1"/>
              <a:t>Yamadori</a:t>
            </a:r>
            <a:endParaRPr lang="en-GB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9405C5-0BCF-8E4B-4DA6-60782FDED66A}"/>
              </a:ext>
            </a:extLst>
          </p:cNvPr>
          <p:cNvGrpSpPr/>
          <p:nvPr/>
        </p:nvGrpSpPr>
        <p:grpSpPr>
          <a:xfrm>
            <a:off x="4247708" y="2556311"/>
            <a:ext cx="1888900" cy="2019380"/>
            <a:chOff x="3731971" y="2290401"/>
            <a:chExt cx="1888900" cy="2019380"/>
          </a:xfrm>
        </p:grpSpPr>
        <p:sp>
          <p:nvSpPr>
            <p:cNvPr id="30" name="Arrow: Circular 29">
              <a:extLst>
                <a:ext uri="{FF2B5EF4-FFF2-40B4-BE49-F238E27FC236}">
                  <a16:creationId xmlns:a16="http://schemas.microsoft.com/office/drawing/2014/main" id="{A1FEDF06-78B1-8B94-8CBD-8F3392C69691}"/>
                </a:ext>
              </a:extLst>
            </p:cNvPr>
            <p:cNvSpPr/>
            <p:nvPr/>
          </p:nvSpPr>
          <p:spPr>
            <a:xfrm>
              <a:off x="3731971" y="2290401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1" name="Arrow: Circular 30">
              <a:extLst>
                <a:ext uri="{FF2B5EF4-FFF2-40B4-BE49-F238E27FC236}">
                  <a16:creationId xmlns:a16="http://schemas.microsoft.com/office/drawing/2014/main" id="{E20B37C9-28C9-6F6E-899A-BCA213E1BC58}"/>
                </a:ext>
              </a:extLst>
            </p:cNvPr>
            <p:cNvSpPr/>
            <p:nvPr/>
          </p:nvSpPr>
          <p:spPr>
            <a:xfrm rot="10800000">
              <a:off x="3731971" y="2337464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9A2DB0C-B25B-0615-CD2A-6D7D56836B57}"/>
              </a:ext>
            </a:extLst>
          </p:cNvPr>
          <p:cNvSpPr/>
          <p:nvPr/>
        </p:nvSpPr>
        <p:spPr>
          <a:xfrm>
            <a:off x="3532344" y="3278191"/>
            <a:ext cx="78259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0DC050C-1620-C940-E4E3-4855DC3C468D}"/>
              </a:ext>
            </a:extLst>
          </p:cNvPr>
          <p:cNvSpPr/>
          <p:nvPr/>
        </p:nvSpPr>
        <p:spPr>
          <a:xfrm>
            <a:off x="6183107" y="3254658"/>
            <a:ext cx="78259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AAB8448-5EB7-5DD9-C9B6-6AD2B12791E2}"/>
              </a:ext>
            </a:extLst>
          </p:cNvPr>
          <p:cNvGrpSpPr/>
          <p:nvPr/>
        </p:nvGrpSpPr>
        <p:grpSpPr>
          <a:xfrm>
            <a:off x="6965706" y="2561873"/>
            <a:ext cx="1888900" cy="2019380"/>
            <a:chOff x="6308474" y="2233250"/>
            <a:chExt cx="1888900" cy="2019380"/>
          </a:xfrm>
        </p:grpSpPr>
        <p:sp>
          <p:nvSpPr>
            <p:cNvPr id="35" name="Arrow: Circular 34">
              <a:extLst>
                <a:ext uri="{FF2B5EF4-FFF2-40B4-BE49-F238E27FC236}">
                  <a16:creationId xmlns:a16="http://schemas.microsoft.com/office/drawing/2014/main" id="{B9E4F5E7-5A0D-9298-A73E-23F7DE9DE7C9}"/>
                </a:ext>
              </a:extLst>
            </p:cNvPr>
            <p:cNvSpPr/>
            <p:nvPr/>
          </p:nvSpPr>
          <p:spPr>
            <a:xfrm>
              <a:off x="6308474" y="2233250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36" name="Arrow: Circular 35">
              <a:extLst>
                <a:ext uri="{FF2B5EF4-FFF2-40B4-BE49-F238E27FC236}">
                  <a16:creationId xmlns:a16="http://schemas.microsoft.com/office/drawing/2014/main" id="{31BD712B-9228-B13C-8BC1-30807E26F37C}"/>
                </a:ext>
              </a:extLst>
            </p:cNvPr>
            <p:cNvSpPr/>
            <p:nvPr/>
          </p:nvSpPr>
          <p:spPr>
            <a:xfrm rot="10800000">
              <a:off x="6308474" y="2280313"/>
              <a:ext cx="1888900" cy="1972317"/>
            </a:xfrm>
            <a:prstGeom prst="circular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sp>
        <p:nvSpPr>
          <p:cNvPr id="37" name="Content Placeholder 14">
            <a:extLst>
              <a:ext uri="{FF2B5EF4-FFF2-40B4-BE49-F238E27FC236}">
                <a16:creationId xmlns:a16="http://schemas.microsoft.com/office/drawing/2014/main" id="{1E58A750-96BA-7065-9AF3-29AFE93CC721}"/>
              </a:ext>
            </a:extLst>
          </p:cNvPr>
          <p:cNvSpPr txBox="1">
            <a:spLocks/>
          </p:cNvSpPr>
          <p:nvPr/>
        </p:nvSpPr>
        <p:spPr>
          <a:xfrm>
            <a:off x="4617820" y="1703300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Training</a:t>
            </a:r>
            <a:endParaRPr lang="en-GB" dirty="0"/>
          </a:p>
        </p:txBody>
      </p:sp>
      <p:sp>
        <p:nvSpPr>
          <p:cNvPr id="38" name="Content Placeholder 14">
            <a:extLst>
              <a:ext uri="{FF2B5EF4-FFF2-40B4-BE49-F238E27FC236}">
                <a16:creationId xmlns:a16="http://schemas.microsoft.com/office/drawing/2014/main" id="{1F7C515D-F5FE-B67B-C076-B9BD7B0206F7}"/>
              </a:ext>
            </a:extLst>
          </p:cNvPr>
          <p:cNvSpPr txBox="1">
            <a:spLocks/>
          </p:cNvSpPr>
          <p:nvPr/>
        </p:nvSpPr>
        <p:spPr>
          <a:xfrm>
            <a:off x="7165608" y="1706658"/>
            <a:ext cx="1573306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Refinement</a:t>
            </a:r>
            <a:endParaRPr lang="en-GB" dirty="0"/>
          </a:p>
        </p:txBody>
      </p:sp>
      <p:sp>
        <p:nvSpPr>
          <p:cNvPr id="39" name="Content Placeholder 14">
            <a:extLst>
              <a:ext uri="{FF2B5EF4-FFF2-40B4-BE49-F238E27FC236}">
                <a16:creationId xmlns:a16="http://schemas.microsoft.com/office/drawing/2014/main" id="{1DBC4C8A-6869-0169-CD53-30429BC6C8B0}"/>
              </a:ext>
            </a:extLst>
          </p:cNvPr>
          <p:cNvSpPr txBox="1">
            <a:spLocks/>
          </p:cNvSpPr>
          <p:nvPr/>
        </p:nvSpPr>
        <p:spPr>
          <a:xfrm>
            <a:off x="3072803" y="3057908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On-boarding</a:t>
            </a:r>
            <a:endParaRPr lang="en-GB" sz="1400" dirty="0"/>
          </a:p>
        </p:txBody>
      </p:sp>
      <p:sp>
        <p:nvSpPr>
          <p:cNvPr id="40" name="Arrow: Circular 39">
            <a:extLst>
              <a:ext uri="{FF2B5EF4-FFF2-40B4-BE49-F238E27FC236}">
                <a16:creationId xmlns:a16="http://schemas.microsoft.com/office/drawing/2014/main" id="{3256BD72-A453-35CD-0265-2500544BF176}"/>
              </a:ext>
            </a:extLst>
          </p:cNvPr>
          <p:cNvSpPr/>
          <p:nvPr/>
        </p:nvSpPr>
        <p:spPr>
          <a:xfrm rot="10800000">
            <a:off x="5051671" y="3331744"/>
            <a:ext cx="2848026" cy="2288514"/>
          </a:xfrm>
          <a:prstGeom prst="circularArrow">
            <a:avLst>
              <a:gd name="adj1" fmla="val 8803"/>
              <a:gd name="adj2" fmla="val 1035701"/>
              <a:gd name="adj3" fmla="val 20525840"/>
              <a:gd name="adj4" fmla="val 10800000"/>
              <a:gd name="adj5" fmla="val 12358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2" name="Arrow: Left-Right 41">
            <a:extLst>
              <a:ext uri="{FF2B5EF4-FFF2-40B4-BE49-F238E27FC236}">
                <a16:creationId xmlns:a16="http://schemas.microsoft.com/office/drawing/2014/main" id="{33EB69EF-05CD-C855-3018-0E80BD41F779}"/>
              </a:ext>
            </a:extLst>
          </p:cNvPr>
          <p:cNvSpPr/>
          <p:nvPr/>
        </p:nvSpPr>
        <p:spPr>
          <a:xfrm rot="19956879">
            <a:off x="8747812" y="2561806"/>
            <a:ext cx="1184853" cy="575621"/>
          </a:xfrm>
          <a:prstGeom prst="left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Content Placeholder 14">
            <a:extLst>
              <a:ext uri="{FF2B5EF4-FFF2-40B4-BE49-F238E27FC236}">
                <a16:creationId xmlns:a16="http://schemas.microsoft.com/office/drawing/2014/main" id="{D9AE710E-B206-E281-84FE-3A431B3F132F}"/>
              </a:ext>
            </a:extLst>
          </p:cNvPr>
          <p:cNvSpPr txBox="1">
            <a:spLocks/>
          </p:cNvSpPr>
          <p:nvPr/>
        </p:nvSpPr>
        <p:spPr>
          <a:xfrm>
            <a:off x="4379221" y="2983880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Grow out</a:t>
            </a:r>
            <a:endParaRPr lang="en-GB" sz="1400" dirty="0"/>
          </a:p>
        </p:txBody>
      </p:sp>
      <p:sp>
        <p:nvSpPr>
          <p:cNvPr id="44" name="Content Placeholder 14">
            <a:extLst>
              <a:ext uri="{FF2B5EF4-FFF2-40B4-BE49-F238E27FC236}">
                <a16:creationId xmlns:a16="http://schemas.microsoft.com/office/drawing/2014/main" id="{9AD9B883-56C7-0676-0DAA-5B791FEDF134}"/>
              </a:ext>
            </a:extLst>
          </p:cNvPr>
          <p:cNvSpPr txBox="1">
            <a:spLocks/>
          </p:cNvSpPr>
          <p:nvPr/>
        </p:nvSpPr>
        <p:spPr>
          <a:xfrm>
            <a:off x="4386830" y="3828432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Cut back</a:t>
            </a:r>
            <a:endParaRPr lang="en-GB" sz="1400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57868C75-8184-31A7-A206-96E45AA56769}"/>
              </a:ext>
            </a:extLst>
          </p:cNvPr>
          <p:cNvSpPr/>
          <p:nvPr/>
        </p:nvSpPr>
        <p:spPr>
          <a:xfrm rot="2834032">
            <a:off x="8236638" y="4697991"/>
            <a:ext cx="1905309" cy="575621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Content Placeholder 14">
            <a:extLst>
              <a:ext uri="{FF2B5EF4-FFF2-40B4-BE49-F238E27FC236}">
                <a16:creationId xmlns:a16="http://schemas.microsoft.com/office/drawing/2014/main" id="{EBAF9273-B89E-2145-1495-7CD9B56C5C37}"/>
              </a:ext>
            </a:extLst>
          </p:cNvPr>
          <p:cNvSpPr txBox="1">
            <a:spLocks/>
          </p:cNvSpPr>
          <p:nvPr/>
        </p:nvSpPr>
        <p:spPr>
          <a:xfrm>
            <a:off x="9204271" y="5719948"/>
            <a:ext cx="1604887" cy="71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Dead </a:t>
            </a:r>
            <a:r>
              <a:rPr lang="en-US" sz="1400" dirty="0">
                <a:sym typeface="Wingdings" panose="05000000000000000000" pitchFamily="2" charset="2"/>
              </a:rPr>
              <a:t></a:t>
            </a:r>
            <a:endParaRPr lang="en-GB" sz="1400" dirty="0"/>
          </a:p>
        </p:txBody>
      </p:sp>
      <p:sp>
        <p:nvSpPr>
          <p:cNvPr id="47" name="Content Placeholder 14">
            <a:extLst>
              <a:ext uri="{FF2B5EF4-FFF2-40B4-BE49-F238E27FC236}">
                <a16:creationId xmlns:a16="http://schemas.microsoft.com/office/drawing/2014/main" id="{88148D45-26C0-5824-6474-C75FAE072D69}"/>
              </a:ext>
            </a:extLst>
          </p:cNvPr>
          <p:cNvSpPr txBox="1">
            <a:spLocks/>
          </p:cNvSpPr>
          <p:nvPr/>
        </p:nvSpPr>
        <p:spPr>
          <a:xfrm>
            <a:off x="7120490" y="3048257"/>
            <a:ext cx="1604887" cy="124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Re-pot</a:t>
            </a:r>
          </a:p>
          <a:p>
            <a:pPr marL="0" indent="0" algn="ctr">
              <a:buNone/>
            </a:pPr>
            <a:r>
              <a:rPr lang="en-US" sz="1400" dirty="0"/>
              <a:t>Prune</a:t>
            </a:r>
          </a:p>
          <a:p>
            <a:pPr marL="0" indent="0" algn="ctr">
              <a:buNone/>
            </a:pPr>
            <a:r>
              <a:rPr lang="en-US" sz="1400" dirty="0"/>
              <a:t>Wire</a:t>
            </a:r>
            <a:endParaRPr lang="en-GB" sz="1400" dirty="0"/>
          </a:p>
        </p:txBody>
      </p:sp>
      <p:sp>
        <p:nvSpPr>
          <p:cNvPr id="48" name="Content Placeholder 14">
            <a:extLst>
              <a:ext uri="{FF2B5EF4-FFF2-40B4-BE49-F238E27FC236}">
                <a16:creationId xmlns:a16="http://schemas.microsoft.com/office/drawing/2014/main" id="{A338A10E-89EB-3CCD-4D82-0CF2EFF5012A}"/>
              </a:ext>
            </a:extLst>
          </p:cNvPr>
          <p:cNvSpPr txBox="1">
            <a:spLocks/>
          </p:cNvSpPr>
          <p:nvPr/>
        </p:nvSpPr>
        <p:spPr>
          <a:xfrm>
            <a:off x="560010" y="1706387"/>
            <a:ext cx="1075514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Sources</a:t>
            </a:r>
            <a:endParaRPr lang="en-GB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E05F1373-288F-7ED0-C790-4FB916610FC3}"/>
              </a:ext>
            </a:extLst>
          </p:cNvPr>
          <p:cNvSpPr txBox="1">
            <a:spLocks/>
          </p:cNvSpPr>
          <p:nvPr/>
        </p:nvSpPr>
        <p:spPr>
          <a:xfrm>
            <a:off x="9924594" y="2274900"/>
            <a:ext cx="1843387" cy="1042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Display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Exhibition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Photography</a:t>
            </a:r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EBE6A40A-61A2-8680-63E9-7C52C7FC44BD}"/>
              </a:ext>
            </a:extLst>
          </p:cNvPr>
          <p:cNvSpPr txBox="1">
            <a:spLocks/>
          </p:cNvSpPr>
          <p:nvPr/>
        </p:nvSpPr>
        <p:spPr>
          <a:xfrm>
            <a:off x="5723126" y="5487637"/>
            <a:ext cx="2025420" cy="1162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Major intervention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Restyling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Air layering</a:t>
            </a:r>
          </a:p>
          <a:p>
            <a:pPr>
              <a:spcBef>
                <a:spcPts val="300"/>
              </a:spcBef>
            </a:pPr>
            <a:r>
              <a:rPr lang="en-US" sz="1400" dirty="0"/>
              <a:t>Deadwood</a:t>
            </a:r>
          </a:p>
        </p:txBody>
      </p:sp>
    </p:spTree>
    <p:extLst>
      <p:ext uri="{BB962C8B-B14F-4D97-AF65-F5344CB8AC3E}">
        <p14:creationId xmlns:p14="http://schemas.microsoft.com/office/powerpoint/2010/main" val="84713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Why We Prune</a:t>
            </a:r>
            <a:br>
              <a:rPr lang="en-US" dirty="0"/>
            </a:br>
            <a:r>
              <a:rPr lang="en-US" sz="2800" dirty="0"/>
              <a:t>It’s not just repressed sadism, honest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5"/>
            <a:ext cx="10107207" cy="4961966"/>
          </a:xfrm>
        </p:spPr>
        <p:txBody>
          <a:bodyPr>
            <a:normAutofit/>
          </a:bodyPr>
          <a:lstStyle/>
          <a:p>
            <a:r>
              <a:rPr lang="en-GB" dirty="0"/>
              <a:t>Shape the tree</a:t>
            </a:r>
          </a:p>
          <a:p>
            <a:pPr lvl="1"/>
            <a:r>
              <a:rPr lang="en-GB" dirty="0"/>
              <a:t>“Structural” pruning to shape trunk + primary branches and fit a bonsai style / archetype</a:t>
            </a:r>
          </a:p>
          <a:p>
            <a:pPr lvl="1"/>
            <a:r>
              <a:rPr lang="en-GB" dirty="0"/>
              <a:t>Canopy pruning to create rounded-triangle shape(s)</a:t>
            </a:r>
          </a:p>
          <a:p>
            <a:r>
              <a:rPr lang="en-GB" dirty="0"/>
              <a:t>Shape the branch - encourage ramification and taper</a:t>
            </a:r>
          </a:p>
          <a:p>
            <a:pPr lvl="1"/>
            <a:r>
              <a:rPr lang="en-GB" dirty="0"/>
              <a:t>Encouraging lateral growth by removing terminal / apical buds</a:t>
            </a:r>
          </a:p>
          <a:p>
            <a:pPr lvl="1"/>
            <a:r>
              <a:rPr lang="en-GB" dirty="0"/>
              <a:t>Continuing the ramification process past the eye’s limits makes</a:t>
            </a:r>
            <a:br>
              <a:rPr lang="en-GB" dirty="0"/>
            </a:br>
            <a:r>
              <a:rPr lang="en-GB" dirty="0"/>
              <a:t>judging scale difficult and creates the illusion of great size </a:t>
            </a:r>
          </a:p>
          <a:p>
            <a:r>
              <a:rPr lang="en-GB" dirty="0"/>
              <a:t>Pick winners - before the tree can pick for us!</a:t>
            </a:r>
          </a:p>
          <a:p>
            <a:pPr lvl="1"/>
            <a:r>
              <a:rPr lang="en-GB" dirty="0"/>
              <a:t>Improve spacing and remove congestion and “fluff”</a:t>
            </a:r>
          </a:p>
          <a:p>
            <a:pPr lvl="1"/>
            <a:r>
              <a:rPr lang="en-GB" dirty="0"/>
              <a:t>“Balance energy”: force growth away from the apex towards more interesting (to us) areas</a:t>
            </a:r>
          </a:p>
          <a:p>
            <a:r>
              <a:rPr lang="en-GB" dirty="0"/>
              <a:t>Crowd management - reduction of green mass</a:t>
            </a:r>
          </a:p>
          <a:p>
            <a:pPr lvl="1"/>
            <a:r>
              <a:rPr lang="en-GB" dirty="0"/>
              <a:t>Let light through to lower areas of the tree (pruning for “inner growth”)</a:t>
            </a:r>
          </a:p>
          <a:p>
            <a:pPr lvl="1"/>
            <a:r>
              <a:rPr lang="en-GB" dirty="0"/>
              <a:t>Reduce water shock when re-potting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C89DE1-5065-0A78-297D-01F71A48B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5149" y="2859121"/>
            <a:ext cx="2245157" cy="182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0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Botany &amp; Pruning (1)</a:t>
            </a:r>
            <a:br>
              <a:rPr lang="en-US" dirty="0"/>
            </a:br>
            <a:r>
              <a:rPr lang="en-US" sz="2800" dirty="0"/>
              <a:t>Not all trees are alike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6034"/>
            <a:ext cx="8197726" cy="4961965"/>
          </a:xfrm>
        </p:spPr>
        <p:txBody>
          <a:bodyPr>
            <a:normAutofit/>
          </a:bodyPr>
          <a:lstStyle/>
          <a:p>
            <a:r>
              <a:rPr lang="en-GB" dirty="0"/>
              <a:t>Types of growth</a:t>
            </a:r>
          </a:p>
          <a:p>
            <a:pPr lvl="1"/>
            <a:r>
              <a:rPr lang="en-GB" b="1" dirty="0"/>
              <a:t>Apical</a:t>
            </a:r>
            <a:r>
              <a:rPr lang="en-GB" dirty="0"/>
              <a:t> growth from the tip of the trunk</a:t>
            </a:r>
          </a:p>
          <a:p>
            <a:pPr lvl="1"/>
            <a:r>
              <a:rPr lang="en-GB" b="1" dirty="0"/>
              <a:t>Terminal</a:t>
            </a:r>
            <a:r>
              <a:rPr lang="en-GB" dirty="0"/>
              <a:t> growth from the tip of branches</a:t>
            </a:r>
          </a:p>
          <a:p>
            <a:pPr lvl="1"/>
            <a:r>
              <a:rPr lang="en-GB" b="1" dirty="0"/>
              <a:t>Lateral</a:t>
            </a:r>
            <a:r>
              <a:rPr lang="en-GB" dirty="0"/>
              <a:t> growth from behind the tip</a:t>
            </a:r>
          </a:p>
          <a:p>
            <a:pPr lvl="1"/>
            <a:r>
              <a:rPr lang="en-GB" b="1" dirty="0"/>
              <a:t>Adventitious</a:t>
            </a:r>
            <a:r>
              <a:rPr lang="en-GB" dirty="0"/>
              <a:t> growth from the base of branches</a:t>
            </a:r>
          </a:p>
          <a:p>
            <a:pPr lvl="1"/>
            <a:r>
              <a:rPr lang="en-GB" b="1" dirty="0"/>
              <a:t>Epicormic</a:t>
            </a:r>
            <a:r>
              <a:rPr lang="en-GB" dirty="0"/>
              <a:t> growth from random spots on the trunk</a:t>
            </a:r>
          </a:p>
          <a:p>
            <a:r>
              <a:rPr lang="en-GB" dirty="0"/>
              <a:t>Back-budding (adventitious + epicormic*):  </a:t>
            </a:r>
            <a:r>
              <a:rPr lang="en-GB" sz="1600" dirty="0"/>
              <a:t>Weak back-budding </a:t>
            </a:r>
            <a:r>
              <a:rPr lang="en-US" sz="1600" dirty="0"/>
              <a:t>→</a:t>
            </a:r>
            <a:r>
              <a:rPr lang="en-GB" sz="1600" dirty="0"/>
              <a:t> we have to plan further ahead (e.g. leave sacrificial branches) to thicken the trunk</a:t>
            </a:r>
          </a:p>
          <a:p>
            <a:r>
              <a:rPr lang="en-GB" dirty="0"/>
              <a:t>Lateral growth:  </a:t>
            </a:r>
            <a:r>
              <a:rPr lang="en-GB" sz="1600" dirty="0"/>
              <a:t>Dense lateral growth </a:t>
            </a:r>
            <a:r>
              <a:rPr lang="en-US" sz="1600" dirty="0"/>
              <a:t>→</a:t>
            </a:r>
            <a:r>
              <a:rPr lang="en-GB" sz="1600" dirty="0"/>
              <a:t> we have to think in terms of zones along each branch instead of looking at individual sub-branches</a:t>
            </a:r>
          </a:p>
          <a:p>
            <a:r>
              <a:rPr lang="en-GB" dirty="0"/>
              <a:t>Apical dominance:  </a:t>
            </a:r>
            <a:r>
              <a:rPr lang="en-GB" sz="1600" dirty="0"/>
              <a:t>Some trees (conifers especially) grow more strongly upwards</a:t>
            </a:r>
          </a:p>
          <a:p>
            <a:r>
              <a:rPr lang="en-GB" dirty="0"/>
              <a:t>Flushes per year: </a:t>
            </a:r>
            <a:r>
              <a:rPr lang="en-GB" sz="1600" dirty="0"/>
              <a:t> Usually two (Spring and Lammas) except for mountain-growing pines</a:t>
            </a:r>
          </a:p>
          <a:p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E3A6D-2125-2BCB-8A54-AF7F5158E3FD}"/>
              </a:ext>
            </a:extLst>
          </p:cNvPr>
          <p:cNvGrpSpPr/>
          <p:nvPr/>
        </p:nvGrpSpPr>
        <p:grpSpPr>
          <a:xfrm>
            <a:off x="9054353" y="776598"/>
            <a:ext cx="2327751" cy="5304804"/>
            <a:chOff x="9424576" y="112059"/>
            <a:chExt cx="2327751" cy="5304804"/>
          </a:xfrm>
        </p:grpSpPr>
        <p:sp>
          <p:nvSpPr>
            <p:cNvPr id="21" name="Content Placeholder 14">
              <a:extLst>
                <a:ext uri="{FF2B5EF4-FFF2-40B4-BE49-F238E27FC236}">
                  <a16:creationId xmlns:a16="http://schemas.microsoft.com/office/drawing/2014/main" id="{4CF937A7-9BF5-BF51-C278-BB81905EAB8D}"/>
                </a:ext>
              </a:extLst>
            </p:cNvPr>
            <p:cNvSpPr txBox="1">
              <a:spLocks/>
            </p:cNvSpPr>
            <p:nvPr/>
          </p:nvSpPr>
          <p:spPr>
            <a:xfrm>
              <a:off x="9424576" y="112059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Apical</a:t>
              </a:r>
              <a:endParaRPr lang="en-GB" sz="1400" dirty="0"/>
            </a:p>
          </p:txBody>
        </p:sp>
        <p:sp>
          <p:nvSpPr>
            <p:cNvPr id="23" name="Content Placeholder 14">
              <a:extLst>
                <a:ext uri="{FF2B5EF4-FFF2-40B4-BE49-F238E27FC236}">
                  <a16:creationId xmlns:a16="http://schemas.microsoft.com/office/drawing/2014/main" id="{2B0E0692-E6EF-B04D-0B85-732DDA430033}"/>
                </a:ext>
              </a:extLst>
            </p:cNvPr>
            <p:cNvSpPr txBox="1">
              <a:spLocks/>
            </p:cNvSpPr>
            <p:nvPr/>
          </p:nvSpPr>
          <p:spPr>
            <a:xfrm>
              <a:off x="10620212" y="1114066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Terminal</a:t>
              </a:r>
              <a:endParaRPr lang="en-GB" sz="1400" dirty="0"/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9A0F265-A70D-C6D8-6C27-EAE462354D4D}"/>
                </a:ext>
              </a:extLst>
            </p:cNvPr>
            <p:cNvGrpSpPr/>
            <p:nvPr/>
          </p:nvGrpSpPr>
          <p:grpSpPr>
            <a:xfrm>
              <a:off x="9733823" y="710279"/>
              <a:ext cx="1399568" cy="4706584"/>
              <a:chOff x="9784567" y="1567253"/>
              <a:chExt cx="1399568" cy="4706584"/>
            </a:xfrm>
          </p:grpSpPr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4F6B3E36-B7AA-0FF4-DC79-0B9A3AD54FAB}"/>
                  </a:ext>
                </a:extLst>
              </p:cNvPr>
              <p:cNvSpPr/>
              <p:nvPr/>
            </p:nvSpPr>
            <p:spPr>
              <a:xfrm>
                <a:off x="9784567" y="1567253"/>
                <a:ext cx="413986" cy="4706584"/>
              </a:xfrm>
              <a:prstGeom prst="triangle">
                <a:avLst/>
              </a:prstGeom>
              <a:solidFill>
                <a:srgbClr val="C488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D0F97F60-E9EA-0456-E145-7AFBC9027336}"/>
                  </a:ext>
                </a:extLst>
              </p:cNvPr>
              <p:cNvSpPr/>
              <p:nvPr/>
            </p:nvSpPr>
            <p:spPr>
              <a:xfrm rot="3763539">
                <a:off x="10435649" y="2326730"/>
                <a:ext cx="225404" cy="1271569"/>
              </a:xfrm>
              <a:prstGeom prst="triangle">
                <a:avLst/>
              </a:prstGeom>
              <a:solidFill>
                <a:srgbClr val="C4884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E4668FF-8F6B-E528-E5A5-57C727FA9F5E}"/>
                  </a:ext>
                </a:extLst>
              </p:cNvPr>
              <p:cNvSpPr/>
              <p:nvPr/>
            </p:nvSpPr>
            <p:spPr>
              <a:xfrm>
                <a:off x="9935099" y="162821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4C2079B-39BB-878D-707D-C431385E61DD}"/>
                  </a:ext>
                </a:extLst>
              </p:cNvPr>
              <p:cNvSpPr/>
              <p:nvPr/>
            </p:nvSpPr>
            <p:spPr>
              <a:xfrm>
                <a:off x="11000363" y="2623248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93CC47B-6C74-EA8B-B97A-4C417BE5C58A}"/>
                  </a:ext>
                </a:extLst>
              </p:cNvPr>
              <p:cNvSpPr/>
              <p:nvPr/>
            </p:nvSpPr>
            <p:spPr>
              <a:xfrm>
                <a:off x="10034574" y="3019069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BE492CC-42A9-B078-3944-251FA254E8C0}"/>
                  </a:ext>
                </a:extLst>
              </p:cNvPr>
              <p:cNvSpPr/>
              <p:nvPr/>
            </p:nvSpPr>
            <p:spPr>
              <a:xfrm>
                <a:off x="10056123" y="3284781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0187D70-52E3-3D56-E5F8-4A0D39BCC7C1}"/>
                  </a:ext>
                </a:extLst>
              </p:cNvPr>
              <p:cNvSpPr/>
              <p:nvPr/>
            </p:nvSpPr>
            <p:spPr>
              <a:xfrm>
                <a:off x="10116635" y="5101959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102A37D-83F7-C4BC-0206-588C89D1A8B4}"/>
                  </a:ext>
                </a:extLst>
              </p:cNvPr>
              <p:cNvSpPr/>
              <p:nvPr/>
            </p:nvSpPr>
            <p:spPr>
              <a:xfrm>
                <a:off x="10762086" y="282599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B179014-85DE-06E4-1A45-E3F3A9EA5C34}"/>
                  </a:ext>
                </a:extLst>
              </p:cNvPr>
              <p:cNvSpPr/>
              <p:nvPr/>
            </p:nvSpPr>
            <p:spPr>
              <a:xfrm>
                <a:off x="10464302" y="2825993"/>
                <a:ext cx="121024" cy="115468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6" name="Content Placeholder 14">
              <a:extLst>
                <a:ext uri="{FF2B5EF4-FFF2-40B4-BE49-F238E27FC236}">
                  <a16:creationId xmlns:a16="http://schemas.microsoft.com/office/drawing/2014/main" id="{303D7E70-F326-F686-0CE4-12356AC88088}"/>
                </a:ext>
              </a:extLst>
            </p:cNvPr>
            <p:cNvSpPr txBox="1">
              <a:spLocks/>
            </p:cNvSpPr>
            <p:nvPr/>
          </p:nvSpPr>
          <p:spPr>
            <a:xfrm>
              <a:off x="10682316" y="1919652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Lateral</a:t>
              </a:r>
              <a:endParaRPr lang="en-GB" sz="1400" dirty="0"/>
            </a:p>
          </p:txBody>
        </p:sp>
        <p:sp>
          <p:nvSpPr>
            <p:cNvPr id="27" name="Content Placeholder 14">
              <a:extLst>
                <a:ext uri="{FF2B5EF4-FFF2-40B4-BE49-F238E27FC236}">
                  <a16:creationId xmlns:a16="http://schemas.microsoft.com/office/drawing/2014/main" id="{D8928D55-7561-B8D6-E08E-6C2A1FBBC158}"/>
                </a:ext>
              </a:extLst>
            </p:cNvPr>
            <p:cNvSpPr txBox="1">
              <a:spLocks/>
            </p:cNvSpPr>
            <p:nvPr/>
          </p:nvSpPr>
          <p:spPr>
            <a:xfrm>
              <a:off x="9944850" y="2485099"/>
              <a:ext cx="1233492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Adventitious</a:t>
              </a:r>
              <a:endParaRPr lang="en-GB" sz="1400" dirty="0"/>
            </a:p>
          </p:txBody>
        </p:sp>
        <p:sp>
          <p:nvSpPr>
            <p:cNvPr id="28" name="Content Placeholder 14">
              <a:extLst>
                <a:ext uri="{FF2B5EF4-FFF2-40B4-BE49-F238E27FC236}">
                  <a16:creationId xmlns:a16="http://schemas.microsoft.com/office/drawing/2014/main" id="{802D12E5-B941-B577-42A3-EF4976DEB272}"/>
                </a:ext>
              </a:extLst>
            </p:cNvPr>
            <p:cNvSpPr txBox="1">
              <a:spLocks/>
            </p:cNvSpPr>
            <p:nvPr/>
          </p:nvSpPr>
          <p:spPr>
            <a:xfrm>
              <a:off x="10085206" y="3827880"/>
              <a:ext cx="1070011" cy="78304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Epicormic</a:t>
              </a:r>
              <a:endParaRPr lang="en-GB" sz="1400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7EA8F0A-1F9C-E86D-F350-87BBAF1EC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82316" y="2084487"/>
              <a:ext cx="196346" cy="193076"/>
            </a:xfrm>
            <a:prstGeom prst="lin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D86976E-3CF8-60F0-8012-E5F604C057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87017" y="2352355"/>
              <a:ext cx="474579" cy="294636"/>
            </a:xfrm>
            <a:prstGeom prst="line">
              <a:avLst/>
            </a:prstGeom>
            <a:ln w="57150"/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2CDBE24A-2BC8-D5A2-370D-6FAAE6CD88ED}"/>
              </a:ext>
            </a:extLst>
          </p:cNvPr>
          <p:cNvSpPr txBox="1">
            <a:spLocks/>
          </p:cNvSpPr>
          <p:nvPr/>
        </p:nvSpPr>
        <p:spPr>
          <a:xfrm>
            <a:off x="3062908" y="6397637"/>
            <a:ext cx="5812152" cy="4688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* Warning: botanists use “back-budding” to mean something different!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320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Botany &amp; Pruning (2)</a:t>
            </a:r>
            <a:br>
              <a:rPr lang="en-US" dirty="0"/>
            </a:br>
            <a:r>
              <a:rPr lang="en-US" sz="2800" dirty="0"/>
              <a:t>Three main types of foliage</a:t>
            </a:r>
            <a:endParaRPr lang="en-GB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267C19-FC47-6081-C686-899210780598}"/>
              </a:ext>
            </a:extLst>
          </p:cNvPr>
          <p:cNvCxnSpPr>
            <a:cxnSpLocks/>
          </p:cNvCxnSpPr>
          <p:nvPr/>
        </p:nvCxnSpPr>
        <p:spPr>
          <a:xfrm flipH="1" flipV="1">
            <a:off x="5116594" y="4204448"/>
            <a:ext cx="4538394" cy="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CE9F80-5F34-D29C-EDC0-FCDB6F60329F}"/>
              </a:ext>
            </a:extLst>
          </p:cNvPr>
          <p:cNvCxnSpPr>
            <a:cxnSpLocks/>
          </p:cNvCxnSpPr>
          <p:nvPr/>
        </p:nvCxnSpPr>
        <p:spPr>
          <a:xfrm flipH="1">
            <a:off x="4377006" y="4204447"/>
            <a:ext cx="739588" cy="22456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5CC529-3E5F-6B17-55E8-FB021F631C9D}"/>
              </a:ext>
            </a:extLst>
          </p:cNvPr>
          <p:cNvCxnSpPr>
            <a:cxnSpLocks/>
          </p:cNvCxnSpPr>
          <p:nvPr/>
        </p:nvCxnSpPr>
        <p:spPr>
          <a:xfrm flipH="1" flipV="1">
            <a:off x="4377006" y="1947582"/>
            <a:ext cx="739588" cy="2245659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D2CB77D-378D-5C2B-249C-C79ED3775178}"/>
              </a:ext>
            </a:extLst>
          </p:cNvPr>
          <p:cNvSpPr txBox="1">
            <a:spLocks/>
          </p:cNvSpPr>
          <p:nvPr/>
        </p:nvSpPr>
        <p:spPr>
          <a:xfrm>
            <a:off x="953893" y="2487758"/>
            <a:ext cx="1706347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Broadleaf</a:t>
            </a:r>
            <a:endParaRPr lang="en-GB" dirty="0"/>
          </a:p>
        </p:txBody>
      </p:sp>
      <p:pic>
        <p:nvPicPr>
          <p:cNvPr id="1026" name="Picture 2" descr="The Different Oak Trees Native to the UK — An Darach Forest Therapy">
            <a:extLst>
              <a:ext uri="{FF2B5EF4-FFF2-40B4-BE49-F238E27FC236}">
                <a16:creationId xmlns:a16="http://schemas.microsoft.com/office/drawing/2014/main" id="{F9B949A5-88F6-B10D-75F6-0A7A6E03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12" y="2963962"/>
            <a:ext cx="2691640" cy="269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uniper - Wikipedia">
            <a:extLst>
              <a:ext uri="{FF2B5EF4-FFF2-40B4-BE49-F238E27FC236}">
                <a16:creationId xmlns:a16="http://schemas.microsoft.com/office/drawing/2014/main" id="{8CF13724-585E-C35E-0EF9-F1D77E9C0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735015" y="4520787"/>
            <a:ext cx="20955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Content Placeholder 14">
            <a:extLst>
              <a:ext uri="{FF2B5EF4-FFF2-40B4-BE49-F238E27FC236}">
                <a16:creationId xmlns:a16="http://schemas.microsoft.com/office/drawing/2014/main" id="{DDD9E606-2909-8581-3328-D1F126016104}"/>
              </a:ext>
            </a:extLst>
          </p:cNvPr>
          <p:cNvSpPr txBox="1">
            <a:spLocks/>
          </p:cNvSpPr>
          <p:nvPr/>
        </p:nvSpPr>
        <p:spPr>
          <a:xfrm>
            <a:off x="5980186" y="4453298"/>
            <a:ext cx="2034261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Spiky / scaly</a:t>
            </a:r>
            <a:endParaRPr lang="en-GB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3FA7AEF6-A927-AB0A-C0DF-2C34D56CE3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46"/>
          <a:stretch/>
        </p:blipFill>
        <p:spPr bwMode="auto">
          <a:xfrm>
            <a:off x="5639920" y="1978330"/>
            <a:ext cx="3491741" cy="21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ontent Placeholder 14">
            <a:extLst>
              <a:ext uri="{FF2B5EF4-FFF2-40B4-BE49-F238E27FC236}">
                <a16:creationId xmlns:a16="http://schemas.microsoft.com/office/drawing/2014/main" id="{FD20B54E-05F1-C3D7-EC92-25B613105D6F}"/>
              </a:ext>
            </a:extLst>
          </p:cNvPr>
          <p:cNvSpPr txBox="1">
            <a:spLocks/>
          </p:cNvSpPr>
          <p:nvPr/>
        </p:nvSpPr>
        <p:spPr>
          <a:xfrm>
            <a:off x="5980186" y="1772771"/>
            <a:ext cx="2034261" cy="5826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Needle-bearing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4793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Structural Pruning</a:t>
            </a:r>
            <a:br>
              <a:rPr lang="en-US" dirty="0"/>
            </a:br>
            <a:r>
              <a:rPr lang="en-US" sz="2800" dirty="0"/>
              <a:t>Building a solid foundation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5905144" cy="5105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900" dirty="0"/>
              <a:t>Goals</a:t>
            </a:r>
          </a:p>
          <a:p>
            <a:r>
              <a:rPr lang="en-US" sz="1700" dirty="0"/>
              <a:t>Select an appropriate style for the tree</a:t>
            </a:r>
          </a:p>
          <a:p>
            <a:r>
              <a:rPr lang="en-US" sz="1700" dirty="0"/>
              <a:t>Identify and establish the trunk and first few branches of the bonsai</a:t>
            </a:r>
          </a:p>
          <a:p>
            <a:r>
              <a:rPr lang="en-US" sz="1700" dirty="0"/>
              <a:t>Mark out sacrificial branches to thicken the trunk / </a:t>
            </a:r>
            <a:r>
              <a:rPr lang="en-US" sz="1700" dirty="0" err="1"/>
              <a:t>nebari</a:t>
            </a:r>
            <a:endParaRPr lang="en-US" sz="1700" dirty="0"/>
          </a:p>
          <a:p>
            <a:r>
              <a:rPr lang="en-US" sz="1700" dirty="0"/>
              <a:t>During the tree’s “training” phase: make the most of fast woody growth</a:t>
            </a:r>
          </a:p>
          <a:p>
            <a:r>
              <a:rPr lang="en-US" sz="1700" dirty="0"/>
              <a:t>Create a base for subsequent development of smaller branches and canopy</a:t>
            </a:r>
          </a:p>
          <a:p>
            <a:pPr marL="0" indent="0">
              <a:buNone/>
            </a:pPr>
            <a:r>
              <a:rPr lang="en-US" sz="1900" dirty="0"/>
              <a:t>Approach</a:t>
            </a:r>
          </a:p>
          <a:p>
            <a:r>
              <a:rPr lang="en-US" sz="1700" dirty="0"/>
              <a:t>Start from the base</a:t>
            </a:r>
          </a:p>
          <a:p>
            <a:r>
              <a:rPr lang="en-US" sz="1700" dirty="0"/>
              <a:t>Clear branches from the lower trunk</a:t>
            </a:r>
          </a:p>
          <a:p>
            <a:pPr lvl="1"/>
            <a:r>
              <a:rPr lang="en-US" sz="1500" dirty="0"/>
              <a:t>Or mark for later removal, in which case remove all side-growth to avoid wasted energy</a:t>
            </a:r>
          </a:p>
          <a:p>
            <a:r>
              <a:rPr lang="en-US" sz="1700" dirty="0"/>
              <a:t>Working up the tree, at each node remove all but two branches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C752524-96A0-67D7-4350-A63A65B2AF47}"/>
              </a:ext>
            </a:extLst>
          </p:cNvPr>
          <p:cNvGrpSpPr/>
          <p:nvPr/>
        </p:nvGrpSpPr>
        <p:grpSpPr>
          <a:xfrm>
            <a:off x="5977719" y="732400"/>
            <a:ext cx="4843009" cy="4681997"/>
            <a:chOff x="4862612" y="1476482"/>
            <a:chExt cx="5564277" cy="498767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CF06BB8-F5AA-56EF-4D6C-F27713B86E2D}"/>
                </a:ext>
              </a:extLst>
            </p:cNvPr>
            <p:cNvGrpSpPr/>
            <p:nvPr/>
          </p:nvGrpSpPr>
          <p:grpSpPr>
            <a:xfrm>
              <a:off x="5718410" y="1476482"/>
              <a:ext cx="4708479" cy="4334273"/>
              <a:chOff x="5718410" y="1476482"/>
              <a:chExt cx="4708479" cy="4334273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D517861-55B3-CC87-CDFC-A7B10E252F4B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BDAD94D-E22F-B3B4-3D25-B17030394738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B3E9D17-2898-1002-44B6-636C14A355C2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B7461D6-D200-1E3F-8218-56100C0769C1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0210EA0-15CC-C7CF-90FC-B88935BDE90D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68BCD3B-0127-90C5-CB7B-0AE582B5D209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9C9DE99-BAAF-78A9-DD6B-169097ACF1FA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31C64325-F476-F8D1-439D-62927970A8A5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E540A71-04B3-FEAF-7E13-5398B0923E25}"/>
                </a:ext>
              </a:extLst>
            </p:cNvPr>
            <p:cNvGrpSpPr/>
            <p:nvPr/>
          </p:nvGrpSpPr>
          <p:grpSpPr>
            <a:xfrm>
              <a:off x="6310166" y="2642620"/>
              <a:ext cx="3524966" cy="3244820"/>
              <a:chOff x="5718410" y="1476482"/>
              <a:chExt cx="4708479" cy="4334273"/>
            </a:xfrm>
            <a:solidFill>
              <a:schemeClr val="accent1"/>
            </a:solidFill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9063099C-3C0F-12CA-5FB7-1F0178F7517C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832186A-715E-C00B-FAC8-BE9941EFD2A9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C75994FF-5989-8249-E916-06A1C41FEC94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ABA7D52A-EAA6-6135-84BD-FA22581F893A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AD68CF7-AC3E-3C84-0336-257803D37219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0E7E79A-29B9-7AAE-128D-B14C42BA229B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900439CD-5FDF-7550-C819-6DC69C712E8B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32C4CFC-15C8-40F0-BD2B-732EB0F19D9D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A76887C-2456-533B-9A8B-103553CD7A79}"/>
                </a:ext>
              </a:extLst>
            </p:cNvPr>
            <p:cNvGrpSpPr/>
            <p:nvPr/>
          </p:nvGrpSpPr>
          <p:grpSpPr>
            <a:xfrm>
              <a:off x="6727096" y="3493667"/>
              <a:ext cx="2699630" cy="2485077"/>
              <a:chOff x="5718410" y="1476482"/>
              <a:chExt cx="4708479" cy="4334273"/>
            </a:xfrm>
            <a:solidFill>
              <a:schemeClr val="bg1"/>
            </a:solidFill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70BDB44-619A-1DFA-DA39-94AAF6955AD4}"/>
                  </a:ext>
                </a:extLst>
              </p:cNvPr>
              <p:cNvSpPr/>
              <p:nvPr/>
            </p:nvSpPr>
            <p:spPr>
              <a:xfrm>
                <a:off x="7287904" y="147648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067E5BCD-CC1C-1416-5C28-72ECF1AD9F0A}"/>
                  </a:ext>
                </a:extLst>
              </p:cNvPr>
              <p:cNvSpPr/>
              <p:nvPr/>
            </p:nvSpPr>
            <p:spPr>
              <a:xfrm>
                <a:off x="6503157" y="2554167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60C6A00C-A770-5108-6D91-79B672A32AC7}"/>
                  </a:ext>
                </a:extLst>
              </p:cNvPr>
              <p:cNvSpPr/>
              <p:nvPr/>
            </p:nvSpPr>
            <p:spPr>
              <a:xfrm>
                <a:off x="8072650" y="25541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E53C6965-49B6-03F9-D1B7-290C3E24D0D6}"/>
                  </a:ext>
                </a:extLst>
              </p:cNvPr>
              <p:cNvSpPr/>
              <p:nvPr/>
            </p:nvSpPr>
            <p:spPr>
              <a:xfrm>
                <a:off x="7287903" y="3636556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452A3380-8EAD-9583-E1B7-25DBE3232CF8}"/>
                  </a:ext>
                </a:extLst>
              </p:cNvPr>
              <p:cNvSpPr/>
              <p:nvPr/>
            </p:nvSpPr>
            <p:spPr>
              <a:xfrm>
                <a:off x="8857396" y="3631849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2931653-E812-ABCA-2EFE-DD0C55F5983C}"/>
                  </a:ext>
                </a:extLst>
              </p:cNvPr>
              <p:cNvSpPr/>
              <p:nvPr/>
            </p:nvSpPr>
            <p:spPr>
              <a:xfrm>
                <a:off x="5718410" y="3641265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D4EC340-152B-7089-8F59-A35834608F02}"/>
                  </a:ext>
                </a:extLst>
              </p:cNvPr>
              <p:cNvSpPr/>
              <p:nvPr/>
            </p:nvSpPr>
            <p:spPr>
              <a:xfrm>
                <a:off x="6456416" y="3641263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D96186C-E349-8661-0B9D-A1BE09729364}"/>
                  </a:ext>
                </a:extLst>
              </p:cNvPr>
              <p:cNvSpPr/>
              <p:nvPr/>
            </p:nvSpPr>
            <p:spPr>
              <a:xfrm>
                <a:off x="8119390" y="3645972"/>
                <a:ext cx="1569493" cy="216478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36" name="Trapezoid 235">
              <a:extLst>
                <a:ext uri="{FF2B5EF4-FFF2-40B4-BE49-F238E27FC236}">
                  <a16:creationId xmlns:a16="http://schemas.microsoft.com/office/drawing/2014/main" id="{B3B7F54C-FF0A-2F9F-0DA8-B6F2A35DABA1}"/>
                </a:ext>
              </a:extLst>
            </p:cNvPr>
            <p:cNvSpPr/>
            <p:nvPr/>
          </p:nvSpPr>
          <p:spPr>
            <a:xfrm flipH="1">
              <a:off x="7791674" y="4111562"/>
              <a:ext cx="596945" cy="2352593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5" name="Trapezoid 34">
              <a:extLst>
                <a:ext uri="{FF2B5EF4-FFF2-40B4-BE49-F238E27FC236}">
                  <a16:creationId xmlns:a16="http://schemas.microsoft.com/office/drawing/2014/main" id="{4B4A8D1F-6F30-88DE-64C1-0DC74E0F8EC3}"/>
                </a:ext>
              </a:extLst>
            </p:cNvPr>
            <p:cNvSpPr/>
            <p:nvPr/>
          </p:nvSpPr>
          <p:spPr>
            <a:xfrm rot="2892506" flipH="1">
              <a:off x="8254436" y="4334687"/>
              <a:ext cx="201707" cy="794940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6" name="Trapezoid 35">
              <a:extLst>
                <a:ext uri="{FF2B5EF4-FFF2-40B4-BE49-F238E27FC236}">
                  <a16:creationId xmlns:a16="http://schemas.microsoft.com/office/drawing/2014/main" id="{E992E482-94B9-DCCA-4E77-0D04414E0CA1}"/>
                </a:ext>
              </a:extLst>
            </p:cNvPr>
            <p:cNvSpPr/>
            <p:nvPr/>
          </p:nvSpPr>
          <p:spPr>
            <a:xfrm rot="4259533" flipH="1">
              <a:off x="8617352" y="4864554"/>
              <a:ext cx="314938" cy="1241189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8" name="Trapezoid 37">
              <a:extLst>
                <a:ext uri="{FF2B5EF4-FFF2-40B4-BE49-F238E27FC236}">
                  <a16:creationId xmlns:a16="http://schemas.microsoft.com/office/drawing/2014/main" id="{F0176DF1-E055-EBD5-92F3-9D6C81B7ABFF}"/>
                </a:ext>
              </a:extLst>
            </p:cNvPr>
            <p:cNvSpPr/>
            <p:nvPr/>
          </p:nvSpPr>
          <p:spPr>
            <a:xfrm rot="17693626" flipH="1">
              <a:off x="7462899" y="4725636"/>
              <a:ext cx="244104" cy="962029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Trapezoid 38">
              <a:extLst>
                <a:ext uri="{FF2B5EF4-FFF2-40B4-BE49-F238E27FC236}">
                  <a16:creationId xmlns:a16="http://schemas.microsoft.com/office/drawing/2014/main" id="{4A5226A8-42E2-9AA9-39C0-8056C477B4A3}"/>
                </a:ext>
              </a:extLst>
            </p:cNvPr>
            <p:cNvSpPr/>
            <p:nvPr/>
          </p:nvSpPr>
          <p:spPr>
            <a:xfrm rot="16200000" flipH="1">
              <a:off x="6664007" y="4737158"/>
              <a:ext cx="161980" cy="2772708"/>
            </a:xfrm>
            <a:prstGeom prst="trapezoid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F757AC3-1D06-5F3B-D5B4-776D6589BA9B}"/>
                </a:ext>
              </a:extLst>
            </p:cNvPr>
            <p:cNvSpPr/>
            <p:nvPr/>
          </p:nvSpPr>
          <p:spPr>
            <a:xfrm rot="5400000">
              <a:off x="5000920" y="5596543"/>
              <a:ext cx="729304" cy="10059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206C912-C1D6-51C5-2E60-1DA65DA4A8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97148" y="5978744"/>
              <a:ext cx="41394" cy="28374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9082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Pruning for Ramification (1)</a:t>
            </a:r>
            <a:br>
              <a:rPr lang="en-US" dirty="0"/>
            </a:br>
            <a:r>
              <a:rPr lang="en-US" sz="2800" dirty="0"/>
              <a:t>Broadleaf trees: playing in easy mode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5818"/>
            <a:ext cx="4989366" cy="51821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Context</a:t>
            </a:r>
          </a:p>
          <a:p>
            <a:r>
              <a:rPr lang="en-US" sz="1600" dirty="0"/>
              <a:t>Can handle loss of mass</a:t>
            </a:r>
          </a:p>
          <a:p>
            <a:r>
              <a:rPr lang="en-US" sz="1600" dirty="0"/>
              <a:t>Back-buds readily</a:t>
            </a:r>
          </a:p>
          <a:p>
            <a:r>
              <a:rPr lang="en-US" sz="1600" dirty="0"/>
              <a:t>Leaves may be simple or compound, </a:t>
            </a:r>
            <a:br>
              <a:rPr lang="en-US" sz="1600" dirty="0"/>
            </a:br>
            <a:r>
              <a:rPr lang="en-US" sz="1600" dirty="0"/>
              <a:t>alternating or opposite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pPr marL="342900" lvl="1" indent="-342900"/>
            <a:r>
              <a:rPr lang="en-US" dirty="0"/>
              <a:t>Reduced bulk of foliage</a:t>
            </a:r>
          </a:p>
          <a:p>
            <a:pPr marL="342900" lvl="1" indent="-342900"/>
            <a:r>
              <a:rPr lang="en-US" dirty="0"/>
              <a:t>Minimal wasted growth</a:t>
            </a:r>
          </a:p>
          <a:p>
            <a:pPr marL="342900" lvl="1" indent="-342900"/>
            <a:r>
              <a:rPr lang="en-US" dirty="0"/>
              <a:t>Strong taper along branch</a:t>
            </a:r>
          </a:p>
          <a:p>
            <a:pPr marL="0" indent="0">
              <a:buNone/>
            </a:pPr>
            <a:r>
              <a:rPr lang="en-US" dirty="0"/>
              <a:t>Approach</a:t>
            </a:r>
          </a:p>
          <a:p>
            <a:pPr marL="342900" lvl="1" indent="-342900"/>
            <a:r>
              <a:rPr lang="en-US" dirty="0"/>
              <a:t>Once a branch is well-established, cut it back to “two heirs and a spare” (at least)</a:t>
            </a:r>
          </a:p>
          <a:p>
            <a:pPr marL="742950" lvl="2" indent="-342900"/>
            <a:r>
              <a:rPr lang="en-US" dirty="0"/>
              <a:t>The spare is a sacrificial branch: it can be removed later if the heirs survive</a:t>
            </a:r>
          </a:p>
          <a:p>
            <a:pPr marL="742950" lvl="2" indent="-342900"/>
            <a:r>
              <a:rPr lang="en-US" dirty="0"/>
              <a:t>One sub-branch will become the new “leader”; the other will be a side-branch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15F604B-0C0C-3ABD-5F60-ADA03C33470C}"/>
              </a:ext>
            </a:extLst>
          </p:cNvPr>
          <p:cNvGrpSpPr/>
          <p:nvPr/>
        </p:nvGrpSpPr>
        <p:grpSpPr>
          <a:xfrm>
            <a:off x="8770861" y="1344514"/>
            <a:ext cx="2427928" cy="1410943"/>
            <a:chOff x="8770861" y="1344514"/>
            <a:chExt cx="2427928" cy="14109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C8BC30-B240-ACB0-3B7D-D39111F9F14F}"/>
                </a:ext>
              </a:extLst>
            </p:cNvPr>
            <p:cNvSpPr/>
            <p:nvPr/>
          </p:nvSpPr>
          <p:spPr>
            <a:xfrm>
              <a:off x="8770861" y="1760375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AB671983-F354-1C41-49BA-A03715F4CC08}"/>
                </a:ext>
              </a:extLst>
            </p:cNvPr>
            <p:cNvSpPr/>
            <p:nvPr/>
          </p:nvSpPr>
          <p:spPr>
            <a:xfrm rot="3686647">
              <a:off x="9934616" y="728544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11D2A5-4A24-69D1-31FC-B04C83046D7D}"/>
                </a:ext>
              </a:extLst>
            </p:cNvPr>
            <p:cNvSpPr/>
            <p:nvPr/>
          </p:nvSpPr>
          <p:spPr>
            <a:xfrm>
              <a:off x="9456661" y="1997886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13E1649-9785-F769-16C4-98E0E041DEC0}"/>
                </a:ext>
              </a:extLst>
            </p:cNvPr>
            <p:cNvSpPr/>
            <p:nvPr/>
          </p:nvSpPr>
          <p:spPr>
            <a:xfrm>
              <a:off x="9831153" y="2015280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39CF59A-BA33-C4F6-6AD3-F561CA1D7DBF}"/>
                </a:ext>
              </a:extLst>
            </p:cNvPr>
            <p:cNvSpPr/>
            <p:nvPr/>
          </p:nvSpPr>
          <p:spPr>
            <a:xfrm>
              <a:off x="9999241" y="1697493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4944A3-435B-EAA9-B7DD-0E8E8FB09EF5}"/>
                </a:ext>
              </a:extLst>
            </p:cNvPr>
            <p:cNvSpPr/>
            <p:nvPr/>
          </p:nvSpPr>
          <p:spPr>
            <a:xfrm>
              <a:off x="10434059" y="1675818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2619A06-F98D-6158-A789-FE984A04B851}"/>
                </a:ext>
              </a:extLst>
            </p:cNvPr>
            <p:cNvSpPr/>
            <p:nvPr/>
          </p:nvSpPr>
          <p:spPr>
            <a:xfrm>
              <a:off x="10650315" y="142759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C49E523-883C-13C6-2EB0-6DEDAA0B5C56}"/>
                </a:ext>
              </a:extLst>
            </p:cNvPr>
            <p:cNvSpPr/>
            <p:nvPr/>
          </p:nvSpPr>
          <p:spPr>
            <a:xfrm>
              <a:off x="10946194" y="134451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E750776-2B73-137C-7D99-454DC8ADE808}"/>
              </a:ext>
            </a:extLst>
          </p:cNvPr>
          <p:cNvGrpSpPr/>
          <p:nvPr/>
        </p:nvGrpSpPr>
        <p:grpSpPr>
          <a:xfrm>
            <a:off x="5867400" y="1761564"/>
            <a:ext cx="1389531" cy="995082"/>
            <a:chOff x="5867400" y="1761564"/>
            <a:chExt cx="1389531" cy="9950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E2F7EA-3D28-CF2F-6BFE-BBA2B06CD96E}"/>
                </a:ext>
              </a:extLst>
            </p:cNvPr>
            <p:cNvSpPr/>
            <p:nvPr/>
          </p:nvSpPr>
          <p:spPr>
            <a:xfrm>
              <a:off x="5867400" y="1761564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2FA5A203-6701-996E-2071-1426A859B6EE}"/>
                </a:ext>
              </a:extLst>
            </p:cNvPr>
            <p:cNvSpPr/>
            <p:nvPr/>
          </p:nvSpPr>
          <p:spPr>
            <a:xfrm rot="3686647">
              <a:off x="6610345" y="1560437"/>
              <a:ext cx="150172" cy="11430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2128784-B281-2858-051C-EA79C0AA490D}"/>
                </a:ext>
              </a:extLst>
            </p:cNvPr>
            <p:cNvSpPr/>
            <p:nvPr/>
          </p:nvSpPr>
          <p:spPr>
            <a:xfrm>
              <a:off x="6530787" y="2028365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CEE98C-F29C-41B0-7F64-555B2052D029}"/>
                </a:ext>
              </a:extLst>
            </p:cNvPr>
            <p:cNvSpPr/>
            <p:nvPr/>
          </p:nvSpPr>
          <p:spPr>
            <a:xfrm>
              <a:off x="6905279" y="1970631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6178D92-FADB-1F20-52DF-13BFA62AB352}"/>
              </a:ext>
            </a:extLst>
          </p:cNvPr>
          <p:cNvGrpSpPr/>
          <p:nvPr/>
        </p:nvGrpSpPr>
        <p:grpSpPr>
          <a:xfrm>
            <a:off x="5867400" y="5141467"/>
            <a:ext cx="1365029" cy="1016422"/>
            <a:chOff x="5867400" y="5141467"/>
            <a:chExt cx="1365029" cy="1016422"/>
          </a:xfrm>
        </p:grpSpPr>
        <p:sp>
          <p:nvSpPr>
            <p:cNvPr id="18" name="Trapezoid 17">
              <a:extLst>
                <a:ext uri="{FF2B5EF4-FFF2-40B4-BE49-F238E27FC236}">
                  <a16:creationId xmlns:a16="http://schemas.microsoft.com/office/drawing/2014/main" id="{E43C4A67-6FD7-CF5F-B6F0-E5D43F88428B}"/>
                </a:ext>
              </a:extLst>
            </p:cNvPr>
            <p:cNvSpPr/>
            <p:nvPr/>
          </p:nvSpPr>
          <p:spPr>
            <a:xfrm rot="3660000">
              <a:off x="6565996" y="4983117"/>
              <a:ext cx="235500" cy="1097366"/>
            </a:xfrm>
            <a:prstGeom prst="trapezoi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5011FB3-098C-B5BD-58AA-886286FBD3E9}"/>
                </a:ext>
              </a:extLst>
            </p:cNvPr>
            <p:cNvSpPr/>
            <p:nvPr/>
          </p:nvSpPr>
          <p:spPr>
            <a:xfrm>
              <a:off x="5867400" y="5162807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A9A54D2-4ED8-4C21-D6EA-0227E2288CE6}"/>
                </a:ext>
              </a:extLst>
            </p:cNvPr>
            <p:cNvSpPr/>
            <p:nvPr/>
          </p:nvSpPr>
          <p:spPr>
            <a:xfrm>
              <a:off x="6474831" y="5435223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EC7EF43-687F-BFAE-7543-3803456BA3CA}"/>
                </a:ext>
              </a:extLst>
            </p:cNvPr>
            <p:cNvSpPr/>
            <p:nvPr/>
          </p:nvSpPr>
          <p:spPr>
            <a:xfrm>
              <a:off x="6849323" y="545261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7191225-A140-93E6-C5EC-BFB27FA9549B}"/>
                </a:ext>
              </a:extLst>
            </p:cNvPr>
            <p:cNvSpPr/>
            <p:nvPr/>
          </p:nvSpPr>
          <p:spPr>
            <a:xfrm>
              <a:off x="7009623" y="514146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3154347-076D-E275-4808-FB105920BA95}"/>
              </a:ext>
            </a:extLst>
          </p:cNvPr>
          <p:cNvGrpSpPr/>
          <p:nvPr/>
        </p:nvGrpSpPr>
        <p:grpSpPr>
          <a:xfrm>
            <a:off x="8770861" y="3048341"/>
            <a:ext cx="2427928" cy="1427137"/>
            <a:chOff x="8770861" y="3048341"/>
            <a:chExt cx="2427928" cy="142713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EC85259-AB47-05DB-853C-C7ACE564229B}"/>
                </a:ext>
              </a:extLst>
            </p:cNvPr>
            <p:cNvSpPr/>
            <p:nvPr/>
          </p:nvSpPr>
          <p:spPr>
            <a:xfrm>
              <a:off x="8770861" y="3480396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66DD110D-FBEE-8C82-0297-C85ACBE0D0E0}"/>
                </a:ext>
              </a:extLst>
            </p:cNvPr>
            <p:cNvSpPr/>
            <p:nvPr/>
          </p:nvSpPr>
          <p:spPr>
            <a:xfrm rot="3686647">
              <a:off x="9934616" y="2448565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B5F6B1F-06F7-10F2-BFCC-07B719F23023}"/>
                </a:ext>
              </a:extLst>
            </p:cNvPr>
            <p:cNvSpPr/>
            <p:nvPr/>
          </p:nvSpPr>
          <p:spPr>
            <a:xfrm>
              <a:off x="9456661" y="3717907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A971AB5-98A2-DDD1-D558-2FC1BAEAEA8C}"/>
                </a:ext>
              </a:extLst>
            </p:cNvPr>
            <p:cNvSpPr/>
            <p:nvPr/>
          </p:nvSpPr>
          <p:spPr>
            <a:xfrm>
              <a:off x="9831153" y="3735301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6F1785D-8DC8-5A01-653F-E925FE436493}"/>
                </a:ext>
              </a:extLst>
            </p:cNvPr>
            <p:cNvSpPr/>
            <p:nvPr/>
          </p:nvSpPr>
          <p:spPr>
            <a:xfrm>
              <a:off x="9999241" y="341751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354043B-291B-2708-D62C-D43C00F7A630}"/>
                </a:ext>
              </a:extLst>
            </p:cNvPr>
            <p:cNvSpPr/>
            <p:nvPr/>
          </p:nvSpPr>
          <p:spPr>
            <a:xfrm>
              <a:off x="10434059" y="3395839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77FF68D-CBF0-30BA-89E4-936374D469E8}"/>
                </a:ext>
              </a:extLst>
            </p:cNvPr>
            <p:cNvSpPr/>
            <p:nvPr/>
          </p:nvSpPr>
          <p:spPr>
            <a:xfrm>
              <a:off x="10650315" y="3147615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C8380D4-D62B-0D52-766F-A6CC1844053A}"/>
                </a:ext>
              </a:extLst>
            </p:cNvPr>
            <p:cNvSpPr/>
            <p:nvPr/>
          </p:nvSpPr>
          <p:spPr>
            <a:xfrm>
              <a:off x="10822925" y="3048341"/>
              <a:ext cx="190492" cy="198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C9C0B5D-50E6-647B-A4F0-ADEC7DD98260}"/>
              </a:ext>
            </a:extLst>
          </p:cNvPr>
          <p:cNvGrpSpPr/>
          <p:nvPr/>
        </p:nvGrpSpPr>
        <p:grpSpPr>
          <a:xfrm>
            <a:off x="8770861" y="4475162"/>
            <a:ext cx="2427928" cy="1670461"/>
            <a:chOff x="8770861" y="4475162"/>
            <a:chExt cx="2427928" cy="167046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07725DA-A2A5-2FA1-6528-673853C61086}"/>
                </a:ext>
              </a:extLst>
            </p:cNvPr>
            <p:cNvSpPr/>
            <p:nvPr/>
          </p:nvSpPr>
          <p:spPr>
            <a:xfrm>
              <a:off x="8770861" y="5150541"/>
              <a:ext cx="457200" cy="9950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861653D2-B7B5-8C5D-E041-B8A29B5DDCBC}"/>
                </a:ext>
              </a:extLst>
            </p:cNvPr>
            <p:cNvSpPr/>
            <p:nvPr/>
          </p:nvSpPr>
          <p:spPr>
            <a:xfrm rot="3686647">
              <a:off x="9934616" y="4118710"/>
              <a:ext cx="250274" cy="2278073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D058D00-E7CC-2F87-6794-0153E66E88F7}"/>
                </a:ext>
              </a:extLst>
            </p:cNvPr>
            <p:cNvSpPr/>
            <p:nvPr/>
          </p:nvSpPr>
          <p:spPr>
            <a:xfrm>
              <a:off x="9456661" y="5388052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D2BAE93-D097-D5A8-11AE-8B822798F25B}"/>
                </a:ext>
              </a:extLst>
            </p:cNvPr>
            <p:cNvSpPr/>
            <p:nvPr/>
          </p:nvSpPr>
          <p:spPr>
            <a:xfrm>
              <a:off x="9831153" y="5405446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0D7ED8B-C201-069C-62C8-0692D4D025B1}"/>
                </a:ext>
              </a:extLst>
            </p:cNvPr>
            <p:cNvSpPr/>
            <p:nvPr/>
          </p:nvSpPr>
          <p:spPr>
            <a:xfrm>
              <a:off x="9999241" y="5087659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280D93D8-AA72-514D-43DC-8B45D1F6B3E9}"/>
                </a:ext>
              </a:extLst>
            </p:cNvPr>
            <p:cNvSpPr/>
            <p:nvPr/>
          </p:nvSpPr>
          <p:spPr>
            <a:xfrm rot="8070834">
              <a:off x="10522362" y="4991630"/>
              <a:ext cx="113407" cy="4119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AC3932-42E8-DDFF-889A-7878E3BD3C8D}"/>
                </a:ext>
              </a:extLst>
            </p:cNvPr>
            <p:cNvSpPr/>
            <p:nvPr/>
          </p:nvSpPr>
          <p:spPr>
            <a:xfrm>
              <a:off x="10822925" y="4718486"/>
              <a:ext cx="190492" cy="1985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6D68878-840D-C949-A0A2-23D5645993FF}"/>
                </a:ext>
              </a:extLst>
            </p:cNvPr>
            <p:cNvSpPr/>
            <p:nvPr/>
          </p:nvSpPr>
          <p:spPr>
            <a:xfrm>
              <a:off x="10434059" y="5065984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Isosceles Triangle 54">
              <a:extLst>
                <a:ext uri="{FF2B5EF4-FFF2-40B4-BE49-F238E27FC236}">
                  <a16:creationId xmlns:a16="http://schemas.microsoft.com/office/drawing/2014/main" id="{261662BC-4081-DB90-BF87-4CF4D821D6B3}"/>
                </a:ext>
              </a:extLst>
            </p:cNvPr>
            <p:cNvSpPr/>
            <p:nvPr/>
          </p:nvSpPr>
          <p:spPr>
            <a:xfrm rot="21186606">
              <a:off x="10621068" y="4475162"/>
              <a:ext cx="113407" cy="411902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FA17780-DFD0-D65F-115B-CE3B54CF4D64}"/>
                </a:ext>
              </a:extLst>
            </p:cNvPr>
            <p:cNvSpPr/>
            <p:nvPr/>
          </p:nvSpPr>
          <p:spPr>
            <a:xfrm>
              <a:off x="10650315" y="4817760"/>
              <a:ext cx="121024" cy="115468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57" name="Trapezoid 56">
            <a:extLst>
              <a:ext uri="{FF2B5EF4-FFF2-40B4-BE49-F238E27FC236}">
                <a16:creationId xmlns:a16="http://schemas.microsoft.com/office/drawing/2014/main" id="{5F03A45D-8668-D3DF-36AC-0D829B7A2AD1}"/>
              </a:ext>
            </a:extLst>
          </p:cNvPr>
          <p:cNvSpPr/>
          <p:nvPr/>
        </p:nvSpPr>
        <p:spPr>
          <a:xfrm rot="3660000">
            <a:off x="6570478" y="3293165"/>
            <a:ext cx="235500" cy="1097366"/>
          </a:xfrm>
          <a:prstGeom prst="trapezoi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6CCEE9-1D7B-C9D8-EA16-B08B984396A8}"/>
              </a:ext>
            </a:extLst>
          </p:cNvPr>
          <p:cNvSpPr/>
          <p:nvPr/>
        </p:nvSpPr>
        <p:spPr>
          <a:xfrm>
            <a:off x="5871882" y="3472855"/>
            <a:ext cx="457200" cy="9950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Isosceles Triangle 61">
            <a:extLst>
              <a:ext uri="{FF2B5EF4-FFF2-40B4-BE49-F238E27FC236}">
                <a16:creationId xmlns:a16="http://schemas.microsoft.com/office/drawing/2014/main" id="{8703B91B-715C-5899-1DD8-5325E4061C42}"/>
              </a:ext>
            </a:extLst>
          </p:cNvPr>
          <p:cNvSpPr/>
          <p:nvPr/>
        </p:nvSpPr>
        <p:spPr>
          <a:xfrm rot="294781">
            <a:off x="6492261" y="3468868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C01C67E-328C-A5F8-D4A9-59AE408DB6CD}"/>
              </a:ext>
            </a:extLst>
          </p:cNvPr>
          <p:cNvSpPr/>
          <p:nvPr/>
        </p:nvSpPr>
        <p:spPr>
          <a:xfrm>
            <a:off x="6479313" y="3745271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Isosceles Triangle 64">
            <a:extLst>
              <a:ext uri="{FF2B5EF4-FFF2-40B4-BE49-F238E27FC236}">
                <a16:creationId xmlns:a16="http://schemas.microsoft.com/office/drawing/2014/main" id="{F809035C-BF18-0D86-D018-A9F22A8F1F7C}"/>
              </a:ext>
            </a:extLst>
          </p:cNvPr>
          <p:cNvSpPr/>
          <p:nvPr/>
        </p:nvSpPr>
        <p:spPr>
          <a:xfrm rot="6748779">
            <a:off x="6945695" y="3651214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12B9D95-005E-BE29-F1B0-A3E117C9955E}"/>
              </a:ext>
            </a:extLst>
          </p:cNvPr>
          <p:cNvSpPr/>
          <p:nvPr/>
        </p:nvSpPr>
        <p:spPr>
          <a:xfrm>
            <a:off x="6853805" y="3762665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Isosceles Triangle 63">
            <a:extLst>
              <a:ext uri="{FF2B5EF4-FFF2-40B4-BE49-F238E27FC236}">
                <a16:creationId xmlns:a16="http://schemas.microsoft.com/office/drawing/2014/main" id="{D13E85DD-9F22-1F43-E1A4-54135EC68DD5}"/>
              </a:ext>
            </a:extLst>
          </p:cNvPr>
          <p:cNvSpPr/>
          <p:nvPr/>
        </p:nvSpPr>
        <p:spPr>
          <a:xfrm rot="483536">
            <a:off x="7034137" y="3202024"/>
            <a:ext cx="113407" cy="411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9A983D-18BE-3BA1-4ECE-5451880A4CAE}"/>
              </a:ext>
            </a:extLst>
          </p:cNvPr>
          <p:cNvSpPr/>
          <p:nvPr/>
        </p:nvSpPr>
        <p:spPr>
          <a:xfrm>
            <a:off x="7014105" y="3451515"/>
            <a:ext cx="121024" cy="115468"/>
          </a:xfrm>
          <a:prstGeom prst="ellipse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51BF9F38-AF51-23C2-58BC-D4084E9D7D99}"/>
              </a:ext>
            </a:extLst>
          </p:cNvPr>
          <p:cNvSpPr/>
          <p:nvPr/>
        </p:nvSpPr>
        <p:spPr>
          <a:xfrm>
            <a:off x="7356047" y="2143833"/>
            <a:ext cx="1075742" cy="24620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B4219194-CBA0-FD2B-1498-1FBF5781D0A7}"/>
              </a:ext>
            </a:extLst>
          </p:cNvPr>
          <p:cNvSpPr/>
          <p:nvPr/>
        </p:nvSpPr>
        <p:spPr>
          <a:xfrm flipH="1">
            <a:off x="7359614" y="5578348"/>
            <a:ext cx="1075742" cy="246204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7661859E-335B-C5DF-7DE3-4F5892BC059A}"/>
              </a:ext>
            </a:extLst>
          </p:cNvPr>
          <p:cNvSpPr/>
          <p:nvPr/>
        </p:nvSpPr>
        <p:spPr>
          <a:xfrm rot="5400000">
            <a:off x="9104959" y="2803918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888EC1B-0715-5F50-C250-A30DC5B9D856}"/>
              </a:ext>
            </a:extLst>
          </p:cNvPr>
          <p:cNvSpPr/>
          <p:nvPr/>
        </p:nvSpPr>
        <p:spPr>
          <a:xfrm rot="5400000">
            <a:off x="9104959" y="4517643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264EDF98-A21B-22CF-0161-E05587AB4707}"/>
              </a:ext>
            </a:extLst>
          </p:cNvPr>
          <p:cNvSpPr/>
          <p:nvPr/>
        </p:nvSpPr>
        <p:spPr>
          <a:xfrm rot="15114624" flipV="1">
            <a:off x="6141529" y="2965697"/>
            <a:ext cx="572203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32490039-CF3F-3B4E-7283-D756633AF0E5}"/>
              </a:ext>
            </a:extLst>
          </p:cNvPr>
          <p:cNvSpPr/>
          <p:nvPr/>
        </p:nvSpPr>
        <p:spPr>
          <a:xfrm rot="16200000" flipV="1">
            <a:off x="6286293" y="4504482"/>
            <a:ext cx="246204" cy="62562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Content Placeholder 14">
            <a:extLst>
              <a:ext uri="{FF2B5EF4-FFF2-40B4-BE49-F238E27FC236}">
                <a16:creationId xmlns:a16="http://schemas.microsoft.com/office/drawing/2014/main" id="{065E6032-77DE-D0F6-73FE-4DBE51C05820}"/>
              </a:ext>
            </a:extLst>
          </p:cNvPr>
          <p:cNvSpPr txBox="1">
            <a:spLocks/>
          </p:cNvSpPr>
          <p:nvPr/>
        </p:nvSpPr>
        <p:spPr>
          <a:xfrm>
            <a:off x="7045594" y="1806723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Allow to </a:t>
            </a:r>
          </a:p>
          <a:p>
            <a:pPr marL="0" indent="0" algn="ctr">
              <a:buNone/>
            </a:pPr>
            <a:r>
              <a:rPr lang="en-US" sz="1400" dirty="0"/>
              <a:t>grow out</a:t>
            </a:r>
            <a:endParaRPr lang="en-GB" sz="1400" dirty="0"/>
          </a:p>
        </p:txBody>
      </p:sp>
      <p:sp>
        <p:nvSpPr>
          <p:cNvPr id="78" name="Content Placeholder 14">
            <a:extLst>
              <a:ext uri="{FF2B5EF4-FFF2-40B4-BE49-F238E27FC236}">
                <a16:creationId xmlns:a16="http://schemas.microsoft.com/office/drawing/2014/main" id="{A7E6E3F7-6A46-9765-7014-19DB8CA7A0D9}"/>
              </a:ext>
            </a:extLst>
          </p:cNvPr>
          <p:cNvSpPr txBox="1">
            <a:spLocks/>
          </p:cNvSpPr>
          <p:nvPr/>
        </p:nvSpPr>
        <p:spPr>
          <a:xfrm>
            <a:off x="9198916" y="2631203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Pinch off tip</a:t>
            </a:r>
            <a:endParaRPr lang="en-GB" sz="1400" dirty="0"/>
          </a:p>
        </p:txBody>
      </p:sp>
      <p:sp>
        <p:nvSpPr>
          <p:cNvPr id="79" name="Content Placeholder 14">
            <a:extLst>
              <a:ext uri="{FF2B5EF4-FFF2-40B4-BE49-F238E27FC236}">
                <a16:creationId xmlns:a16="http://schemas.microsoft.com/office/drawing/2014/main" id="{A10B3F01-644F-3F9D-A387-604A8E1BD676}"/>
              </a:ext>
            </a:extLst>
          </p:cNvPr>
          <p:cNvSpPr txBox="1">
            <a:spLocks/>
          </p:cNvSpPr>
          <p:nvPr/>
        </p:nvSpPr>
        <p:spPr>
          <a:xfrm>
            <a:off x="9201234" y="4314619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Wait for buds </a:t>
            </a:r>
            <a:br>
              <a:rPr lang="en-US" sz="1400" dirty="0"/>
            </a:br>
            <a:r>
              <a:rPr lang="en-US" sz="1400" dirty="0"/>
              <a:t>to burst</a:t>
            </a:r>
            <a:endParaRPr lang="en-GB" sz="1400" dirty="0"/>
          </a:p>
        </p:txBody>
      </p:sp>
      <p:sp>
        <p:nvSpPr>
          <p:cNvPr id="80" name="Content Placeholder 14">
            <a:extLst>
              <a:ext uri="{FF2B5EF4-FFF2-40B4-BE49-F238E27FC236}">
                <a16:creationId xmlns:a16="http://schemas.microsoft.com/office/drawing/2014/main" id="{264E6619-32A2-C390-84E1-4BD09AE15D5D}"/>
              </a:ext>
            </a:extLst>
          </p:cNvPr>
          <p:cNvSpPr txBox="1">
            <a:spLocks/>
          </p:cNvSpPr>
          <p:nvPr/>
        </p:nvSpPr>
        <p:spPr>
          <a:xfrm>
            <a:off x="7130647" y="5224885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Cut back</a:t>
            </a:r>
          </a:p>
          <a:p>
            <a:pPr marL="0" indent="0" algn="ctr">
              <a:buNone/>
            </a:pPr>
            <a:r>
              <a:rPr lang="en-US" sz="1400" dirty="0"/>
              <a:t>to 3 nodes*</a:t>
            </a:r>
            <a:endParaRPr lang="en-GB" sz="1400" dirty="0"/>
          </a:p>
        </p:txBody>
      </p:sp>
      <p:sp>
        <p:nvSpPr>
          <p:cNvPr id="81" name="Content Placeholder 14">
            <a:extLst>
              <a:ext uri="{FF2B5EF4-FFF2-40B4-BE49-F238E27FC236}">
                <a16:creationId xmlns:a16="http://schemas.microsoft.com/office/drawing/2014/main" id="{CF0DA239-D19B-25F6-9390-D52107E4AAA9}"/>
              </a:ext>
            </a:extLst>
          </p:cNvPr>
          <p:cNvSpPr txBox="1">
            <a:spLocks/>
          </p:cNvSpPr>
          <p:nvPr/>
        </p:nvSpPr>
        <p:spPr>
          <a:xfrm>
            <a:off x="7349480" y="6315712"/>
            <a:ext cx="3738998" cy="531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* Or 2 nodes (4 buds) for opposite leaves</a:t>
            </a:r>
            <a:endParaRPr lang="en-GB" sz="1400" dirty="0"/>
          </a:p>
        </p:txBody>
      </p:sp>
      <p:sp>
        <p:nvSpPr>
          <p:cNvPr id="82" name="Content Placeholder 14">
            <a:extLst>
              <a:ext uri="{FF2B5EF4-FFF2-40B4-BE49-F238E27FC236}">
                <a16:creationId xmlns:a16="http://schemas.microsoft.com/office/drawing/2014/main" id="{4D6F98D3-5CF9-24AE-71BE-9E3D0A925433}"/>
              </a:ext>
            </a:extLst>
          </p:cNvPr>
          <p:cNvSpPr txBox="1">
            <a:spLocks/>
          </p:cNvSpPr>
          <p:nvPr/>
        </p:nvSpPr>
        <p:spPr>
          <a:xfrm>
            <a:off x="6408810" y="4344635"/>
            <a:ext cx="1604887" cy="920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Wait for buds </a:t>
            </a:r>
            <a:br>
              <a:rPr lang="en-US" sz="1400" dirty="0"/>
            </a:br>
            <a:r>
              <a:rPr lang="en-US" sz="1400" dirty="0"/>
              <a:t>to burst</a:t>
            </a:r>
            <a:endParaRPr lang="en-GB" sz="1400" dirty="0"/>
          </a:p>
        </p:txBody>
      </p:sp>
      <p:sp>
        <p:nvSpPr>
          <p:cNvPr id="83" name="Content Placeholder 14">
            <a:extLst>
              <a:ext uri="{FF2B5EF4-FFF2-40B4-BE49-F238E27FC236}">
                <a16:creationId xmlns:a16="http://schemas.microsoft.com/office/drawing/2014/main" id="{9B65DB14-3B75-A274-390E-9A5CF894C8E3}"/>
              </a:ext>
            </a:extLst>
          </p:cNvPr>
          <p:cNvSpPr txBox="1">
            <a:spLocks/>
          </p:cNvSpPr>
          <p:nvPr/>
        </p:nvSpPr>
        <p:spPr>
          <a:xfrm>
            <a:off x="5037282" y="2720196"/>
            <a:ext cx="1604887" cy="8131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Repeat for </a:t>
            </a:r>
            <a:br>
              <a:rPr lang="en-US" sz="1400" dirty="0"/>
            </a:br>
            <a:r>
              <a:rPr lang="en-US" sz="1400" dirty="0"/>
              <a:t>each new </a:t>
            </a:r>
            <a:br>
              <a:rPr lang="en-US" sz="1400" dirty="0"/>
            </a:br>
            <a:r>
              <a:rPr lang="en-US" sz="1400" dirty="0"/>
              <a:t>branch</a:t>
            </a:r>
            <a:endParaRPr lang="en-GB" sz="1400" dirty="0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D23484D9-2AB4-0174-2E6C-0BD9858F0B5F}"/>
              </a:ext>
            </a:extLst>
          </p:cNvPr>
          <p:cNvSpPr/>
          <p:nvPr/>
        </p:nvSpPr>
        <p:spPr>
          <a:xfrm rot="13225306" flipV="1">
            <a:off x="6496457" y="2725949"/>
            <a:ext cx="618764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D4CE2FB9-7A0D-0FDF-2AC2-0CE916AAD796}"/>
              </a:ext>
            </a:extLst>
          </p:cNvPr>
          <p:cNvSpPr/>
          <p:nvPr/>
        </p:nvSpPr>
        <p:spPr>
          <a:xfrm rot="14797995" flipV="1">
            <a:off x="6163304" y="3082208"/>
            <a:ext cx="1063102" cy="36806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AC312D5-9CC8-A179-268C-FF3C9ED7853C}"/>
              </a:ext>
            </a:extLst>
          </p:cNvPr>
          <p:cNvSpPr/>
          <p:nvPr/>
        </p:nvSpPr>
        <p:spPr>
          <a:xfrm rot="20081247">
            <a:off x="6819175" y="3233777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8920422-EAB3-B1A3-3348-1CDA732C13A8}"/>
              </a:ext>
            </a:extLst>
          </p:cNvPr>
          <p:cNvSpPr/>
          <p:nvPr/>
        </p:nvSpPr>
        <p:spPr>
          <a:xfrm rot="20081247">
            <a:off x="6277197" y="3499283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CC621A3-39FF-CBC0-0731-7C36967DBEE8}"/>
              </a:ext>
            </a:extLst>
          </p:cNvPr>
          <p:cNvSpPr/>
          <p:nvPr/>
        </p:nvSpPr>
        <p:spPr>
          <a:xfrm rot="19631704">
            <a:off x="6765797" y="3705741"/>
            <a:ext cx="483494" cy="35825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16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Pruning for Ramification (2)</a:t>
            </a:r>
            <a:br>
              <a:rPr lang="en-US" dirty="0"/>
            </a:br>
            <a:r>
              <a:rPr lang="en-US" sz="2800" dirty="0"/>
              <a:t>Needle-bearing trees: getting trickier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5069540" cy="51053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Context:</a:t>
            </a:r>
          </a:p>
          <a:p>
            <a:r>
              <a:rPr lang="en-US" sz="1600" dirty="0"/>
              <a:t>No epicormic growth</a:t>
            </a:r>
          </a:p>
          <a:p>
            <a:r>
              <a:rPr lang="en-US" sz="1600" dirty="0"/>
              <a:t>No lateral growth from old (needle-less) wood</a:t>
            </a:r>
          </a:p>
          <a:p>
            <a:r>
              <a:rPr lang="en-US" sz="1600" dirty="0"/>
              <a:t>Often weak adventitious growth</a:t>
            </a:r>
          </a:p>
          <a:p>
            <a:r>
              <a:rPr lang="en-US" sz="1600" dirty="0"/>
              <a:t>Often strong apical dominance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r>
              <a:rPr lang="en-US" sz="1600" dirty="0"/>
              <a:t>Green growth should form pads / clouds or layers, floating above the branch</a:t>
            </a:r>
          </a:p>
          <a:p>
            <a:r>
              <a:rPr lang="en-US" sz="1600" dirty="0"/>
              <a:t>Remove needles from trunk and base of branches to create old wood and permanently restrict future growth</a:t>
            </a:r>
          </a:p>
          <a:p>
            <a:r>
              <a:rPr lang="en-US" sz="1600" dirty="0"/>
              <a:t>Control apical growth carefully to stop premature die-off of lower branches (“energy balancing”)</a:t>
            </a:r>
          </a:p>
          <a:p>
            <a:r>
              <a:rPr lang="en-US" sz="1600" dirty="0"/>
              <a:t>Cutting back tips (removing current-year terminal growth) is called “de-candling”</a:t>
            </a:r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7089D4-1926-C8F7-C408-6B16F42EB667}"/>
              </a:ext>
            </a:extLst>
          </p:cNvPr>
          <p:cNvSpPr txBox="1">
            <a:spLocks/>
          </p:cNvSpPr>
          <p:nvPr/>
        </p:nvSpPr>
        <p:spPr>
          <a:xfrm>
            <a:off x="5509480" y="1752601"/>
            <a:ext cx="4722618" cy="5105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Approach</a:t>
            </a:r>
          </a:p>
          <a:p>
            <a:r>
              <a:rPr lang="en-US" sz="1600" dirty="0"/>
              <a:t>Create ramification and taper following the same process as for broadleaf trees</a:t>
            </a:r>
          </a:p>
          <a:p>
            <a:r>
              <a:rPr lang="en-US" sz="1600" dirty="0"/>
              <a:t>…but leave some lower branches as sacrificial branches to thicken the trunk</a:t>
            </a:r>
          </a:p>
          <a:p>
            <a:r>
              <a:rPr lang="en-US" sz="1600" dirty="0"/>
              <a:t>Be sure that each new branch has some foliage at its tip, or it will die</a:t>
            </a:r>
          </a:p>
          <a:p>
            <a:r>
              <a:rPr lang="en-US" sz="1600" dirty="0"/>
              <a:t>Don’t panic if you have long branches without side-shoots: these can be made more compact by wiring!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AB31A6-F7A9-A64D-FF2A-9AFE0E68E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35" y="4927601"/>
            <a:ext cx="3096036" cy="173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40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Pruning for Ramification (3)</a:t>
            </a:r>
            <a:br>
              <a:rPr lang="en-US" dirty="0"/>
            </a:br>
            <a:r>
              <a:rPr lang="en-US" sz="2800" dirty="0"/>
              <a:t>Spiky / scaly trees: s</a:t>
            </a:r>
            <a:r>
              <a:rPr lang="en-US" sz="2800" i="1" dirty="0"/>
              <a:t>uper</a:t>
            </a:r>
            <a:r>
              <a:rPr lang="en-US" sz="2800" dirty="0"/>
              <a:t> fiddly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6023" y="1752599"/>
            <a:ext cx="4722618" cy="510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Context:</a:t>
            </a:r>
          </a:p>
          <a:p>
            <a:r>
              <a:rPr lang="en-US" sz="1600" dirty="0"/>
              <a:t>No epicormic growth</a:t>
            </a:r>
          </a:p>
          <a:p>
            <a:r>
              <a:rPr lang="en-US" sz="1600" dirty="0"/>
              <a:t>Lateral growth is already present!</a:t>
            </a:r>
          </a:p>
          <a:p>
            <a:r>
              <a:rPr lang="en-US" sz="1600" dirty="0"/>
              <a:t>Short inter-node distance</a:t>
            </a:r>
          </a:p>
          <a:p>
            <a:r>
              <a:rPr lang="en-US" sz="1600" dirty="0"/>
              <a:t>Spiky foliage = immature scaly foliage</a:t>
            </a:r>
          </a:p>
          <a:p>
            <a:pPr marL="0" indent="0">
              <a:buNone/>
            </a:pPr>
            <a:r>
              <a:rPr lang="en-US" dirty="0"/>
              <a:t>Goals</a:t>
            </a:r>
          </a:p>
          <a:p>
            <a:pPr marL="342900" lvl="1" indent="-342900"/>
            <a:r>
              <a:rPr lang="en-US" dirty="0"/>
              <a:t>Green growth should form pads or layers along the branch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BAD9E73-D608-3423-DE08-2668B4CA0E10}"/>
              </a:ext>
            </a:extLst>
          </p:cNvPr>
          <p:cNvSpPr txBox="1">
            <a:spLocks/>
          </p:cNvSpPr>
          <p:nvPr/>
        </p:nvSpPr>
        <p:spPr>
          <a:xfrm>
            <a:off x="5763835" y="1752601"/>
            <a:ext cx="4722618" cy="5105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Branches should form fractal “fishbones”</a:t>
            </a:r>
          </a:p>
          <a:p>
            <a:pPr marL="0" indent="0">
              <a:buNone/>
            </a:pPr>
            <a:r>
              <a:rPr lang="en-US" dirty="0"/>
              <a:t>Approach</a:t>
            </a:r>
          </a:p>
          <a:p>
            <a:pPr marL="400050"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branch tip (Zone D) entirely;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growth out of the layer (i.e. up or down if branch is horizontal)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Remove growth in Zone A;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Thin out growth in Zone B; 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Shape-prune growth in Zone C</a:t>
            </a:r>
          </a:p>
          <a:p>
            <a:pPr marL="400050">
              <a:spcBef>
                <a:spcPts val="0"/>
              </a:spcBef>
              <a:buClr>
                <a:schemeClr val="accent5"/>
              </a:buClr>
              <a:buFont typeface="+mj-lt"/>
              <a:buAutoNum type="arabicPeriod"/>
            </a:pPr>
            <a:r>
              <a:rPr lang="en-US" sz="1600" dirty="0"/>
              <a:t>…Then repeat for each branch in Zone B</a:t>
            </a:r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035594A9-C0B6-D59E-B7C1-63A3B8234A68}"/>
              </a:ext>
            </a:extLst>
          </p:cNvPr>
          <p:cNvSpPr/>
          <p:nvPr/>
        </p:nvSpPr>
        <p:spPr>
          <a:xfrm>
            <a:off x="6619419" y="4736601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EF1BDFA9-EEC1-EB85-CC0B-F49E76A2E31D}"/>
              </a:ext>
            </a:extLst>
          </p:cNvPr>
          <p:cNvSpPr/>
          <p:nvPr/>
        </p:nvSpPr>
        <p:spPr>
          <a:xfrm>
            <a:off x="7713390" y="4548545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48478558-4C74-8070-7067-710CA6E7E40D}"/>
              </a:ext>
            </a:extLst>
          </p:cNvPr>
          <p:cNvSpPr/>
          <p:nvPr/>
        </p:nvSpPr>
        <p:spPr>
          <a:xfrm>
            <a:off x="7030606" y="6049060"/>
            <a:ext cx="372235" cy="372235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FA8A06-33B1-D9EE-CBC0-1C56495F1DFB}"/>
              </a:ext>
            </a:extLst>
          </p:cNvPr>
          <p:cNvGrpSpPr/>
          <p:nvPr/>
        </p:nvGrpSpPr>
        <p:grpSpPr>
          <a:xfrm>
            <a:off x="791981" y="3878443"/>
            <a:ext cx="4852430" cy="3598689"/>
            <a:chOff x="791981" y="3878443"/>
            <a:chExt cx="4852430" cy="3598689"/>
          </a:xfrm>
        </p:grpSpPr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D0BEF51C-B7EB-DA0E-CBF6-B8CC364266D1}"/>
                </a:ext>
              </a:extLst>
            </p:cNvPr>
            <p:cNvSpPr/>
            <p:nvPr/>
          </p:nvSpPr>
          <p:spPr>
            <a:xfrm rot="5400000" flipH="1">
              <a:off x="2440033" y="3462138"/>
              <a:ext cx="1798168" cy="444424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26781C03-DEE9-B7C1-EE1E-B43E72962A12}"/>
                </a:ext>
              </a:extLst>
            </p:cNvPr>
            <p:cNvSpPr/>
            <p:nvPr/>
          </p:nvSpPr>
          <p:spPr>
            <a:xfrm rot="5400000" flipH="1">
              <a:off x="2995977" y="3343605"/>
              <a:ext cx="407902" cy="468130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F355A30C-06C1-7BB8-31F3-0B0C09105763}"/>
                </a:ext>
              </a:extLst>
            </p:cNvPr>
            <p:cNvCxnSpPr>
              <a:cxnSpLocks/>
            </p:cNvCxnSpPr>
            <p:nvPr/>
          </p:nvCxnSpPr>
          <p:spPr>
            <a:xfrm>
              <a:off x="995973" y="5480307"/>
              <a:ext cx="79337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E2096FF-658D-04D4-5E55-A811579A8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9350" y="4902461"/>
              <a:ext cx="0" cy="5778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CB21C871-B65D-4A82-22D3-B0D06A2919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973" y="5888210"/>
              <a:ext cx="793377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E4FC84DE-72BC-94E4-0B49-56C3C94C9963}"/>
                </a:ext>
              </a:extLst>
            </p:cNvPr>
            <p:cNvCxnSpPr>
              <a:cxnSpLocks/>
            </p:cNvCxnSpPr>
            <p:nvPr/>
          </p:nvCxnSpPr>
          <p:spPr>
            <a:xfrm>
              <a:off x="1789350" y="5888210"/>
              <a:ext cx="0" cy="577846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FC9662CB-A202-266C-C52E-3AEACFC71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984" y="4582726"/>
              <a:ext cx="734712" cy="11015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79CF3C4-DA79-1AC3-793E-5A9FD8E838AF}"/>
                </a:ext>
              </a:extLst>
            </p:cNvPr>
            <p:cNvCxnSpPr>
              <a:cxnSpLocks/>
            </p:cNvCxnSpPr>
            <p:nvPr/>
          </p:nvCxnSpPr>
          <p:spPr>
            <a:xfrm>
              <a:off x="4549984" y="5684260"/>
              <a:ext cx="734712" cy="11015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65672FFC-1925-A7C9-7613-C941DCB7CDE7}"/>
                </a:ext>
              </a:extLst>
            </p:cNvPr>
            <p:cNvSpPr/>
            <p:nvPr/>
          </p:nvSpPr>
          <p:spPr>
            <a:xfrm>
              <a:off x="1116214" y="617299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GB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1E5047BA-9616-F1A2-B81D-ED1BAC4BB6ED}"/>
                </a:ext>
              </a:extLst>
            </p:cNvPr>
            <p:cNvSpPr/>
            <p:nvPr/>
          </p:nvSpPr>
          <p:spPr>
            <a:xfrm>
              <a:off x="1121548" y="482329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en-GB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0B44F697-B966-FD90-1F4F-94F82AB587F3}"/>
                </a:ext>
              </a:extLst>
            </p:cNvPr>
            <p:cNvSpPr/>
            <p:nvPr/>
          </p:nvSpPr>
          <p:spPr>
            <a:xfrm>
              <a:off x="5272176" y="4837588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en-GB" dirty="0"/>
            </a:p>
          </p:txBody>
        </p: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46C5DCC-D545-327D-77C4-740FF50711C9}"/>
                </a:ext>
              </a:extLst>
            </p:cNvPr>
            <p:cNvCxnSpPr>
              <a:cxnSpLocks/>
              <a:stCxn id="156" idx="5"/>
            </p:cNvCxnSpPr>
            <p:nvPr/>
          </p:nvCxnSpPr>
          <p:spPr>
            <a:xfrm flipV="1">
              <a:off x="3199928" y="4556576"/>
              <a:ext cx="248142" cy="10257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145CE32-27BD-0521-F72F-B60A7A81B256}"/>
                </a:ext>
              </a:extLst>
            </p:cNvPr>
            <p:cNvCxnSpPr>
              <a:cxnSpLocks/>
            </p:cNvCxnSpPr>
            <p:nvPr/>
          </p:nvCxnSpPr>
          <p:spPr>
            <a:xfrm>
              <a:off x="3199928" y="5773511"/>
              <a:ext cx="248142" cy="102570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7DA35669-1BB4-AD74-2F8B-7ABFA937C525}"/>
                </a:ext>
              </a:extLst>
            </p:cNvPr>
            <p:cNvCxnSpPr>
              <a:cxnSpLocks/>
              <a:endCxn id="156" idx="5"/>
            </p:cNvCxnSpPr>
            <p:nvPr/>
          </p:nvCxnSpPr>
          <p:spPr>
            <a:xfrm>
              <a:off x="1821420" y="5530543"/>
              <a:ext cx="1378508" cy="5174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DE5CFECD-BB62-30A7-F1C7-B63BAB178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1420" y="5782770"/>
              <a:ext cx="1378508" cy="5174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FE2DF558-787D-9267-7AEC-750CA273DDF1}"/>
                </a:ext>
              </a:extLst>
            </p:cNvPr>
            <p:cNvSpPr/>
            <p:nvPr/>
          </p:nvSpPr>
          <p:spPr>
            <a:xfrm>
              <a:off x="2422499" y="499377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GB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C14F474F-8CF8-FC96-AF27-913D1AD71F0D}"/>
                </a:ext>
              </a:extLst>
            </p:cNvPr>
            <p:cNvSpPr/>
            <p:nvPr/>
          </p:nvSpPr>
          <p:spPr>
            <a:xfrm>
              <a:off x="2425454" y="600251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en-GB" dirty="0"/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FD774374-6B05-5D48-49B9-03B3990CB4EC}"/>
                </a:ext>
              </a:extLst>
            </p:cNvPr>
            <p:cNvSpPr/>
            <p:nvPr/>
          </p:nvSpPr>
          <p:spPr>
            <a:xfrm>
              <a:off x="795200" y="4722690"/>
              <a:ext cx="3846487" cy="2754442"/>
            </a:xfrm>
            <a:prstGeom prst="arc">
              <a:avLst>
                <a:gd name="adj1" fmla="val 17853450"/>
                <a:gd name="adj2" fmla="val 20813387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30885FD6-934C-4705-BC1A-D522F210D9E1}"/>
                </a:ext>
              </a:extLst>
            </p:cNvPr>
            <p:cNvSpPr/>
            <p:nvPr/>
          </p:nvSpPr>
          <p:spPr>
            <a:xfrm>
              <a:off x="4269453" y="4722690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GB" dirty="0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11A8986E-603B-DBE4-EC1B-1352BCB55C72}"/>
                </a:ext>
              </a:extLst>
            </p:cNvPr>
            <p:cNvSpPr/>
            <p:nvPr/>
          </p:nvSpPr>
          <p:spPr>
            <a:xfrm>
              <a:off x="4269452" y="6345582"/>
              <a:ext cx="372235" cy="372235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en-GB" dirty="0"/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90EF66EA-C075-5B0C-F22F-8D64FDCA2B88}"/>
                </a:ext>
              </a:extLst>
            </p:cNvPr>
            <p:cNvSpPr/>
            <p:nvPr/>
          </p:nvSpPr>
          <p:spPr>
            <a:xfrm flipV="1">
              <a:off x="791981" y="3878443"/>
              <a:ext cx="3846487" cy="2754442"/>
            </a:xfrm>
            <a:prstGeom prst="arc">
              <a:avLst>
                <a:gd name="adj1" fmla="val 17853450"/>
                <a:gd name="adj2" fmla="val 20813387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99F2078-5902-8267-A059-A85E476D7580}"/>
                </a:ext>
              </a:extLst>
            </p:cNvPr>
            <p:cNvSpPr/>
            <p:nvPr/>
          </p:nvSpPr>
          <p:spPr>
            <a:xfrm>
              <a:off x="1146303" y="5493267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GB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76F01D-078F-1A73-D69F-664AF88E51CC}"/>
                </a:ext>
              </a:extLst>
            </p:cNvPr>
            <p:cNvSpPr/>
            <p:nvPr/>
          </p:nvSpPr>
          <p:spPr>
            <a:xfrm>
              <a:off x="2158071" y="5484615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GB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19C0D96-47AD-D7E4-C62D-4FAB606E0C68}"/>
                </a:ext>
              </a:extLst>
            </p:cNvPr>
            <p:cNvSpPr/>
            <p:nvPr/>
          </p:nvSpPr>
          <p:spPr>
            <a:xfrm>
              <a:off x="3581902" y="549941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en-GB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2C1A9A6-62BE-BEEB-8F09-5BDB59D0E938}"/>
                </a:ext>
              </a:extLst>
            </p:cNvPr>
            <p:cNvSpPr/>
            <p:nvPr/>
          </p:nvSpPr>
          <p:spPr>
            <a:xfrm>
              <a:off x="4861431" y="5499340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  <a:endParaRPr lang="en-GB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9DC5D3-C392-58D6-485C-72A4FF42DBFB}"/>
              </a:ext>
            </a:extLst>
          </p:cNvPr>
          <p:cNvGrpSpPr/>
          <p:nvPr/>
        </p:nvGrpSpPr>
        <p:grpSpPr>
          <a:xfrm>
            <a:off x="6106391" y="3878443"/>
            <a:ext cx="4891504" cy="3598688"/>
            <a:chOff x="6106391" y="3878443"/>
            <a:chExt cx="4891504" cy="3598688"/>
          </a:xfrm>
        </p:grpSpPr>
        <p:sp>
          <p:nvSpPr>
            <p:cNvPr id="177" name="Partial Circle 176">
              <a:extLst>
                <a:ext uri="{FF2B5EF4-FFF2-40B4-BE49-F238E27FC236}">
                  <a16:creationId xmlns:a16="http://schemas.microsoft.com/office/drawing/2014/main" id="{D849D9D2-E0A0-2039-565F-A2D7E38ABA6F}"/>
                </a:ext>
              </a:extLst>
            </p:cNvPr>
            <p:cNvSpPr/>
            <p:nvPr/>
          </p:nvSpPr>
          <p:spPr>
            <a:xfrm rot="5400000" flipH="1">
              <a:off x="6674441" y="4171800"/>
              <a:ext cx="2754440" cy="3856221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Partial Circle 177">
              <a:extLst>
                <a:ext uri="{FF2B5EF4-FFF2-40B4-BE49-F238E27FC236}">
                  <a16:creationId xmlns:a16="http://schemas.microsoft.com/office/drawing/2014/main" id="{68369F02-1576-0931-5E56-5EC9728ECEF0}"/>
                </a:ext>
              </a:extLst>
            </p:cNvPr>
            <p:cNvSpPr/>
            <p:nvPr/>
          </p:nvSpPr>
          <p:spPr>
            <a:xfrm rot="16200000" flipH="1" flipV="1">
              <a:off x="6657282" y="3327552"/>
              <a:ext cx="2754440" cy="3856221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Right Triangle 178">
              <a:extLst>
                <a:ext uri="{FF2B5EF4-FFF2-40B4-BE49-F238E27FC236}">
                  <a16:creationId xmlns:a16="http://schemas.microsoft.com/office/drawing/2014/main" id="{745730A3-E3B0-107A-A089-B25EE2FC6064}"/>
                </a:ext>
              </a:extLst>
            </p:cNvPr>
            <p:cNvSpPr/>
            <p:nvPr/>
          </p:nvSpPr>
          <p:spPr>
            <a:xfrm rot="16200000" flipH="1" flipV="1">
              <a:off x="7650452" y="5162437"/>
              <a:ext cx="1798169" cy="44213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0" name="Right Triangle 179">
              <a:extLst>
                <a:ext uri="{FF2B5EF4-FFF2-40B4-BE49-F238E27FC236}">
                  <a16:creationId xmlns:a16="http://schemas.microsoft.com/office/drawing/2014/main" id="{F8CB137D-762A-B5DA-9A0A-4193D4656EFE}"/>
                </a:ext>
              </a:extLst>
            </p:cNvPr>
            <p:cNvSpPr/>
            <p:nvPr/>
          </p:nvSpPr>
          <p:spPr>
            <a:xfrm rot="5400000" flipH="1">
              <a:off x="7650452" y="5751000"/>
              <a:ext cx="1798169" cy="44213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7B020298-FED5-4E9C-08D9-C7291207B87E}"/>
                </a:ext>
              </a:extLst>
            </p:cNvPr>
            <p:cNvSpPr/>
            <p:nvPr/>
          </p:nvSpPr>
          <p:spPr>
            <a:xfrm rot="16200000" flipH="1" flipV="1">
              <a:off x="7396589" y="5242393"/>
              <a:ext cx="1255946" cy="873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2" name="Isosceles Triangle 181">
              <a:extLst>
                <a:ext uri="{FF2B5EF4-FFF2-40B4-BE49-F238E27FC236}">
                  <a16:creationId xmlns:a16="http://schemas.microsoft.com/office/drawing/2014/main" id="{99208AAD-07D1-8F8A-73E9-699EC261928E}"/>
                </a:ext>
              </a:extLst>
            </p:cNvPr>
            <p:cNvSpPr/>
            <p:nvPr/>
          </p:nvSpPr>
          <p:spPr>
            <a:xfrm rot="5400000" flipH="1">
              <a:off x="8318513" y="3343607"/>
              <a:ext cx="407902" cy="468130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8806DF79-414A-BB84-FB3A-B956D4F5E651}"/>
                </a:ext>
              </a:extLst>
            </p:cNvPr>
            <p:cNvSpPr/>
            <p:nvPr/>
          </p:nvSpPr>
          <p:spPr>
            <a:xfrm rot="16200000" flipH="1" flipV="1">
              <a:off x="10231256" y="5108045"/>
              <a:ext cx="407902" cy="11253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4" name="Partial Circle 183">
              <a:extLst>
                <a:ext uri="{FF2B5EF4-FFF2-40B4-BE49-F238E27FC236}">
                  <a16:creationId xmlns:a16="http://schemas.microsoft.com/office/drawing/2014/main" id="{12F2E1C8-9381-C081-B493-A68DFB0664AC}"/>
                </a:ext>
              </a:extLst>
            </p:cNvPr>
            <p:cNvSpPr/>
            <p:nvPr/>
          </p:nvSpPr>
          <p:spPr>
            <a:xfrm rot="408264" flipH="1">
              <a:off x="7126666" y="4689870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Partial Circle 184">
              <a:extLst>
                <a:ext uri="{FF2B5EF4-FFF2-40B4-BE49-F238E27FC236}">
                  <a16:creationId xmlns:a16="http://schemas.microsoft.com/office/drawing/2014/main" id="{2F6D0189-4986-C353-2C9D-A952261CA4E4}"/>
                </a:ext>
              </a:extLst>
            </p:cNvPr>
            <p:cNvSpPr/>
            <p:nvPr/>
          </p:nvSpPr>
          <p:spPr>
            <a:xfrm rot="11208264" flipH="1" flipV="1">
              <a:off x="6963999" y="4674663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Right Triangle 185">
              <a:extLst>
                <a:ext uri="{FF2B5EF4-FFF2-40B4-BE49-F238E27FC236}">
                  <a16:creationId xmlns:a16="http://schemas.microsoft.com/office/drawing/2014/main" id="{C7F13020-27A5-7095-7AE7-A9D7ED424B1C}"/>
                </a:ext>
              </a:extLst>
            </p:cNvPr>
            <p:cNvSpPr/>
            <p:nvPr/>
          </p:nvSpPr>
          <p:spPr>
            <a:xfrm rot="11208264" flipH="1" flipV="1">
              <a:off x="7095893" y="496835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7" name="Right Triangle 186">
              <a:extLst>
                <a:ext uri="{FF2B5EF4-FFF2-40B4-BE49-F238E27FC236}">
                  <a16:creationId xmlns:a16="http://schemas.microsoft.com/office/drawing/2014/main" id="{861F3CE9-3842-E373-0DE7-713F726AA9B2}"/>
                </a:ext>
              </a:extLst>
            </p:cNvPr>
            <p:cNvSpPr/>
            <p:nvPr/>
          </p:nvSpPr>
          <p:spPr>
            <a:xfrm rot="408264" flipH="1">
              <a:off x="7208951" y="498184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C79A21BB-07F9-22AD-CBE4-2F778B1BFA6A}"/>
                </a:ext>
              </a:extLst>
            </p:cNvPr>
            <p:cNvSpPr/>
            <p:nvPr/>
          </p:nvSpPr>
          <p:spPr>
            <a:xfrm rot="11208264" flipH="1" flipV="1">
              <a:off x="7190051" y="5049397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9" name="Isosceles Triangle 188">
              <a:extLst>
                <a:ext uri="{FF2B5EF4-FFF2-40B4-BE49-F238E27FC236}">
                  <a16:creationId xmlns:a16="http://schemas.microsoft.com/office/drawing/2014/main" id="{94F5BB6E-030A-7341-6B01-88E414D8093B}"/>
                </a:ext>
              </a:extLst>
            </p:cNvPr>
            <p:cNvSpPr/>
            <p:nvPr/>
          </p:nvSpPr>
          <p:spPr>
            <a:xfrm rot="408264" flipH="1">
              <a:off x="7287361" y="4466331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611C8A5F-626C-E730-13BE-2257ACF46BE4}"/>
                </a:ext>
              </a:extLst>
            </p:cNvPr>
            <p:cNvSpPr/>
            <p:nvPr/>
          </p:nvSpPr>
          <p:spPr>
            <a:xfrm rot="11208264" flipH="1" flipV="1">
              <a:off x="7339875" y="4436521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1" name="Partial Circle 190">
              <a:extLst>
                <a:ext uri="{FF2B5EF4-FFF2-40B4-BE49-F238E27FC236}">
                  <a16:creationId xmlns:a16="http://schemas.microsoft.com/office/drawing/2014/main" id="{92A7ECE5-F97F-8F53-947C-140A00B3D751}"/>
                </a:ext>
              </a:extLst>
            </p:cNvPr>
            <p:cNvSpPr/>
            <p:nvPr/>
          </p:nvSpPr>
          <p:spPr>
            <a:xfrm rot="10285803" flipH="1">
              <a:off x="7412197" y="5796315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Partial Circle 191">
              <a:extLst>
                <a:ext uri="{FF2B5EF4-FFF2-40B4-BE49-F238E27FC236}">
                  <a16:creationId xmlns:a16="http://schemas.microsoft.com/office/drawing/2014/main" id="{07A35F60-DDA9-A917-4071-5812BFD96F94}"/>
                </a:ext>
              </a:extLst>
            </p:cNvPr>
            <p:cNvSpPr/>
            <p:nvPr/>
          </p:nvSpPr>
          <p:spPr>
            <a:xfrm rot="21085803" flipH="1" flipV="1">
              <a:off x="7573074" y="5767851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Right Triangle 192">
              <a:extLst>
                <a:ext uri="{FF2B5EF4-FFF2-40B4-BE49-F238E27FC236}">
                  <a16:creationId xmlns:a16="http://schemas.microsoft.com/office/drawing/2014/main" id="{C81CB7A4-C16B-360B-0819-565D713D959F}"/>
                </a:ext>
              </a:extLst>
            </p:cNvPr>
            <p:cNvSpPr/>
            <p:nvPr/>
          </p:nvSpPr>
          <p:spPr>
            <a:xfrm rot="21085803" flipH="1" flipV="1">
              <a:off x="7659780" y="6310520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4" name="Right Triangle 193">
              <a:extLst>
                <a:ext uri="{FF2B5EF4-FFF2-40B4-BE49-F238E27FC236}">
                  <a16:creationId xmlns:a16="http://schemas.microsoft.com/office/drawing/2014/main" id="{722A419E-AD3B-0CC7-70CD-C801963BC7DE}"/>
                </a:ext>
              </a:extLst>
            </p:cNvPr>
            <p:cNvSpPr/>
            <p:nvPr/>
          </p:nvSpPr>
          <p:spPr>
            <a:xfrm rot="10285803" flipH="1">
              <a:off x="7547192" y="6327487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D54A12E-0BAA-CD36-C778-3ABD3F7D1E51}"/>
                </a:ext>
              </a:extLst>
            </p:cNvPr>
            <p:cNvSpPr/>
            <p:nvPr/>
          </p:nvSpPr>
          <p:spPr>
            <a:xfrm rot="21085803" flipH="1" flipV="1">
              <a:off x="7636603" y="6140297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6" name="Isosceles Triangle 195">
              <a:extLst>
                <a:ext uri="{FF2B5EF4-FFF2-40B4-BE49-F238E27FC236}">
                  <a16:creationId xmlns:a16="http://schemas.microsoft.com/office/drawing/2014/main" id="{F3B33AC6-FBB9-F646-86E8-72E5EA3D2684}"/>
                </a:ext>
              </a:extLst>
            </p:cNvPr>
            <p:cNvSpPr/>
            <p:nvPr/>
          </p:nvSpPr>
          <p:spPr>
            <a:xfrm rot="10285803" flipH="1">
              <a:off x="7735742" y="5797222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39A64E73-ADAB-E5B7-958C-1609AC881326}"/>
                </a:ext>
              </a:extLst>
            </p:cNvPr>
            <p:cNvSpPr/>
            <p:nvPr/>
          </p:nvSpPr>
          <p:spPr>
            <a:xfrm rot="21085803" flipH="1" flipV="1">
              <a:off x="7807646" y="6689174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8" name="Partial Circle 197">
              <a:extLst>
                <a:ext uri="{FF2B5EF4-FFF2-40B4-BE49-F238E27FC236}">
                  <a16:creationId xmlns:a16="http://schemas.microsoft.com/office/drawing/2014/main" id="{1FDB20EB-2334-0643-5666-C7CE8E0C68A5}"/>
                </a:ext>
              </a:extLst>
            </p:cNvPr>
            <p:cNvSpPr/>
            <p:nvPr/>
          </p:nvSpPr>
          <p:spPr>
            <a:xfrm rot="950623" flipH="1">
              <a:off x="8001592" y="4698949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Partial Circle 198">
              <a:extLst>
                <a:ext uri="{FF2B5EF4-FFF2-40B4-BE49-F238E27FC236}">
                  <a16:creationId xmlns:a16="http://schemas.microsoft.com/office/drawing/2014/main" id="{9EF970AF-DC85-5FAA-BBA4-7865872082CC}"/>
                </a:ext>
              </a:extLst>
            </p:cNvPr>
            <p:cNvSpPr/>
            <p:nvPr/>
          </p:nvSpPr>
          <p:spPr>
            <a:xfrm rot="11750623" flipH="1" flipV="1">
              <a:off x="7843335" y="4658374"/>
              <a:ext cx="532855" cy="937786"/>
            </a:xfrm>
            <a:prstGeom prst="pie">
              <a:avLst>
                <a:gd name="adj1" fmla="val 16950464"/>
                <a:gd name="adj2" fmla="val 2002204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Right Triangle 199">
              <a:extLst>
                <a:ext uri="{FF2B5EF4-FFF2-40B4-BE49-F238E27FC236}">
                  <a16:creationId xmlns:a16="http://schemas.microsoft.com/office/drawing/2014/main" id="{F1276023-7696-DEA6-A158-FF6E6BC952D1}"/>
                </a:ext>
              </a:extLst>
            </p:cNvPr>
            <p:cNvSpPr/>
            <p:nvPr/>
          </p:nvSpPr>
          <p:spPr>
            <a:xfrm rot="11750623" flipH="1" flipV="1">
              <a:off x="7993819" y="4959766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1" name="Right Triangle 200">
              <a:extLst>
                <a:ext uri="{FF2B5EF4-FFF2-40B4-BE49-F238E27FC236}">
                  <a16:creationId xmlns:a16="http://schemas.microsoft.com/office/drawing/2014/main" id="{1241A215-B2E8-E31E-E58E-02D406390CA5}"/>
                </a:ext>
              </a:extLst>
            </p:cNvPr>
            <p:cNvSpPr/>
            <p:nvPr/>
          </p:nvSpPr>
          <p:spPr>
            <a:xfrm rot="950623" flipH="1">
              <a:off x="8103353" y="4990851"/>
              <a:ext cx="347862" cy="10752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ED29F83D-5797-BAF2-0CD8-9F2959B555BC}"/>
                </a:ext>
              </a:extLst>
            </p:cNvPr>
            <p:cNvSpPr/>
            <p:nvPr/>
          </p:nvSpPr>
          <p:spPr>
            <a:xfrm rot="11750623" flipH="1" flipV="1">
              <a:off x="8066476" y="5045700"/>
              <a:ext cx="242967" cy="212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3" name="Isosceles Triangle 202">
              <a:extLst>
                <a:ext uri="{FF2B5EF4-FFF2-40B4-BE49-F238E27FC236}">
                  <a16:creationId xmlns:a16="http://schemas.microsoft.com/office/drawing/2014/main" id="{791B5FD0-3243-31E5-E6B3-F1F75DF3689C}"/>
                </a:ext>
              </a:extLst>
            </p:cNvPr>
            <p:cNvSpPr/>
            <p:nvPr/>
          </p:nvSpPr>
          <p:spPr>
            <a:xfrm rot="950623" flipH="1">
              <a:off x="8182469" y="4466527"/>
              <a:ext cx="78910" cy="1138437"/>
            </a:xfrm>
            <a:prstGeom prst="triangle">
              <a:avLst/>
            </a:prstGeom>
            <a:solidFill>
              <a:srgbClr val="996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245B61A0-C3FD-F7B6-012C-B151649146E8}"/>
                </a:ext>
              </a:extLst>
            </p:cNvPr>
            <p:cNvSpPr/>
            <p:nvPr/>
          </p:nvSpPr>
          <p:spPr>
            <a:xfrm rot="11750623" flipH="1" flipV="1">
              <a:off x="8306946" y="4450707"/>
              <a:ext cx="78910" cy="273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A27B1764-9D58-686E-E564-062FD699C340}"/>
                </a:ext>
              </a:extLst>
            </p:cNvPr>
            <p:cNvGrpSpPr/>
            <p:nvPr/>
          </p:nvGrpSpPr>
          <p:grpSpPr>
            <a:xfrm rot="11405587">
              <a:off x="7066591" y="5234692"/>
              <a:ext cx="237698" cy="72211"/>
              <a:chOff x="4821842" y="2298918"/>
              <a:chExt cx="237698" cy="72211"/>
            </a:xfrm>
          </p:grpSpPr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461A21A7-9062-B17D-6701-B20E590A9053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1" name="Isosceles Triangle 230">
                <a:extLst>
                  <a:ext uri="{FF2B5EF4-FFF2-40B4-BE49-F238E27FC236}">
                    <a16:creationId xmlns:a16="http://schemas.microsoft.com/office/drawing/2014/main" id="{547A88B9-6ADD-4825-4816-BB74D16F83B9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78DB1D6-B691-F8AF-EE9F-1A0DF60A5479}"/>
                </a:ext>
              </a:extLst>
            </p:cNvPr>
            <p:cNvGrpSpPr/>
            <p:nvPr/>
          </p:nvGrpSpPr>
          <p:grpSpPr>
            <a:xfrm rot="21163159">
              <a:off x="7304763" y="5168680"/>
              <a:ext cx="237698" cy="72211"/>
              <a:chOff x="4821842" y="2298918"/>
              <a:chExt cx="237698" cy="72211"/>
            </a:xfrm>
          </p:grpSpPr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ED9C24E4-79B9-8DB3-DA34-892A8386811C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9" name="Isosceles Triangle 228">
                <a:extLst>
                  <a:ext uri="{FF2B5EF4-FFF2-40B4-BE49-F238E27FC236}">
                    <a16:creationId xmlns:a16="http://schemas.microsoft.com/office/drawing/2014/main" id="{55ECD744-5568-5C01-B68D-E6FBCE4112B4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D8C1963-F59F-246C-81C0-0034D0EFDD37}"/>
                </a:ext>
              </a:extLst>
            </p:cNvPr>
            <p:cNvGrpSpPr/>
            <p:nvPr/>
          </p:nvGrpSpPr>
          <p:grpSpPr>
            <a:xfrm rot="12209970">
              <a:off x="7095393" y="5035365"/>
              <a:ext cx="237698" cy="72211"/>
              <a:chOff x="4821842" y="2298918"/>
              <a:chExt cx="237698" cy="72211"/>
            </a:xfrm>
          </p:grpSpPr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908B4775-D2D5-5DB7-94F1-A255CB3CF63F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7" name="Isosceles Triangle 226">
                <a:extLst>
                  <a:ext uri="{FF2B5EF4-FFF2-40B4-BE49-F238E27FC236}">
                    <a16:creationId xmlns:a16="http://schemas.microsoft.com/office/drawing/2014/main" id="{A88782FA-8CC9-8638-1E45-4539F08B6DD5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7A936D9-18AC-E15F-8500-A395A1B8D566}"/>
                </a:ext>
              </a:extLst>
            </p:cNvPr>
            <p:cNvGrpSpPr/>
            <p:nvPr/>
          </p:nvGrpSpPr>
          <p:grpSpPr>
            <a:xfrm rot="576201">
              <a:off x="7751869" y="6164298"/>
              <a:ext cx="237698" cy="72211"/>
              <a:chOff x="4821842" y="2298918"/>
              <a:chExt cx="237698" cy="72211"/>
            </a:xfrm>
          </p:grpSpPr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299EC4F3-C13A-4BAB-C774-83C291A5C23D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5" name="Isosceles Triangle 224">
                <a:extLst>
                  <a:ext uri="{FF2B5EF4-FFF2-40B4-BE49-F238E27FC236}">
                    <a16:creationId xmlns:a16="http://schemas.microsoft.com/office/drawing/2014/main" id="{A3E79817-2EC1-ED79-E04C-4A36175BEFF4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364DD2AC-23D9-B055-C998-4F201E5779F8}"/>
                </a:ext>
              </a:extLst>
            </p:cNvPr>
            <p:cNvGrpSpPr/>
            <p:nvPr/>
          </p:nvGrpSpPr>
          <p:grpSpPr>
            <a:xfrm rot="9224964">
              <a:off x="7491047" y="6110355"/>
              <a:ext cx="237698" cy="72211"/>
              <a:chOff x="4821842" y="2298918"/>
              <a:chExt cx="237698" cy="72211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00FA50E8-451B-B9BA-D9AE-F27F571420A2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85D0E3CA-0C3F-31E8-35FF-F3C0E86ACA1D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13ACD771-E147-8A34-5F82-DA1EABD44E6C}"/>
                </a:ext>
              </a:extLst>
            </p:cNvPr>
            <p:cNvGrpSpPr/>
            <p:nvPr/>
          </p:nvGrpSpPr>
          <p:grpSpPr>
            <a:xfrm rot="9344935">
              <a:off x="7526281" y="6310860"/>
              <a:ext cx="237698" cy="72211"/>
              <a:chOff x="4821842" y="2298918"/>
              <a:chExt cx="237698" cy="72211"/>
            </a:xfrm>
          </p:grpSpPr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BBD1194D-5E2B-81AF-E279-0117E22120C6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1" name="Isosceles Triangle 220">
                <a:extLst>
                  <a:ext uri="{FF2B5EF4-FFF2-40B4-BE49-F238E27FC236}">
                    <a16:creationId xmlns:a16="http://schemas.microsoft.com/office/drawing/2014/main" id="{E471DFEF-8B4F-4E89-D321-B67FF46F545A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0553892E-CC58-29CE-B9B5-8A6B5B7C5E71}"/>
                </a:ext>
              </a:extLst>
            </p:cNvPr>
            <p:cNvGrpSpPr/>
            <p:nvPr/>
          </p:nvGrpSpPr>
          <p:grpSpPr>
            <a:xfrm rot="12042340">
              <a:off x="7900263" y="5225953"/>
              <a:ext cx="237698" cy="72211"/>
              <a:chOff x="4821842" y="2298918"/>
              <a:chExt cx="237698" cy="72211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E25EEE2C-90D1-4432-B480-969B67477992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9" name="Isosceles Triangle 218">
                <a:extLst>
                  <a:ext uri="{FF2B5EF4-FFF2-40B4-BE49-F238E27FC236}">
                    <a16:creationId xmlns:a16="http://schemas.microsoft.com/office/drawing/2014/main" id="{236725BB-A8AE-47B5-1178-920DE1947D1E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E0AF3539-F213-DFC4-375D-C947ACF95876}"/>
                </a:ext>
              </a:extLst>
            </p:cNvPr>
            <p:cNvGrpSpPr/>
            <p:nvPr/>
          </p:nvGrpSpPr>
          <p:grpSpPr>
            <a:xfrm>
              <a:off x="8172582" y="5179562"/>
              <a:ext cx="237698" cy="72211"/>
              <a:chOff x="4821842" y="2298918"/>
              <a:chExt cx="237698" cy="72211"/>
            </a:xfrm>
          </p:grpSpPr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4E0E39CC-F618-649A-6103-96566E3FD210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19A0F153-0EB7-08C9-264B-DD3B1BF53D90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0DCD6C61-4557-9635-A52A-0ACCB9E2F27C}"/>
                </a:ext>
              </a:extLst>
            </p:cNvPr>
            <p:cNvGrpSpPr/>
            <p:nvPr/>
          </p:nvGrpSpPr>
          <p:grpSpPr>
            <a:xfrm rot="12734332">
              <a:off x="7969161" y="5025954"/>
              <a:ext cx="237698" cy="72211"/>
              <a:chOff x="4821842" y="2298918"/>
              <a:chExt cx="237698" cy="72211"/>
            </a:xfrm>
          </p:grpSpPr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B2D75EA-6345-3D83-A46E-1803FEAF8C07}"/>
                  </a:ext>
                </a:extLst>
              </p:cNvPr>
              <p:cNvSpPr/>
              <p:nvPr/>
            </p:nvSpPr>
            <p:spPr>
              <a:xfrm>
                <a:off x="4869040" y="2298918"/>
                <a:ext cx="190500" cy="72211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5" name="Isosceles Triangle 214">
                <a:extLst>
                  <a:ext uri="{FF2B5EF4-FFF2-40B4-BE49-F238E27FC236}">
                    <a16:creationId xmlns:a16="http://schemas.microsoft.com/office/drawing/2014/main" id="{01183617-C1D3-DB4F-6834-C4E73DC7D9F1}"/>
                  </a:ext>
                </a:extLst>
              </p:cNvPr>
              <p:cNvSpPr/>
              <p:nvPr/>
            </p:nvSpPr>
            <p:spPr>
              <a:xfrm rot="5400000" flipH="1">
                <a:off x="4891457" y="2240435"/>
                <a:ext cx="49948" cy="189178"/>
              </a:xfrm>
              <a:prstGeom prst="triangle">
                <a:avLst/>
              </a:prstGeom>
              <a:solidFill>
                <a:srgbClr val="99663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EF7AB42-D11D-1715-77E7-78A42705D222}"/>
                </a:ext>
              </a:extLst>
            </p:cNvPr>
            <p:cNvSpPr/>
            <p:nvPr/>
          </p:nvSpPr>
          <p:spPr>
            <a:xfrm>
              <a:off x="6313821" y="549941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  <a:endParaRPr lang="en-GB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A54A407-A4F7-6B7B-AF48-DC0F76FBE904}"/>
                </a:ext>
              </a:extLst>
            </p:cNvPr>
            <p:cNvSpPr/>
            <p:nvPr/>
          </p:nvSpPr>
          <p:spPr>
            <a:xfrm>
              <a:off x="7473647" y="549093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  <a:endParaRPr lang="en-GB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DD176B1-9372-CE0D-CB37-970425905216}"/>
                </a:ext>
              </a:extLst>
            </p:cNvPr>
            <p:cNvSpPr/>
            <p:nvPr/>
          </p:nvSpPr>
          <p:spPr>
            <a:xfrm>
              <a:off x="9017775" y="5490938"/>
              <a:ext cx="372235" cy="372235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501809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0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Wiring</a:t>
            </a:r>
            <a:br>
              <a:rPr lang="en-US" dirty="0"/>
            </a:br>
            <a:r>
              <a:rPr lang="en-US" sz="2800" dirty="0"/>
              <a:t>The </a:t>
            </a:r>
            <a:r>
              <a:rPr lang="en-US" sz="2800" strike="sngStrike" dirty="0"/>
              <a:t>rules</a:t>
            </a:r>
            <a:r>
              <a:rPr lang="en-US" sz="2800" dirty="0"/>
              <a:t> guidelines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1708216"/>
            <a:ext cx="4849407" cy="516865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300" dirty="0"/>
              <a:t>Goals</a:t>
            </a:r>
          </a:p>
          <a:p>
            <a:r>
              <a:rPr lang="en-US" sz="2100" dirty="0"/>
              <a:t>Imitate the effect of gravity on full-size tree branches (“square-cube law”)</a:t>
            </a:r>
          </a:p>
          <a:p>
            <a:pPr marL="342900" lvl="1" indent="-342900"/>
            <a:r>
              <a:rPr lang="en-US" sz="2100" dirty="0"/>
              <a:t>Make straight branches look like they’re the product of many shorter segments</a:t>
            </a:r>
          </a:p>
          <a:p>
            <a:pPr marL="342900" lvl="1" indent="-342900"/>
            <a:r>
              <a:rPr lang="en-US" sz="2100" dirty="0"/>
              <a:t>Spread branches to avoid shading each other</a:t>
            </a:r>
          </a:p>
          <a:p>
            <a:pPr marL="342900" lvl="1" indent="-342900"/>
            <a:r>
              <a:rPr lang="en-US" sz="2100" dirty="0"/>
              <a:t>Fill unwanted gaps in the canopy</a:t>
            </a:r>
          </a:p>
          <a:p>
            <a:pPr marL="342900" lvl="1" indent="-342900"/>
            <a:r>
              <a:rPr lang="en-US" sz="2100" dirty="0"/>
              <a:t>For conifers: bring foliage closer to trunk</a:t>
            </a:r>
          </a:p>
          <a:p>
            <a:pPr marL="0" indent="0">
              <a:buNone/>
            </a:pPr>
            <a:r>
              <a:rPr lang="en-US" sz="2300" dirty="0"/>
              <a:t>Approach</a:t>
            </a:r>
          </a:p>
          <a:p>
            <a:pPr>
              <a:buFont typeface="+mj-lt"/>
              <a:buAutoNum type="arabicPeriod"/>
            </a:pPr>
            <a:r>
              <a:rPr lang="en-US" sz="2100" dirty="0"/>
              <a:t>If it’s daft and it works, it’s not daft</a:t>
            </a:r>
          </a:p>
          <a:p>
            <a:pPr lvl="1"/>
            <a:r>
              <a:rPr lang="en-US" sz="1800" dirty="0"/>
              <a:t>We use </a:t>
            </a:r>
            <a:r>
              <a:rPr lang="en-US" sz="1800" dirty="0" err="1"/>
              <a:t>anodised</a:t>
            </a:r>
            <a:r>
              <a:rPr lang="en-US" sz="1800" dirty="0"/>
              <a:t> </a:t>
            </a:r>
            <a:r>
              <a:rPr lang="en-US" sz="1800" dirty="0" err="1"/>
              <a:t>aluminium</a:t>
            </a:r>
            <a:r>
              <a:rPr lang="en-US" sz="1800" dirty="0"/>
              <a:t> wire because it is easy and attractive.  Weights, strings, corks, rubber bands, </a:t>
            </a:r>
            <a:r>
              <a:rPr lang="en-US" sz="1800" dirty="0" err="1"/>
              <a:t>etc</a:t>
            </a:r>
            <a:r>
              <a:rPr lang="en-US" sz="1800" dirty="0"/>
              <a:t> are all completely valid alternatives!</a:t>
            </a:r>
          </a:p>
          <a:p>
            <a:pPr marL="342000" lvl="1" indent="-342000">
              <a:buFont typeface="+mj-lt"/>
              <a:buAutoNum type="arabicPeriod" startAt="2"/>
            </a:pPr>
            <a:r>
              <a:rPr lang="en-US" sz="2100" dirty="0">
                <a:latin typeface="Trebuchet MS" panose="020B0603020202020204" pitchFamily="34" charset="0"/>
              </a:rPr>
              <a:t>Use the thinnest gauge of wire that will still bend the branch</a:t>
            </a:r>
          </a:p>
          <a:p>
            <a:pPr lvl="1"/>
            <a:r>
              <a:rPr lang="en-US" sz="1800" dirty="0"/>
              <a:t>E.g. if either 2mm and 1.5mm would work, but 1mm wouldn’t, use 1.5mm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55A3E-9BB8-CF04-1F0F-0B07E3004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86325" y="1711733"/>
            <a:ext cx="4849406" cy="5168659"/>
          </a:xfrm>
        </p:spPr>
        <p:txBody>
          <a:bodyPr>
            <a:normAutofit fontScale="77500" lnSpcReduction="20000"/>
          </a:bodyPr>
          <a:lstStyle/>
          <a:p>
            <a:pPr>
              <a:buFont typeface="+mj-lt"/>
              <a:buAutoNum type="arabicPeriod" startAt="3"/>
            </a:pPr>
            <a:endParaRPr lang="en-GB" sz="2100" dirty="0"/>
          </a:p>
          <a:p>
            <a:pPr>
              <a:buFont typeface="+mj-lt"/>
              <a:buAutoNum type="arabicPeriod" startAt="3"/>
            </a:pPr>
            <a:r>
              <a:rPr lang="en-GB" sz="2100" dirty="0"/>
              <a:t>Always wire two branches together!</a:t>
            </a:r>
          </a:p>
          <a:p>
            <a:pPr lvl="1"/>
            <a:r>
              <a:rPr lang="en-GB" sz="1800" dirty="0"/>
              <a:t>…Or wire a branch to the trunk, or the trunk to the root ball / pot; just don’t try to wire a single branch on its own</a:t>
            </a:r>
          </a:p>
          <a:p>
            <a:pPr>
              <a:buFont typeface="+mj-lt"/>
              <a:buAutoNum type="arabicPeriod" startAt="4"/>
            </a:pPr>
            <a:r>
              <a:rPr lang="en-GB" sz="2100" dirty="0"/>
              <a:t>Wire at 45</a:t>
            </a:r>
            <a:r>
              <a:rPr lang="en-GB" sz="2100" dirty="0">
                <a:latin typeface="Trebuchet MS" panose="020B0603020202020204" pitchFamily="34" charset="0"/>
              </a:rPr>
              <a:t>º to the branch / trunk</a:t>
            </a:r>
          </a:p>
          <a:p>
            <a:pPr lvl="1"/>
            <a:r>
              <a:rPr lang="en-US" sz="1800" dirty="0">
                <a:latin typeface="Trebuchet MS" panose="020B0603020202020204" pitchFamily="34" charset="0"/>
              </a:rPr>
              <a:t>Rule of thumb: the wire needs to be the length of branch / trunk to be wired × 1.5</a:t>
            </a:r>
            <a:endParaRPr lang="en-GB" sz="1800" dirty="0">
              <a:latin typeface="Trebuchet MS" panose="020B0603020202020204" pitchFamily="34" charset="0"/>
            </a:endParaRPr>
          </a:p>
          <a:p>
            <a:pPr>
              <a:buFont typeface="+mj-lt"/>
              <a:buAutoNum type="arabicPeriod" startAt="4"/>
            </a:pPr>
            <a:r>
              <a:rPr lang="en-GB" sz="2100" dirty="0">
                <a:latin typeface="Trebuchet MS" panose="020B0603020202020204" pitchFamily="34" charset="0"/>
              </a:rPr>
              <a:t>The wire is a </a:t>
            </a:r>
            <a:r>
              <a:rPr lang="en-GB" sz="2100" i="1" dirty="0">
                <a:latin typeface="Trebuchet MS" panose="020B0603020202020204" pitchFamily="34" charset="0"/>
              </a:rPr>
              <a:t>cage</a:t>
            </a:r>
            <a:r>
              <a:rPr lang="en-GB" sz="2100" dirty="0">
                <a:latin typeface="Trebuchet MS" panose="020B0603020202020204" pitchFamily="34" charset="0"/>
              </a:rPr>
              <a:t> not a </a:t>
            </a:r>
            <a:r>
              <a:rPr lang="en-GB" sz="2100" i="1" dirty="0">
                <a:latin typeface="Trebuchet MS" panose="020B0603020202020204" pitchFamily="34" charset="0"/>
              </a:rPr>
              <a:t>corset</a:t>
            </a:r>
            <a:endParaRPr lang="en-GB" sz="2100" dirty="0">
              <a:latin typeface="Trebuchet MS" panose="020B0603020202020204" pitchFamily="34" charset="0"/>
            </a:endParaRP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I.e. use as little pressure as possible: the less it digs in on Day 1, the longer you have before it leaves wire-marks on the bark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It’s OK to leave an “open coil” spiral at the end to gently control green growth</a:t>
            </a:r>
          </a:p>
          <a:p>
            <a:pPr>
              <a:buFont typeface="+mj-lt"/>
              <a:buAutoNum type="arabicPeriod" startAt="4"/>
            </a:pPr>
            <a:r>
              <a:rPr lang="en-GB" sz="2100" dirty="0">
                <a:latin typeface="Trebuchet MS" panose="020B0603020202020204" pitchFamily="34" charset="0"/>
              </a:rPr>
              <a:t>Leave wire on for one growth season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Usually 6 months – covering either Spring or Lammas growth - except for some mountain pines which only have one growth flush per year</a:t>
            </a:r>
          </a:p>
          <a:p>
            <a:pPr lvl="1"/>
            <a:r>
              <a:rPr lang="en-GB" sz="1800" dirty="0">
                <a:latin typeface="Trebuchet MS" panose="020B0603020202020204" pitchFamily="34" charset="0"/>
              </a:rPr>
              <a:t>If the branch hasn’t “set” after one flush, you just have to reapply the wire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76309A4-1912-1632-4F78-8A6D214BB1B6}"/>
              </a:ext>
            </a:extLst>
          </p:cNvPr>
          <p:cNvGrpSpPr/>
          <p:nvPr/>
        </p:nvGrpSpPr>
        <p:grpSpPr>
          <a:xfrm>
            <a:off x="4612873" y="496398"/>
            <a:ext cx="1871797" cy="1211818"/>
            <a:chOff x="4612873" y="496398"/>
            <a:chExt cx="1871797" cy="121181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42B210-4D34-B578-7B2B-B16460337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2403" y="628219"/>
              <a:ext cx="31051" cy="2606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0754CEA-04CE-9F56-4371-15F650F3D999}"/>
                </a:ext>
              </a:extLst>
            </p:cNvPr>
            <p:cNvCxnSpPr>
              <a:cxnSpLocks/>
            </p:cNvCxnSpPr>
            <p:nvPr/>
          </p:nvCxnSpPr>
          <p:spPr>
            <a:xfrm>
              <a:off x="5083421" y="496989"/>
              <a:ext cx="28993" cy="21704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6E50B41-C842-3BF1-852E-298540F15694}"/>
                </a:ext>
              </a:extLst>
            </p:cNvPr>
            <p:cNvCxnSpPr>
              <a:cxnSpLocks/>
            </p:cNvCxnSpPr>
            <p:nvPr/>
          </p:nvCxnSpPr>
          <p:spPr>
            <a:xfrm>
              <a:off x="5697274" y="627628"/>
              <a:ext cx="31051" cy="2606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2792943-FC7A-D6C5-8FF8-713CE9F631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8314" y="496398"/>
              <a:ext cx="28993" cy="21704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7" name="Trapezoid 6">
              <a:extLst>
                <a:ext uri="{FF2B5EF4-FFF2-40B4-BE49-F238E27FC236}">
                  <a16:creationId xmlns:a16="http://schemas.microsoft.com/office/drawing/2014/main" id="{9ADEF51C-C331-F109-79C3-6544D930F150}"/>
                </a:ext>
              </a:extLst>
            </p:cNvPr>
            <p:cNvSpPr/>
            <p:nvPr/>
          </p:nvSpPr>
          <p:spPr>
            <a:xfrm rot="3525542">
              <a:off x="5904045" y="92750"/>
              <a:ext cx="176360" cy="984890"/>
            </a:xfrm>
            <a:prstGeom prst="trapezoid">
              <a:avLst>
                <a:gd name="adj" fmla="val 4056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Trapezoid 15">
              <a:extLst>
                <a:ext uri="{FF2B5EF4-FFF2-40B4-BE49-F238E27FC236}">
                  <a16:creationId xmlns:a16="http://schemas.microsoft.com/office/drawing/2014/main" id="{B2C2D259-3E98-9604-4E8C-00E3B46A5200}"/>
                </a:ext>
              </a:extLst>
            </p:cNvPr>
            <p:cNvSpPr/>
            <p:nvPr/>
          </p:nvSpPr>
          <p:spPr>
            <a:xfrm>
              <a:off x="5366856" y="757909"/>
              <a:ext cx="378066" cy="950307"/>
            </a:xfrm>
            <a:prstGeom prst="trapezoid">
              <a:avLst>
                <a:gd name="adj" fmla="val 10773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Trapezoid 16">
              <a:extLst>
                <a:ext uri="{FF2B5EF4-FFF2-40B4-BE49-F238E27FC236}">
                  <a16:creationId xmlns:a16="http://schemas.microsoft.com/office/drawing/2014/main" id="{9C29BD8F-42A6-1CE7-BD18-AA42816CB832}"/>
                </a:ext>
              </a:extLst>
            </p:cNvPr>
            <p:cNvSpPr/>
            <p:nvPr/>
          </p:nvSpPr>
          <p:spPr>
            <a:xfrm rot="18074458" flipH="1">
              <a:off x="5024812" y="93772"/>
              <a:ext cx="176360" cy="1000238"/>
            </a:xfrm>
            <a:prstGeom prst="trapezoid">
              <a:avLst>
                <a:gd name="adj" fmla="val 3832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B9284C-86E2-97F9-BA0B-FCCC649C06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50259" y="888916"/>
              <a:ext cx="378066" cy="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AEFAFF6-FD94-94AE-D144-7D596F78AC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2414" y="628219"/>
              <a:ext cx="271040" cy="8406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EED44E-D601-6DD9-3ABE-6F459BE2ED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780" y="496989"/>
              <a:ext cx="366641" cy="92982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3EFA209-43A1-F130-5307-508D11439AF4}"/>
                </a:ext>
              </a:extLst>
            </p:cNvPr>
            <p:cNvCxnSpPr>
              <a:cxnSpLocks/>
            </p:cNvCxnSpPr>
            <p:nvPr/>
          </p:nvCxnSpPr>
          <p:spPr>
            <a:xfrm>
              <a:off x="5697274" y="627628"/>
              <a:ext cx="271040" cy="8406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B16ACD5-8D2E-4223-0ECB-DEFDB62038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7307" y="496398"/>
              <a:ext cx="399683" cy="9357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E1D81F3-5360-DBA3-8DE7-CCE10D7A58F9}"/>
              </a:ext>
            </a:extLst>
          </p:cNvPr>
          <p:cNvGrpSpPr/>
          <p:nvPr/>
        </p:nvGrpSpPr>
        <p:grpSpPr>
          <a:xfrm>
            <a:off x="7201204" y="188746"/>
            <a:ext cx="2532956" cy="1640055"/>
            <a:chOff x="7201204" y="188746"/>
            <a:chExt cx="2532956" cy="1640055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68A745CF-85A5-3801-7015-1B4D850544F5}"/>
                </a:ext>
              </a:extLst>
            </p:cNvPr>
            <p:cNvCxnSpPr>
              <a:cxnSpLocks/>
            </p:cNvCxnSpPr>
            <p:nvPr/>
          </p:nvCxnSpPr>
          <p:spPr>
            <a:xfrm>
              <a:off x="8242472" y="991812"/>
              <a:ext cx="378066" cy="230386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D879159-5934-0AE8-D1D6-B9F06BA1585F}"/>
                </a:ext>
              </a:extLst>
            </p:cNvPr>
            <p:cNvCxnSpPr>
              <a:cxnSpLocks/>
            </p:cNvCxnSpPr>
            <p:nvPr/>
          </p:nvCxnSpPr>
          <p:spPr>
            <a:xfrm>
              <a:off x="8242472" y="603670"/>
              <a:ext cx="370073" cy="169416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B8CA4FD-652F-C99B-2C5F-C36236789CFF}"/>
                </a:ext>
              </a:extLst>
            </p:cNvPr>
            <p:cNvCxnSpPr>
              <a:cxnSpLocks/>
            </p:cNvCxnSpPr>
            <p:nvPr/>
          </p:nvCxnSpPr>
          <p:spPr>
            <a:xfrm>
              <a:off x="8089616" y="1212444"/>
              <a:ext cx="134679" cy="23413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C7DDC52-E72E-C88B-7994-2C01BB3E4DD5}"/>
                </a:ext>
              </a:extLst>
            </p:cNvPr>
            <p:cNvCxnSpPr>
              <a:cxnSpLocks/>
            </p:cNvCxnSpPr>
            <p:nvPr/>
          </p:nvCxnSpPr>
          <p:spPr>
            <a:xfrm>
              <a:off x="7681525" y="1107005"/>
              <a:ext cx="253330" cy="27467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6" name="Trapezoid 45">
              <a:extLst>
                <a:ext uri="{FF2B5EF4-FFF2-40B4-BE49-F238E27FC236}">
                  <a16:creationId xmlns:a16="http://schemas.microsoft.com/office/drawing/2014/main" id="{A5143155-7DCD-88DD-18AA-4143FF85F77C}"/>
                </a:ext>
              </a:extLst>
            </p:cNvPr>
            <p:cNvSpPr/>
            <p:nvPr/>
          </p:nvSpPr>
          <p:spPr>
            <a:xfrm rot="16629363" flipH="1">
              <a:off x="7724124" y="650768"/>
              <a:ext cx="212313" cy="1258154"/>
            </a:xfrm>
            <a:prstGeom prst="trapezoid">
              <a:avLst>
                <a:gd name="adj" fmla="val 37911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F76A398-F708-BCE7-B371-96C103B2F1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36760" y="1207408"/>
              <a:ext cx="150951" cy="174270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815D4B7-C261-7B1D-3826-2509EC2D835C}"/>
                </a:ext>
              </a:extLst>
            </p:cNvPr>
            <p:cNvCxnSpPr>
              <a:cxnSpLocks/>
            </p:cNvCxnSpPr>
            <p:nvPr/>
          </p:nvCxnSpPr>
          <p:spPr>
            <a:xfrm>
              <a:off x="8620538" y="415529"/>
              <a:ext cx="150951" cy="19621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8045842-1F3E-DDCE-A4F2-AA7401F16AAC}"/>
                </a:ext>
              </a:extLst>
            </p:cNvPr>
            <p:cNvCxnSpPr>
              <a:cxnSpLocks/>
            </p:cNvCxnSpPr>
            <p:nvPr/>
          </p:nvCxnSpPr>
          <p:spPr>
            <a:xfrm>
              <a:off x="8934877" y="412423"/>
              <a:ext cx="170205" cy="13823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43" name="Trapezoid 42">
              <a:extLst>
                <a:ext uri="{FF2B5EF4-FFF2-40B4-BE49-F238E27FC236}">
                  <a16:creationId xmlns:a16="http://schemas.microsoft.com/office/drawing/2014/main" id="{281D1DF8-D0D6-7201-B732-490F61025B6D}"/>
                </a:ext>
              </a:extLst>
            </p:cNvPr>
            <p:cNvSpPr/>
            <p:nvPr/>
          </p:nvSpPr>
          <p:spPr>
            <a:xfrm rot="4970637">
              <a:off x="8998926" y="-152298"/>
              <a:ext cx="212313" cy="1258154"/>
            </a:xfrm>
            <a:prstGeom prst="trapezoid">
              <a:avLst>
                <a:gd name="adj" fmla="val 39244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Trapezoid 43">
              <a:extLst>
                <a:ext uri="{FF2B5EF4-FFF2-40B4-BE49-F238E27FC236}">
                  <a16:creationId xmlns:a16="http://schemas.microsoft.com/office/drawing/2014/main" id="{F72F51FF-DBB5-AA68-DD08-00D948B06612}"/>
                </a:ext>
              </a:extLst>
            </p:cNvPr>
            <p:cNvSpPr/>
            <p:nvPr/>
          </p:nvSpPr>
          <p:spPr>
            <a:xfrm>
              <a:off x="8242472" y="293083"/>
              <a:ext cx="378066" cy="1535718"/>
            </a:xfrm>
            <a:prstGeom prst="trapezoid">
              <a:avLst>
                <a:gd name="adj" fmla="val 10773"/>
              </a:avLst>
            </a:prstGeom>
            <a:solidFill>
              <a:srgbClr val="C488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E44319-7CBA-CB43-CF87-73BBCF0FA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38662" y="773086"/>
              <a:ext cx="378066" cy="215209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6E2CD89-1A7E-5E96-8D0E-0CAC424680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6451" y="415529"/>
              <a:ext cx="346094" cy="174442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6E4A37E-19E4-3D58-5155-3F3521F75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6486" y="1227252"/>
              <a:ext cx="394052" cy="22148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80287D2-E539-F44A-C307-382B86F9C9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3395" y="414457"/>
              <a:ext cx="150951" cy="199211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C565361-CFBB-7620-96DE-F017731913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05082" y="188746"/>
              <a:ext cx="310920" cy="3613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38001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Stress Management</a:t>
            </a:r>
            <a:br>
              <a:rPr lang="en-US" dirty="0"/>
            </a:br>
            <a:r>
              <a:rPr lang="en-US" dirty="0"/>
              <a:t>…</a:t>
            </a:r>
            <a:r>
              <a:rPr lang="en-US" sz="2800" dirty="0"/>
              <a:t>No, I meant for the </a:t>
            </a:r>
            <a:r>
              <a:rPr lang="en-US" sz="2800" i="1" dirty="0"/>
              <a:t>tree</a:t>
            </a:r>
            <a:endParaRPr lang="en-GB" sz="2800" i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8A06A3C-33D2-64DA-8D63-EC5D5FD1E4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160588"/>
            <a:ext cx="4184035" cy="4415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Sources of water stress</a:t>
            </a:r>
          </a:p>
          <a:p>
            <a:r>
              <a:rPr lang="en-GB" sz="1600" dirty="0"/>
              <a:t>Root pruning</a:t>
            </a:r>
          </a:p>
          <a:p>
            <a:r>
              <a:rPr lang="en-GB" sz="1600" dirty="0"/>
              <a:t>Under-watering</a:t>
            </a:r>
          </a:p>
          <a:p>
            <a:r>
              <a:rPr lang="en-GB" sz="1600" dirty="0"/>
              <a:t>Over-watering / poor drainage </a:t>
            </a:r>
            <a:r>
              <a:rPr lang="en-US" sz="1600" dirty="0"/>
              <a:t>→ root rot</a:t>
            </a:r>
          </a:p>
          <a:p>
            <a:r>
              <a:rPr lang="en-GB" sz="1600" dirty="0"/>
              <a:t>Over-fertilising</a:t>
            </a:r>
          </a:p>
          <a:p>
            <a:r>
              <a:rPr lang="en-GB" sz="1600" dirty="0"/>
              <a:t>Summer</a:t>
            </a:r>
          </a:p>
          <a:p>
            <a:pPr marL="0" indent="0">
              <a:buNone/>
            </a:pPr>
            <a:r>
              <a:rPr lang="en-GB" dirty="0"/>
              <a:t>Sources of wood stress</a:t>
            </a:r>
          </a:p>
          <a:p>
            <a:r>
              <a:rPr lang="en-GB" sz="1600" dirty="0"/>
              <a:t>Heavy removal of green growth</a:t>
            </a:r>
          </a:p>
          <a:p>
            <a:r>
              <a:rPr lang="en-GB" sz="1600" dirty="0"/>
              <a:t>Branch removal past the “collar”</a:t>
            </a:r>
          </a:p>
          <a:p>
            <a:r>
              <a:rPr lang="en-GB" sz="1600" dirty="0"/>
              <a:t>Some kinds of deadwood work</a:t>
            </a:r>
          </a:p>
          <a:p>
            <a:r>
              <a:rPr lang="en-GB" sz="1600" dirty="0"/>
              <a:t>Insect attacks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FE443-BDB1-E7F4-3BDB-B80CF0AD8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4415024"/>
          </a:xfrm>
        </p:spPr>
        <p:txBody>
          <a:bodyPr>
            <a:normAutofit/>
          </a:bodyPr>
          <a:lstStyle/>
          <a:p>
            <a:r>
              <a:rPr lang="en-US" dirty="0"/>
              <a:t>It’s best to space stresses out over as much time as possible – e.g. 1 major stress per tree per growth season</a:t>
            </a:r>
          </a:p>
          <a:p>
            <a:r>
              <a:rPr lang="en-US" dirty="0"/>
              <a:t>Water stress and wood stress are not (necessarily) additive: if you prune the foliage </a:t>
            </a:r>
            <a:r>
              <a:rPr lang="en-US" i="1" dirty="0"/>
              <a:t>and</a:t>
            </a:r>
            <a:r>
              <a:rPr lang="en-US" dirty="0"/>
              <a:t> the root ball, there is less demand for water so less work for the remaining roots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765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5651-88EF-0E9D-2F3F-362CB677F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D1127A2E-45FB-7857-3EE5-EAB84FBB8A1C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F0461B-D40F-5E24-1AC1-EEF19809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There Is A Season</a:t>
            </a:r>
            <a:br>
              <a:rPr lang="en-US" dirty="0"/>
            </a:br>
            <a:r>
              <a:rPr lang="en-US" sz="2800" dirty="0"/>
              <a:t>When to do what</a:t>
            </a:r>
            <a:endParaRPr lang="en-GB" sz="2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289A73-8053-309C-4624-12D1B6605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261" t="14635" r="14396" b="19431"/>
          <a:stretch/>
        </p:blipFill>
        <p:spPr>
          <a:xfrm>
            <a:off x="905075" y="1894397"/>
            <a:ext cx="10381849" cy="2068331"/>
          </a:xfr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215CF6-7B03-B612-9805-EB7960540432}"/>
              </a:ext>
            </a:extLst>
          </p:cNvPr>
          <p:cNvSpPr/>
          <p:nvPr/>
        </p:nvSpPr>
        <p:spPr>
          <a:xfrm>
            <a:off x="2809461" y="4074834"/>
            <a:ext cx="2549180" cy="2586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Spring*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180053-F0E0-52B3-2A1F-28368C573999}"/>
              </a:ext>
            </a:extLst>
          </p:cNvPr>
          <p:cNvSpPr/>
          <p:nvPr/>
        </p:nvSpPr>
        <p:spPr>
          <a:xfrm>
            <a:off x="5358641" y="4074833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4E477-4F71-E792-7F90-A3573FDB9224}"/>
              </a:ext>
            </a:extLst>
          </p:cNvPr>
          <p:cNvSpPr/>
          <p:nvPr/>
        </p:nvSpPr>
        <p:spPr>
          <a:xfrm>
            <a:off x="7907821" y="4074833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Autumn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989606-A587-FBC5-8C5C-4C10FDCE0F43}"/>
              </a:ext>
            </a:extLst>
          </p:cNvPr>
          <p:cNvSpPr/>
          <p:nvPr/>
        </p:nvSpPr>
        <p:spPr>
          <a:xfrm>
            <a:off x="260281" y="4075060"/>
            <a:ext cx="2549180" cy="251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Winter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0634A1-91BC-C872-8C17-EEB3596727F6}"/>
              </a:ext>
            </a:extLst>
          </p:cNvPr>
          <p:cNvSpPr txBox="1"/>
          <p:nvPr/>
        </p:nvSpPr>
        <p:spPr>
          <a:xfrm>
            <a:off x="260281" y="4346665"/>
            <a:ext cx="25491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Dormancy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Light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strike="sngStrike" dirty="0"/>
              <a:t>Frost protection</a:t>
            </a:r>
            <a:r>
              <a:rPr lang="en-US" sz="1400" dirty="0"/>
              <a:t>**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Cleaning &amp; tidying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Stock up on growth media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FEE83-C4DC-D85F-0080-2A9AF4B1E80E}"/>
              </a:ext>
            </a:extLst>
          </p:cNvPr>
          <p:cNvSpPr txBox="1"/>
          <p:nvPr/>
        </p:nvSpPr>
        <p:spPr>
          <a:xfrm>
            <a:off x="2809461" y="4350466"/>
            <a:ext cx="254918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Spring growth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Moderate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Moderate fertilising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Pest control &amp; weeding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Re-potting (every 1-3 years)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Structural pruning if needed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Wiring / wire removal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F78DAC-8E3A-2A38-3EC4-6F42CAC71122}"/>
              </a:ext>
            </a:extLst>
          </p:cNvPr>
          <p:cNvSpPr txBox="1"/>
          <p:nvPr/>
        </p:nvSpPr>
        <p:spPr>
          <a:xfrm>
            <a:off x="5358641" y="4343628"/>
            <a:ext cx="25491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Sun &amp; heat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Heavy watering***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Very light </a:t>
            </a:r>
            <a:r>
              <a:rPr lang="en-US" sz="1400" dirty="0" err="1"/>
              <a:t>fertilising</a:t>
            </a:r>
            <a:endParaRPr lang="en-US" sz="1400" dirty="0"/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Enough shade (species dependent)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endParaRPr lang="en-GB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75BB38-DF76-D3D1-D90B-4E36F467890F}"/>
              </a:ext>
            </a:extLst>
          </p:cNvPr>
          <p:cNvSpPr txBox="1"/>
          <p:nvPr/>
        </p:nvSpPr>
        <p:spPr>
          <a:xfrm>
            <a:off x="7907821" y="4333445"/>
            <a:ext cx="25491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Lammas growth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Moderate watering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Mild fertilizing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Pest control &amp; weeding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US" sz="1400" dirty="0"/>
              <a:t>Pruning for ramification</a:t>
            </a:r>
          </a:p>
          <a:p>
            <a:pPr marL="108000" indent="-108000">
              <a:buFont typeface="Arial" panose="020B0604020202020204" pitchFamily="34" charset="0"/>
              <a:buChar char="•"/>
            </a:pPr>
            <a:r>
              <a:rPr lang="en-GB" sz="1400" dirty="0"/>
              <a:t>Wiring / wire removal</a:t>
            </a:r>
          </a:p>
        </p:txBody>
      </p:sp>
      <p:sp>
        <p:nvSpPr>
          <p:cNvPr id="19" name="Content Placeholder 14">
            <a:extLst>
              <a:ext uri="{FF2B5EF4-FFF2-40B4-BE49-F238E27FC236}">
                <a16:creationId xmlns:a16="http://schemas.microsoft.com/office/drawing/2014/main" id="{B2844639-F9CB-44F1-EDD2-F82DD77949EF}"/>
              </a:ext>
            </a:extLst>
          </p:cNvPr>
          <p:cNvSpPr txBox="1">
            <a:spLocks/>
          </p:cNvSpPr>
          <p:nvPr/>
        </p:nvSpPr>
        <p:spPr>
          <a:xfrm>
            <a:off x="677334" y="6133893"/>
            <a:ext cx="10360460" cy="7040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* Spring for bonsai practitioners (especially in London) typically starts earlier than the calendar date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dirty="0"/>
              <a:t>** Not usually needed in present-day London due to the heat island effect and global warming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GB" sz="1400" dirty="0"/>
              <a:t>*** If going on holiday, put bonsai in bath with enough water to just barely touching the soil through the pot drainage holes </a:t>
            </a:r>
          </a:p>
        </p:txBody>
      </p:sp>
    </p:spTree>
    <p:extLst>
      <p:ext uri="{BB962C8B-B14F-4D97-AF65-F5344CB8AC3E}">
        <p14:creationId xmlns:p14="http://schemas.microsoft.com/office/powerpoint/2010/main" val="3330741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Steps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3456FE-92E1-5B1D-A3A4-47AF8EE7C6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Becoming a Bonsai Practitioner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478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Practice, Practice, Practice</a:t>
            </a:r>
            <a:br>
              <a:rPr lang="en-US" dirty="0"/>
            </a:br>
            <a:r>
              <a:rPr lang="en-US" sz="2800" dirty="0"/>
              <a:t>Practice, practice, practice, practice… you get the picture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4"/>
            <a:ext cx="10107207" cy="4854389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Keep your tree alive and bonsai-</a:t>
            </a:r>
            <a:r>
              <a:rPr lang="en-US" dirty="0" err="1"/>
              <a:t>ish</a:t>
            </a:r>
            <a:endParaRPr lang="en-US" dirty="0"/>
          </a:p>
          <a:p>
            <a:pPr lvl="1"/>
            <a:r>
              <a:rPr lang="en-US" dirty="0"/>
              <a:t>Remember: WATERING!!!</a:t>
            </a:r>
          </a:p>
          <a:p>
            <a:pPr lvl="1"/>
            <a:r>
              <a:rPr lang="en-US" dirty="0"/>
              <a:t>Remove wire in ~6 months</a:t>
            </a:r>
          </a:p>
          <a:p>
            <a:pPr>
              <a:buFont typeface="+mj-lt"/>
              <a:buAutoNum type="arabicPeriod"/>
            </a:pPr>
            <a:r>
              <a:rPr lang="en-US" dirty="0"/>
              <a:t>Find rogue seedlings to “adopt”, and transfer them to pots</a:t>
            </a:r>
          </a:p>
          <a:p>
            <a:pPr lvl="1"/>
            <a:r>
              <a:rPr lang="en-US" i="1" dirty="0"/>
              <a:t>…Without</a:t>
            </a:r>
            <a:r>
              <a:rPr lang="en-US" dirty="0"/>
              <a:t> killing them, I mean</a:t>
            </a:r>
          </a:p>
          <a:p>
            <a:pPr lvl="1"/>
            <a:r>
              <a:rPr lang="en-US" dirty="0"/>
              <a:t>Once you’re sure they won’t die, prune them and gradually move them to smaller / shallower pots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to build a bonsai toolkit</a:t>
            </a:r>
          </a:p>
          <a:p>
            <a:pPr lvl="1"/>
            <a:r>
              <a:rPr lang="en-US" dirty="0"/>
              <a:t>Start with cheap / improvised tools: chopsticks, pliers, wire-cutters, tamper, nail scissors</a:t>
            </a:r>
          </a:p>
          <a:p>
            <a:pPr lvl="1"/>
            <a:r>
              <a:rPr lang="en-US" dirty="0"/>
              <a:t>Consider buying: root shears, straight-edged branch cutter</a:t>
            </a:r>
          </a:p>
          <a:p>
            <a:pPr>
              <a:buFont typeface="+mj-lt"/>
              <a:buAutoNum type="arabicPeriod"/>
            </a:pPr>
            <a:r>
              <a:rPr lang="en-US" dirty="0"/>
              <a:t>Build a collection of pots for all bonsai styles and phases of development</a:t>
            </a:r>
          </a:p>
          <a:p>
            <a:pPr lvl="1"/>
            <a:r>
              <a:rPr lang="en-US" dirty="0"/>
              <a:t>Make your own – e.g. with crockery and a diamond tile hole saw</a:t>
            </a:r>
          </a:p>
          <a:p>
            <a:pPr>
              <a:buFont typeface="+mj-lt"/>
              <a:buAutoNum type="arabicPeriod"/>
            </a:pPr>
            <a:r>
              <a:rPr lang="en-GB" dirty="0"/>
              <a:t>Contemplate trees in nature</a:t>
            </a:r>
          </a:p>
          <a:p>
            <a:pPr lvl="1"/>
            <a:r>
              <a:rPr lang="en-GB" dirty="0"/>
              <a:t>What principles do they reflect, and how did they get that way?</a:t>
            </a:r>
          </a:p>
        </p:txBody>
      </p:sp>
    </p:spTree>
    <p:extLst>
      <p:ext uri="{BB962C8B-B14F-4D97-AF65-F5344CB8AC3E}">
        <p14:creationId xmlns:p14="http://schemas.microsoft.com/office/powerpoint/2010/main" val="4202278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Learn From Others </a:t>
            </a:r>
            <a:br>
              <a:rPr lang="en-US" dirty="0"/>
            </a:br>
            <a:r>
              <a:rPr lang="en-US" sz="2800" dirty="0"/>
              <a:t>Apart from yours truly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896035"/>
            <a:ext cx="10107207" cy="4612342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Buy a book</a:t>
            </a:r>
          </a:p>
          <a:p>
            <a:pPr lvl="1"/>
            <a:r>
              <a:rPr lang="en-US" dirty="0"/>
              <a:t>I like the DK Bonsai book: https://www.dk.com/uk/book/9781409344087-bonsai/</a:t>
            </a:r>
          </a:p>
          <a:p>
            <a:pPr>
              <a:buFont typeface="+mj-lt"/>
              <a:buAutoNum type="arabicPeriod"/>
            </a:pPr>
            <a:r>
              <a:rPr lang="en-US" dirty="0"/>
              <a:t>UK Bonsai Association: https://www.ukbonsaiassoc.org</a:t>
            </a:r>
          </a:p>
          <a:p>
            <a:pPr>
              <a:buFont typeface="+mj-lt"/>
              <a:buAutoNum type="arabicPeriod"/>
            </a:pPr>
            <a:r>
              <a:rPr lang="en-US" dirty="0"/>
              <a:t>Local clubs</a:t>
            </a:r>
          </a:p>
          <a:p>
            <a:pPr lvl="1"/>
            <a:r>
              <a:rPr lang="en-US" dirty="0"/>
              <a:t>Currently none in central London, but several out in the suburbs</a:t>
            </a:r>
          </a:p>
          <a:p>
            <a:pPr lvl="1"/>
            <a:r>
              <a:rPr lang="en-US" dirty="0"/>
              <a:t>The UKBA site has a very complete list (albeit not the easiest to search)</a:t>
            </a:r>
          </a:p>
          <a:p>
            <a:pPr>
              <a:buFont typeface="+mj-lt"/>
              <a:buAutoNum type="arabicPeriod"/>
            </a:pPr>
            <a:r>
              <a:rPr lang="en-US" dirty="0"/>
              <a:t>Bonsai shows and car boot sales</a:t>
            </a:r>
          </a:p>
          <a:p>
            <a:pPr lvl="1"/>
            <a:r>
              <a:rPr lang="en-US" dirty="0"/>
              <a:t>Again: the UKBA has a calendar</a:t>
            </a:r>
          </a:p>
          <a:p>
            <a:pPr lvl="1"/>
            <a:r>
              <a:rPr lang="en-US" dirty="0"/>
              <a:t>Again: none in central London, but some in Twickenham, Bracknell, Kent…</a:t>
            </a:r>
          </a:p>
          <a:p>
            <a:pPr>
              <a:buFont typeface="+mj-lt"/>
              <a:buAutoNum type="arabicPeriod"/>
            </a:pPr>
            <a:r>
              <a:rPr lang="en-US" dirty="0" err="1"/>
              <a:t>Youtube</a:t>
            </a:r>
            <a:endParaRPr lang="en-US" dirty="0"/>
          </a:p>
          <a:p>
            <a:pPr lvl="1"/>
            <a:r>
              <a:rPr lang="en-US" dirty="0"/>
              <a:t>Channels: </a:t>
            </a:r>
            <a:r>
              <a:rPr lang="en-US" dirty="0" err="1"/>
              <a:t>Mă-Kè</a:t>
            </a:r>
            <a:r>
              <a:rPr lang="en-US" dirty="0"/>
              <a:t> Bonsai, Herons Bonsai, </a:t>
            </a:r>
            <a:r>
              <a:rPr lang="en-US" dirty="0" err="1"/>
              <a:t>Bonsaify</a:t>
            </a:r>
            <a:r>
              <a:rPr lang="en-US" dirty="0"/>
              <a:t>, Notion Bonsai, Bonsai Empire, …</a:t>
            </a:r>
          </a:p>
          <a:p>
            <a:pPr>
              <a:buFont typeface="+mj-lt"/>
              <a:buAutoNum type="arabicPeriod"/>
            </a:pPr>
            <a:r>
              <a:rPr lang="en-US" dirty="0"/>
              <a:t>Drop me an email! alex@nemeta.co.uk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4349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Attending!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3185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573B0-7B73-B186-D32F-E842E8D32C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Appendices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01545-C12C-62BA-6D39-B5D9034B4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/>
              <a:t>Miscellaneous Technical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48767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10107206" cy="1151965"/>
          </a:xfrm>
        </p:spPr>
        <p:txBody>
          <a:bodyPr>
            <a:normAutofit/>
          </a:bodyPr>
          <a:lstStyle/>
          <a:p>
            <a:r>
              <a:rPr lang="en-US" dirty="0"/>
              <a:t>Woody Plants: A Family Tree</a:t>
            </a:r>
            <a:br>
              <a:rPr lang="en-US" dirty="0"/>
            </a:br>
            <a:r>
              <a:rPr lang="en-US" sz="2800" dirty="0"/>
              <a:t>Evolution From A Bonsai Pruner’s Perspective</a:t>
            </a:r>
            <a:endParaRPr lang="en-GB" sz="2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9CFC36-B3E1-FA68-A6A7-39DA7E0786A2}"/>
              </a:ext>
            </a:extLst>
          </p:cNvPr>
          <p:cNvSpPr txBox="1">
            <a:spLocks/>
          </p:cNvSpPr>
          <p:nvPr/>
        </p:nvSpPr>
        <p:spPr>
          <a:xfrm>
            <a:off x="4751791" y="1761564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Vascular </a:t>
            </a:r>
            <a:br>
              <a:rPr lang="en-US" dirty="0"/>
            </a:br>
            <a:r>
              <a:rPr lang="en-US" dirty="0"/>
              <a:t>plants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BE33B3-EDE4-11C0-6A9C-CFCB368C95BB}"/>
              </a:ext>
            </a:extLst>
          </p:cNvPr>
          <p:cNvSpPr txBox="1">
            <a:spLocks/>
          </p:cNvSpPr>
          <p:nvPr/>
        </p:nvSpPr>
        <p:spPr>
          <a:xfrm>
            <a:off x="2201332" y="2290481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Gymnosperms</a:t>
            </a:r>
            <a:br>
              <a:rPr lang="en-US" sz="1600" dirty="0"/>
            </a:br>
            <a:r>
              <a:rPr lang="en-US" sz="1600" dirty="0"/>
              <a:t>(“Naked Seed”)</a:t>
            </a:r>
            <a:endParaRPr lang="en-GB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EDCAB2-FB4E-4B5D-8C55-C3E5B495EDA9}"/>
              </a:ext>
            </a:extLst>
          </p:cNvPr>
          <p:cNvSpPr txBox="1">
            <a:spLocks/>
          </p:cNvSpPr>
          <p:nvPr/>
        </p:nvSpPr>
        <p:spPr>
          <a:xfrm>
            <a:off x="7425528" y="2290480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/>
              <a:t>Angiosperms</a:t>
            </a:r>
            <a:br>
              <a:rPr lang="en-US" sz="1600" dirty="0"/>
            </a:br>
            <a:r>
              <a:rPr lang="en-US" sz="1600" dirty="0"/>
              <a:t>(“Covered Seed”)</a:t>
            </a:r>
            <a:endParaRPr lang="en-GB" sz="16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9D86FF-8B39-5FB5-E7F4-7319279534A6}"/>
              </a:ext>
            </a:extLst>
          </p:cNvPr>
          <p:cNvSpPr txBox="1">
            <a:spLocks/>
          </p:cNvSpPr>
          <p:nvPr/>
        </p:nvSpPr>
        <p:spPr>
          <a:xfrm>
            <a:off x="289099" y="2655793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Gingko</a:t>
            </a:r>
            <a:endParaRPr lang="en-GB" sz="14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A94FF14-6263-6A1F-5B7C-A3CF0ED65A7D}"/>
              </a:ext>
            </a:extLst>
          </p:cNvPr>
          <p:cNvSpPr txBox="1">
            <a:spLocks/>
          </p:cNvSpPr>
          <p:nvPr/>
        </p:nvSpPr>
        <p:spPr>
          <a:xfrm>
            <a:off x="1018608" y="3316941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Pinaceae</a:t>
            </a:r>
            <a:br>
              <a:rPr lang="en-US" sz="1400" dirty="0"/>
            </a:br>
            <a:r>
              <a:rPr lang="en-US" sz="1400" dirty="0"/>
              <a:t>(“Pine-like conifers”)</a:t>
            </a:r>
            <a:endParaRPr lang="en-GB" sz="1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E1E2A7-A523-0F98-9873-E195B81A3493}"/>
              </a:ext>
            </a:extLst>
          </p:cNvPr>
          <p:cNvSpPr txBox="1">
            <a:spLocks/>
          </p:cNvSpPr>
          <p:nvPr/>
        </p:nvSpPr>
        <p:spPr>
          <a:xfrm>
            <a:off x="3278594" y="3316940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Cupressaceae</a:t>
            </a:r>
            <a:br>
              <a:rPr lang="en-US" sz="1400" dirty="0"/>
            </a:br>
            <a:r>
              <a:rPr lang="en-US" sz="1400" dirty="0"/>
              <a:t>(“Cypress-like conifers”)</a:t>
            </a:r>
            <a:endParaRPr lang="en-GB" sz="1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3567C57-15B7-C14A-A7B4-C36937498B3C}"/>
              </a:ext>
            </a:extLst>
          </p:cNvPr>
          <p:cNvSpPr txBox="1">
            <a:spLocks/>
          </p:cNvSpPr>
          <p:nvPr/>
        </p:nvSpPr>
        <p:spPr>
          <a:xfrm>
            <a:off x="398574" y="4421840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Pine</a:t>
            </a:r>
            <a:endParaRPr lang="en-GB" sz="140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9B1FE1F-8001-4017-CF88-8B85090F4DF4}"/>
              </a:ext>
            </a:extLst>
          </p:cNvPr>
          <p:cNvSpPr txBox="1">
            <a:spLocks/>
          </p:cNvSpPr>
          <p:nvPr/>
        </p:nvSpPr>
        <p:spPr>
          <a:xfrm>
            <a:off x="398574" y="4964207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Spruce</a:t>
            </a:r>
            <a:endParaRPr lang="en-GB" sz="140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9B15C15-F0C2-1670-96C3-1489B2CB8627}"/>
              </a:ext>
            </a:extLst>
          </p:cNvPr>
          <p:cNvSpPr txBox="1">
            <a:spLocks/>
          </p:cNvSpPr>
          <p:nvPr/>
        </p:nvSpPr>
        <p:spPr>
          <a:xfrm>
            <a:off x="398573" y="550657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“True” Cedar</a:t>
            </a:r>
            <a:endParaRPr lang="en-GB" sz="14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110546D-A3A2-8103-BB05-674571BF62EE}"/>
              </a:ext>
            </a:extLst>
          </p:cNvPr>
          <p:cNvSpPr txBox="1">
            <a:spLocks/>
          </p:cNvSpPr>
          <p:nvPr/>
        </p:nvSpPr>
        <p:spPr>
          <a:xfrm>
            <a:off x="413918" y="6048941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Larch</a:t>
            </a:r>
            <a:endParaRPr lang="en-GB" sz="14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E75923-DBA1-A84B-83C3-332670AD3489}"/>
              </a:ext>
            </a:extLst>
          </p:cNvPr>
          <p:cNvSpPr txBox="1">
            <a:spLocks/>
          </p:cNvSpPr>
          <p:nvPr/>
        </p:nvSpPr>
        <p:spPr>
          <a:xfrm>
            <a:off x="2597949" y="4421839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Yew</a:t>
            </a:r>
            <a:endParaRPr lang="en-GB" sz="14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90F190A-1C10-1694-E7CB-D3AAF75A2B0F}"/>
              </a:ext>
            </a:extLst>
          </p:cNvPr>
          <p:cNvSpPr txBox="1">
            <a:spLocks/>
          </p:cNvSpPr>
          <p:nvPr/>
        </p:nvSpPr>
        <p:spPr>
          <a:xfrm>
            <a:off x="2597948" y="496196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Redwood</a:t>
            </a:r>
            <a:endParaRPr lang="en-GB" sz="14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CBF95CEF-485A-F165-3C72-6622710A9CCC}"/>
              </a:ext>
            </a:extLst>
          </p:cNvPr>
          <p:cNvSpPr txBox="1">
            <a:spLocks/>
          </p:cNvSpPr>
          <p:nvPr/>
        </p:nvSpPr>
        <p:spPr>
          <a:xfrm>
            <a:off x="2596880" y="550208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Sugi</a:t>
            </a:r>
            <a:endParaRPr lang="en-GB" sz="14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FF5605E-4DE0-8379-68D4-28940F1158AB}"/>
              </a:ext>
            </a:extLst>
          </p:cNvPr>
          <p:cNvSpPr txBox="1">
            <a:spLocks/>
          </p:cNvSpPr>
          <p:nvPr/>
        </p:nvSpPr>
        <p:spPr>
          <a:xfrm>
            <a:off x="4698704" y="4959721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Juniper</a:t>
            </a:r>
            <a:endParaRPr lang="en-GB" sz="14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53CBD0A-9AFB-1CE7-A427-5116CA93F7B3}"/>
              </a:ext>
            </a:extLst>
          </p:cNvPr>
          <p:cNvSpPr txBox="1">
            <a:spLocks/>
          </p:cNvSpPr>
          <p:nvPr/>
        </p:nvSpPr>
        <p:spPr>
          <a:xfrm>
            <a:off x="4698704" y="4421840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“True” Cypress</a:t>
            </a:r>
            <a:endParaRPr lang="en-GB" sz="14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937CCB3-0BA5-683C-E59F-855B6E266062}"/>
              </a:ext>
            </a:extLst>
          </p:cNvPr>
          <p:cNvCxnSpPr>
            <a:stCxn id="6" idx="2"/>
            <a:endCxn id="9" idx="3"/>
          </p:cNvCxnSpPr>
          <p:nvPr/>
        </p:nvCxnSpPr>
        <p:spPr>
          <a:xfrm rot="5400000">
            <a:off x="4960399" y="1778806"/>
            <a:ext cx="194982" cy="149624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8ADDD6E-CA31-A91B-867F-E0049BDE6D23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 rot="16200000" flipH="1">
            <a:off x="6518279" y="1717166"/>
            <a:ext cx="194981" cy="161951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BB834478-9F29-B67B-5A14-FAD11A11B939}"/>
              </a:ext>
            </a:extLst>
          </p:cNvPr>
          <p:cNvCxnSpPr>
            <a:cxnSpLocks/>
            <a:stCxn id="12" idx="2"/>
            <a:endCxn id="15" idx="3"/>
          </p:cNvCxnSpPr>
          <p:nvPr/>
        </p:nvCxnSpPr>
        <p:spPr>
          <a:xfrm rot="5400000">
            <a:off x="1643602" y="4198803"/>
            <a:ext cx="643216" cy="21523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817AD68-1062-4769-A620-77625F83E4B2}"/>
              </a:ext>
            </a:extLst>
          </p:cNvPr>
          <p:cNvCxnSpPr>
            <a:cxnSpLocks/>
            <a:stCxn id="12" idx="2"/>
            <a:endCxn id="16" idx="3"/>
          </p:cNvCxnSpPr>
          <p:nvPr/>
        </p:nvCxnSpPr>
        <p:spPr>
          <a:xfrm rot="5400000">
            <a:off x="1372419" y="4469986"/>
            <a:ext cx="1185583" cy="21523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031E82B-9FB7-69DA-870E-469141B20FB5}"/>
              </a:ext>
            </a:extLst>
          </p:cNvPr>
          <p:cNvCxnSpPr>
            <a:cxnSpLocks/>
            <a:stCxn id="12" idx="2"/>
            <a:endCxn id="17" idx="3"/>
          </p:cNvCxnSpPr>
          <p:nvPr/>
        </p:nvCxnSpPr>
        <p:spPr>
          <a:xfrm rot="5400000">
            <a:off x="1101235" y="4741170"/>
            <a:ext cx="1727950" cy="21523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CF5CF8F-53FB-3C8E-7518-4E4DB943D906}"/>
              </a:ext>
            </a:extLst>
          </p:cNvPr>
          <p:cNvCxnSpPr>
            <a:cxnSpLocks/>
            <a:stCxn id="12" idx="2"/>
            <a:endCxn id="18" idx="3"/>
          </p:cNvCxnSpPr>
          <p:nvPr/>
        </p:nvCxnSpPr>
        <p:spPr>
          <a:xfrm rot="5400000">
            <a:off x="837724" y="5020025"/>
            <a:ext cx="2270317" cy="19989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E4A64A32-3332-8A38-BDE8-0C9ED575C55D}"/>
              </a:ext>
            </a:extLst>
          </p:cNvPr>
          <p:cNvCxnSpPr>
            <a:cxnSpLocks/>
            <a:stCxn id="13" idx="2"/>
            <a:endCxn id="19" idx="0"/>
          </p:cNvCxnSpPr>
          <p:nvPr/>
        </p:nvCxnSpPr>
        <p:spPr>
          <a:xfrm rot="5400000">
            <a:off x="3611622" y="3700648"/>
            <a:ext cx="437028" cy="100535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66591E45-518C-E4C4-FFB0-82C104F2FE4D}"/>
              </a:ext>
            </a:extLst>
          </p:cNvPr>
          <p:cNvCxnSpPr>
            <a:cxnSpLocks/>
            <a:stCxn id="13" idx="2"/>
            <a:endCxn id="20" idx="3"/>
          </p:cNvCxnSpPr>
          <p:nvPr/>
        </p:nvCxnSpPr>
        <p:spPr>
          <a:xfrm rot="5400000">
            <a:off x="3603220" y="4438558"/>
            <a:ext cx="1183341" cy="275846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340F6F18-F303-BE50-AAD3-E2EE08F402EF}"/>
              </a:ext>
            </a:extLst>
          </p:cNvPr>
          <p:cNvCxnSpPr>
            <a:cxnSpLocks/>
            <a:stCxn id="13" idx="2"/>
            <a:endCxn id="21" idx="3"/>
          </p:cNvCxnSpPr>
          <p:nvPr/>
        </p:nvCxnSpPr>
        <p:spPr>
          <a:xfrm rot="5400000">
            <a:off x="3332624" y="4708086"/>
            <a:ext cx="1723465" cy="27691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CCE68D1-3EF1-41DC-6713-578F7D7568F7}"/>
              </a:ext>
            </a:extLst>
          </p:cNvPr>
          <p:cNvCxnSpPr>
            <a:cxnSpLocks/>
            <a:stCxn id="13" idx="2"/>
            <a:endCxn id="22" idx="1"/>
          </p:cNvCxnSpPr>
          <p:nvPr/>
        </p:nvCxnSpPr>
        <p:spPr>
          <a:xfrm rot="16200000" flipH="1">
            <a:off x="3925209" y="4392414"/>
            <a:ext cx="1181098" cy="36589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71B95999-49C1-758E-26B8-A30DEBD83176}"/>
              </a:ext>
            </a:extLst>
          </p:cNvPr>
          <p:cNvCxnSpPr>
            <a:cxnSpLocks/>
            <a:stCxn id="9" idx="1"/>
            <a:endCxn id="11" idx="3"/>
          </p:cNvCxnSpPr>
          <p:nvPr/>
        </p:nvCxnSpPr>
        <p:spPr>
          <a:xfrm rot="10800000" flipV="1">
            <a:off x="1748118" y="2624417"/>
            <a:ext cx="453214" cy="23756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6719EAA-0F05-3F97-0DCD-4F7C69B2C885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2484895" y="2546284"/>
            <a:ext cx="358589" cy="118272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CD8613F1-3DB9-7C87-342C-35118F92854F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3614888" y="2599015"/>
            <a:ext cx="358588" cy="107726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ontent Placeholder 2">
            <a:extLst>
              <a:ext uri="{FF2B5EF4-FFF2-40B4-BE49-F238E27FC236}">
                <a16:creationId xmlns:a16="http://schemas.microsoft.com/office/drawing/2014/main" id="{96ECF587-E6B9-3CA6-780C-C49484881D1A}"/>
              </a:ext>
            </a:extLst>
          </p:cNvPr>
          <p:cNvSpPr txBox="1">
            <a:spLocks/>
          </p:cNvSpPr>
          <p:nvPr/>
        </p:nvSpPr>
        <p:spPr>
          <a:xfrm>
            <a:off x="4695154" y="5499845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“False” Cedar</a:t>
            </a:r>
            <a:endParaRPr lang="en-GB" sz="1400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BA2EB879-2706-46D1-783A-7D6C34F3B036}"/>
              </a:ext>
            </a:extLst>
          </p:cNvPr>
          <p:cNvCxnSpPr>
            <a:cxnSpLocks/>
            <a:stCxn id="23" idx="1"/>
            <a:endCxn id="67" idx="1"/>
          </p:cNvCxnSpPr>
          <p:nvPr/>
        </p:nvCxnSpPr>
        <p:spPr>
          <a:xfrm rot="10800000" flipV="1">
            <a:off x="4695154" y="4628027"/>
            <a:ext cx="3550" cy="1078005"/>
          </a:xfrm>
          <a:prstGeom prst="bentConnector3">
            <a:avLst>
              <a:gd name="adj1" fmla="val 5024282"/>
            </a:avLst>
          </a:prstGeom>
          <a:ln w="38100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ontent Placeholder 2">
            <a:extLst>
              <a:ext uri="{FF2B5EF4-FFF2-40B4-BE49-F238E27FC236}">
                <a16:creationId xmlns:a16="http://schemas.microsoft.com/office/drawing/2014/main" id="{0DDEE4E0-3C2C-A6A5-661E-B991470BD3CF}"/>
              </a:ext>
            </a:extLst>
          </p:cNvPr>
          <p:cNvSpPr txBox="1">
            <a:spLocks/>
          </p:cNvSpPr>
          <p:nvPr/>
        </p:nvSpPr>
        <p:spPr>
          <a:xfrm>
            <a:off x="6700288" y="3312758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Asterids</a:t>
            </a:r>
            <a:endParaRPr lang="en-GB" sz="1400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9DC1840-B99A-508B-4856-050EF258AE8F}"/>
              </a:ext>
            </a:extLst>
          </p:cNvPr>
          <p:cNvSpPr txBox="1">
            <a:spLocks/>
          </p:cNvSpPr>
          <p:nvPr/>
        </p:nvSpPr>
        <p:spPr>
          <a:xfrm>
            <a:off x="9170232" y="3312757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/>
              <a:t>Rosids</a:t>
            </a:r>
            <a:endParaRPr lang="en-GB" sz="1400" dirty="0"/>
          </a:p>
        </p:txBody>
      </p:sp>
      <p:sp>
        <p:nvSpPr>
          <p:cNvPr id="73" name="Content Placeholder 2">
            <a:extLst>
              <a:ext uri="{FF2B5EF4-FFF2-40B4-BE49-F238E27FC236}">
                <a16:creationId xmlns:a16="http://schemas.microsoft.com/office/drawing/2014/main" id="{DB52DA43-42B5-0DEA-9A88-D87324F06DB2}"/>
              </a:ext>
            </a:extLst>
          </p:cNvPr>
          <p:cNvSpPr txBox="1">
            <a:spLocks/>
          </p:cNvSpPr>
          <p:nvPr/>
        </p:nvSpPr>
        <p:spPr>
          <a:xfrm>
            <a:off x="9949120" y="2233333"/>
            <a:ext cx="2108437" cy="667871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Magnoliids</a:t>
            </a:r>
            <a:endParaRPr lang="en-GB" sz="1400" dirty="0"/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6C9CCD02-DD98-6FC1-B6FB-E2FFD9F65CE2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 rot="5400000">
            <a:off x="7939924" y="2772934"/>
            <a:ext cx="354407" cy="72524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8F81D29A-72A2-0163-7E3A-3082FCD76234}"/>
              </a:ext>
            </a:extLst>
          </p:cNvPr>
          <p:cNvCxnSpPr>
            <a:cxnSpLocks/>
            <a:stCxn id="10" idx="3"/>
            <a:endCxn id="73" idx="1"/>
          </p:cNvCxnSpPr>
          <p:nvPr/>
        </p:nvCxnSpPr>
        <p:spPr>
          <a:xfrm flipV="1">
            <a:off x="9533965" y="2567269"/>
            <a:ext cx="415155" cy="5714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C95A3B90-D277-3059-62CA-583B9A43E51F}"/>
              </a:ext>
            </a:extLst>
          </p:cNvPr>
          <p:cNvCxnSpPr>
            <a:cxnSpLocks/>
            <a:stCxn id="10" idx="2"/>
            <a:endCxn id="72" idx="0"/>
          </p:cNvCxnSpPr>
          <p:nvPr/>
        </p:nvCxnSpPr>
        <p:spPr>
          <a:xfrm rot="16200000" flipH="1">
            <a:off x="9174896" y="2263202"/>
            <a:ext cx="354406" cy="174470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ontent Placeholder 2">
            <a:extLst>
              <a:ext uri="{FF2B5EF4-FFF2-40B4-BE49-F238E27FC236}">
                <a16:creationId xmlns:a16="http://schemas.microsoft.com/office/drawing/2014/main" id="{C78D1030-0F90-A018-57E7-F6D0FB225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8051" y="114561"/>
            <a:ext cx="2404850" cy="184897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Prune as:</a:t>
            </a:r>
          </a:p>
          <a:p>
            <a:pPr marL="457200" lvl="1" indent="0">
              <a:buNone/>
            </a:pPr>
            <a:r>
              <a:rPr lang="en-US" sz="1400" dirty="0"/>
              <a:t>Broadleaf</a:t>
            </a:r>
          </a:p>
          <a:p>
            <a:pPr marL="457200" lvl="1" indent="0">
              <a:buNone/>
            </a:pPr>
            <a:r>
              <a:rPr lang="en-US" sz="1400" dirty="0" err="1"/>
              <a:t>Needley</a:t>
            </a:r>
            <a:r>
              <a:rPr lang="en-US" sz="1400" dirty="0"/>
              <a:t> conifer</a:t>
            </a:r>
          </a:p>
          <a:p>
            <a:pPr marL="457200" lvl="1" indent="0">
              <a:buNone/>
            </a:pPr>
            <a:r>
              <a:rPr lang="en-US" sz="1400" dirty="0"/>
              <a:t>Spiky / scaly conifer</a:t>
            </a:r>
          </a:p>
          <a:p>
            <a:pPr marL="457200" lvl="1" indent="0">
              <a:buNone/>
            </a:pPr>
            <a:r>
              <a:rPr lang="en-US" sz="1400" dirty="0"/>
              <a:t>Special case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B920890-DF44-8284-1735-0ADC183281E5}"/>
              </a:ext>
            </a:extLst>
          </p:cNvPr>
          <p:cNvSpPr/>
          <p:nvPr/>
        </p:nvSpPr>
        <p:spPr>
          <a:xfrm>
            <a:off x="9667002" y="488901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48FC26D-195E-FFD7-1CF7-49617DFEDFB5}"/>
              </a:ext>
            </a:extLst>
          </p:cNvPr>
          <p:cNvSpPr/>
          <p:nvPr/>
        </p:nvSpPr>
        <p:spPr>
          <a:xfrm>
            <a:off x="9667002" y="81829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544266B-F319-6379-E355-5AB62FC6E111}"/>
              </a:ext>
            </a:extLst>
          </p:cNvPr>
          <p:cNvSpPr/>
          <p:nvPr/>
        </p:nvSpPr>
        <p:spPr>
          <a:xfrm>
            <a:off x="9667002" y="116904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80162DFE-5965-5454-C23C-F5AECA769F19}"/>
              </a:ext>
            </a:extLst>
          </p:cNvPr>
          <p:cNvSpPr/>
          <p:nvPr/>
        </p:nvSpPr>
        <p:spPr>
          <a:xfrm>
            <a:off x="206132" y="2525801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!</a:t>
            </a:r>
            <a:endParaRPr lang="en-GB" sz="1400" dirty="0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1C134F6-A111-A771-68E4-B84036461F98}"/>
              </a:ext>
            </a:extLst>
          </p:cNvPr>
          <p:cNvSpPr/>
          <p:nvPr/>
        </p:nvSpPr>
        <p:spPr>
          <a:xfrm>
            <a:off x="11137213" y="318336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DB5A115F-47AE-85F1-7F1E-12930F457BA8}"/>
              </a:ext>
            </a:extLst>
          </p:cNvPr>
          <p:cNvSpPr/>
          <p:nvPr/>
        </p:nvSpPr>
        <p:spPr>
          <a:xfrm>
            <a:off x="9856657" y="2106915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5199D31C-AFD9-D3F1-E2DE-71DE739CFB25}"/>
              </a:ext>
            </a:extLst>
          </p:cNvPr>
          <p:cNvSpPr/>
          <p:nvPr/>
        </p:nvSpPr>
        <p:spPr>
          <a:xfrm>
            <a:off x="8631297" y="3201296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38D153F3-FF10-6BC0-0F91-7C42FF778717}"/>
              </a:ext>
            </a:extLst>
          </p:cNvPr>
          <p:cNvSpPr/>
          <p:nvPr/>
        </p:nvSpPr>
        <p:spPr>
          <a:xfrm>
            <a:off x="263040" y="429462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D6BA309-EDE3-1BAA-551F-84763D0240D7}"/>
              </a:ext>
            </a:extLst>
          </p:cNvPr>
          <p:cNvSpPr/>
          <p:nvPr/>
        </p:nvSpPr>
        <p:spPr>
          <a:xfrm>
            <a:off x="249841" y="487403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E25757A-9B98-1D6A-D33C-2F85460ED8A9}"/>
              </a:ext>
            </a:extLst>
          </p:cNvPr>
          <p:cNvSpPr/>
          <p:nvPr/>
        </p:nvSpPr>
        <p:spPr>
          <a:xfrm>
            <a:off x="278918" y="5409672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476C9E2-319F-E22F-802D-B46D4B2F078D}"/>
              </a:ext>
            </a:extLst>
          </p:cNvPr>
          <p:cNvSpPr/>
          <p:nvPr/>
        </p:nvSpPr>
        <p:spPr>
          <a:xfrm>
            <a:off x="289099" y="595150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</a:t>
            </a:r>
            <a:endParaRPr lang="en-GB" sz="1400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DC598AB-94F2-ACF8-9ED6-4EC360DDF1E2}"/>
              </a:ext>
            </a:extLst>
          </p:cNvPr>
          <p:cNvSpPr/>
          <p:nvPr/>
        </p:nvSpPr>
        <p:spPr>
          <a:xfrm>
            <a:off x="2426562" y="4294624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28EFB2A-E36E-568B-CB49-7A0DCFD95EA2}"/>
              </a:ext>
            </a:extLst>
          </p:cNvPr>
          <p:cNvSpPr/>
          <p:nvPr/>
        </p:nvSpPr>
        <p:spPr>
          <a:xfrm>
            <a:off x="6049685" y="430267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CD092CDD-483E-F126-3EEF-82024A5B1E9D}"/>
              </a:ext>
            </a:extLst>
          </p:cNvPr>
          <p:cNvSpPr/>
          <p:nvPr/>
        </p:nvSpPr>
        <p:spPr>
          <a:xfrm>
            <a:off x="6011555" y="4910649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C73CBA-D8A1-EB4F-5ECA-93CBEF1AE0F6}"/>
              </a:ext>
            </a:extLst>
          </p:cNvPr>
          <p:cNvSpPr/>
          <p:nvPr/>
        </p:nvSpPr>
        <p:spPr>
          <a:xfrm>
            <a:off x="5996851" y="5414920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830A8DFB-BA59-87EF-DD39-F51FFD50B1AC}"/>
              </a:ext>
            </a:extLst>
          </p:cNvPr>
          <p:cNvSpPr/>
          <p:nvPr/>
        </p:nvSpPr>
        <p:spPr>
          <a:xfrm>
            <a:off x="2426562" y="4874585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</a:t>
            </a:r>
            <a:endParaRPr lang="en-GB" sz="1400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42FA829A-19FE-F6CE-F72D-E38A8F882134}"/>
              </a:ext>
            </a:extLst>
          </p:cNvPr>
          <p:cNvSpPr/>
          <p:nvPr/>
        </p:nvSpPr>
        <p:spPr>
          <a:xfrm>
            <a:off x="2413584" y="541716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</a:t>
            </a:r>
            <a:endParaRPr lang="en-GB" sz="1400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DF1D7217-6D7C-5ECA-AA92-4E546086CBB3}"/>
              </a:ext>
            </a:extLst>
          </p:cNvPr>
          <p:cNvSpPr/>
          <p:nvPr/>
        </p:nvSpPr>
        <p:spPr>
          <a:xfrm>
            <a:off x="9669542" y="1523163"/>
            <a:ext cx="270000" cy="270000"/>
          </a:xfrm>
          <a:prstGeom prst="ellipse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!</a:t>
            </a:r>
            <a:endParaRPr lang="en-GB" sz="1400" dirty="0"/>
          </a:p>
        </p:txBody>
      </p:sp>
      <p:sp>
        <p:nvSpPr>
          <p:cNvPr id="119" name="Content Placeholder 2">
            <a:extLst>
              <a:ext uri="{FF2B5EF4-FFF2-40B4-BE49-F238E27FC236}">
                <a16:creationId xmlns:a16="http://schemas.microsoft.com/office/drawing/2014/main" id="{6A0B49CB-379A-12BD-6B96-377039B7E00B}"/>
              </a:ext>
            </a:extLst>
          </p:cNvPr>
          <p:cNvSpPr txBox="1">
            <a:spLocks/>
          </p:cNvSpPr>
          <p:nvPr/>
        </p:nvSpPr>
        <p:spPr>
          <a:xfrm>
            <a:off x="6595573" y="442295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Ash</a:t>
            </a:r>
            <a:endParaRPr lang="en-GB" sz="1400" dirty="0"/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AF78E1B9-2672-184F-8164-5A0F9EAC8239}"/>
              </a:ext>
            </a:extLst>
          </p:cNvPr>
          <p:cNvSpPr txBox="1">
            <a:spLocks/>
          </p:cNvSpPr>
          <p:nvPr/>
        </p:nvSpPr>
        <p:spPr>
          <a:xfrm>
            <a:off x="6589309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Elder</a:t>
            </a:r>
            <a:endParaRPr lang="en-GB" sz="1400" dirty="0"/>
          </a:p>
        </p:txBody>
      </p:sp>
      <p:sp>
        <p:nvSpPr>
          <p:cNvPr id="121" name="Content Placeholder 2">
            <a:extLst>
              <a:ext uri="{FF2B5EF4-FFF2-40B4-BE49-F238E27FC236}">
                <a16:creationId xmlns:a16="http://schemas.microsoft.com/office/drawing/2014/main" id="{94E394B5-AB30-6E20-166F-85C6B0F54359}"/>
              </a:ext>
            </a:extLst>
          </p:cNvPr>
          <p:cNvSpPr txBox="1">
            <a:spLocks/>
          </p:cNvSpPr>
          <p:nvPr/>
        </p:nvSpPr>
        <p:spPr>
          <a:xfrm>
            <a:off x="10571715" y="442183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Oak</a:t>
            </a:r>
            <a:endParaRPr lang="en-GB" sz="1400" dirty="0"/>
          </a:p>
        </p:txBody>
      </p:sp>
      <p:sp>
        <p:nvSpPr>
          <p:cNvPr id="133" name="Content Placeholder 2">
            <a:extLst>
              <a:ext uri="{FF2B5EF4-FFF2-40B4-BE49-F238E27FC236}">
                <a16:creationId xmlns:a16="http://schemas.microsoft.com/office/drawing/2014/main" id="{384469BA-51F4-5E1B-BD53-03C70682860B}"/>
              </a:ext>
            </a:extLst>
          </p:cNvPr>
          <p:cNvSpPr txBox="1">
            <a:spLocks/>
          </p:cNvSpPr>
          <p:nvPr/>
        </p:nvSpPr>
        <p:spPr>
          <a:xfrm>
            <a:off x="10571715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Maple</a:t>
            </a:r>
            <a:endParaRPr lang="en-GB" sz="1400" dirty="0"/>
          </a:p>
        </p:txBody>
      </p:sp>
      <p:sp>
        <p:nvSpPr>
          <p:cNvPr id="134" name="Content Placeholder 2">
            <a:extLst>
              <a:ext uri="{FF2B5EF4-FFF2-40B4-BE49-F238E27FC236}">
                <a16:creationId xmlns:a16="http://schemas.microsoft.com/office/drawing/2014/main" id="{ACF38C7D-DB28-7885-C758-38E27A2C3D13}"/>
              </a:ext>
            </a:extLst>
          </p:cNvPr>
          <p:cNvSpPr txBox="1">
            <a:spLocks/>
          </p:cNvSpPr>
          <p:nvPr/>
        </p:nvSpPr>
        <p:spPr>
          <a:xfrm>
            <a:off x="10571715" y="5506574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Lime</a:t>
            </a:r>
            <a:endParaRPr lang="en-GB" sz="1400" dirty="0"/>
          </a:p>
        </p:txBody>
      </p:sp>
      <p:sp>
        <p:nvSpPr>
          <p:cNvPr id="135" name="Content Placeholder 2">
            <a:extLst>
              <a:ext uri="{FF2B5EF4-FFF2-40B4-BE49-F238E27FC236}">
                <a16:creationId xmlns:a16="http://schemas.microsoft.com/office/drawing/2014/main" id="{7551F0EE-826B-4523-A160-C74E81163FD1}"/>
              </a:ext>
            </a:extLst>
          </p:cNvPr>
          <p:cNvSpPr txBox="1">
            <a:spLocks/>
          </p:cNvSpPr>
          <p:nvPr/>
        </p:nvSpPr>
        <p:spPr>
          <a:xfrm>
            <a:off x="10571715" y="6038686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Beech</a:t>
            </a:r>
            <a:endParaRPr lang="en-GB" sz="1400" dirty="0"/>
          </a:p>
        </p:txBody>
      </p:sp>
      <p:sp>
        <p:nvSpPr>
          <p:cNvPr id="136" name="Content Placeholder 2">
            <a:extLst>
              <a:ext uri="{FF2B5EF4-FFF2-40B4-BE49-F238E27FC236}">
                <a16:creationId xmlns:a16="http://schemas.microsoft.com/office/drawing/2014/main" id="{43EDBDEE-2E5E-1976-E182-FD2B8FB575B5}"/>
              </a:ext>
            </a:extLst>
          </p:cNvPr>
          <p:cNvSpPr txBox="1">
            <a:spLocks/>
          </p:cNvSpPr>
          <p:nvPr/>
        </p:nvSpPr>
        <p:spPr>
          <a:xfrm>
            <a:off x="8477983" y="442183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(Crab) Apple</a:t>
            </a:r>
            <a:endParaRPr lang="en-GB" sz="1400" dirty="0"/>
          </a:p>
        </p:txBody>
      </p:sp>
      <p:sp>
        <p:nvSpPr>
          <p:cNvPr id="137" name="Content Placeholder 2">
            <a:extLst>
              <a:ext uri="{FF2B5EF4-FFF2-40B4-BE49-F238E27FC236}">
                <a16:creationId xmlns:a16="http://schemas.microsoft.com/office/drawing/2014/main" id="{41013A49-4B48-44FB-D1C4-0C940AF23743}"/>
              </a:ext>
            </a:extLst>
          </p:cNvPr>
          <p:cNvSpPr txBox="1">
            <a:spLocks/>
          </p:cNvSpPr>
          <p:nvPr/>
        </p:nvSpPr>
        <p:spPr>
          <a:xfrm>
            <a:off x="8474314" y="4974462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Elm</a:t>
            </a:r>
            <a:endParaRPr lang="en-GB" sz="1400" dirty="0"/>
          </a:p>
        </p:txBody>
      </p:sp>
      <p:sp>
        <p:nvSpPr>
          <p:cNvPr id="138" name="Content Placeholder 2">
            <a:extLst>
              <a:ext uri="{FF2B5EF4-FFF2-40B4-BE49-F238E27FC236}">
                <a16:creationId xmlns:a16="http://schemas.microsoft.com/office/drawing/2014/main" id="{A338DEB1-8EA1-3FA0-86E3-7CD6C08E7FC5}"/>
              </a:ext>
            </a:extLst>
          </p:cNvPr>
          <p:cNvSpPr txBox="1">
            <a:spLocks/>
          </p:cNvSpPr>
          <p:nvPr/>
        </p:nvSpPr>
        <p:spPr>
          <a:xfrm>
            <a:off x="6589309" y="5506573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Rhododendron</a:t>
            </a:r>
            <a:endParaRPr lang="en-GB" sz="1400" dirty="0"/>
          </a:p>
        </p:txBody>
      </p:sp>
      <p:sp>
        <p:nvSpPr>
          <p:cNvPr id="139" name="Content Placeholder 2">
            <a:extLst>
              <a:ext uri="{FF2B5EF4-FFF2-40B4-BE49-F238E27FC236}">
                <a16:creationId xmlns:a16="http://schemas.microsoft.com/office/drawing/2014/main" id="{859D490C-A125-8273-608D-EC6BD9FFFC44}"/>
              </a:ext>
            </a:extLst>
          </p:cNvPr>
          <p:cNvSpPr txBox="1">
            <a:spLocks/>
          </p:cNvSpPr>
          <p:nvPr/>
        </p:nvSpPr>
        <p:spPr>
          <a:xfrm>
            <a:off x="6599103" y="6183878"/>
            <a:ext cx="1459019" cy="412375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Azalea</a:t>
            </a:r>
            <a:endParaRPr lang="en-GB" sz="1400" dirty="0"/>
          </a:p>
        </p:txBody>
      </p: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A1C383C3-11B8-83C5-BD3D-5A3AEDADF9AA}"/>
              </a:ext>
            </a:extLst>
          </p:cNvPr>
          <p:cNvCxnSpPr>
            <a:cxnSpLocks/>
            <a:stCxn id="71" idx="1"/>
            <a:endCxn id="119" idx="1"/>
          </p:cNvCxnSpPr>
          <p:nvPr/>
        </p:nvCxnSpPr>
        <p:spPr>
          <a:xfrm rot="10800000" flipV="1">
            <a:off x="6595574" y="3646694"/>
            <a:ext cx="104715" cy="982452"/>
          </a:xfrm>
          <a:prstGeom prst="bentConnector3">
            <a:avLst>
              <a:gd name="adj1" fmla="val 318307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DB9F6D99-32CC-378F-901D-F18B198ADA7A}"/>
              </a:ext>
            </a:extLst>
          </p:cNvPr>
          <p:cNvCxnSpPr>
            <a:cxnSpLocks/>
            <a:stCxn id="71" idx="1"/>
            <a:endCxn id="138" idx="1"/>
          </p:cNvCxnSpPr>
          <p:nvPr/>
        </p:nvCxnSpPr>
        <p:spPr>
          <a:xfrm rot="10800000" flipV="1">
            <a:off x="6589310" y="3646693"/>
            <a:ext cx="110979" cy="2066067"/>
          </a:xfrm>
          <a:prstGeom prst="bentConnector3">
            <a:avLst>
              <a:gd name="adj1" fmla="val 3059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08598CEA-087A-7D91-9CB3-91C61FA317CD}"/>
              </a:ext>
            </a:extLst>
          </p:cNvPr>
          <p:cNvCxnSpPr>
            <a:cxnSpLocks/>
            <a:stCxn id="71" idx="1"/>
            <a:endCxn id="120" idx="1"/>
          </p:cNvCxnSpPr>
          <p:nvPr/>
        </p:nvCxnSpPr>
        <p:spPr>
          <a:xfrm rot="10800000" flipV="1">
            <a:off x="6589310" y="3646694"/>
            <a:ext cx="110979" cy="1533956"/>
          </a:xfrm>
          <a:prstGeom prst="bentConnector3">
            <a:avLst>
              <a:gd name="adj1" fmla="val 30598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8D3749FB-26D5-08CB-FE43-63FA2BD59924}"/>
              </a:ext>
            </a:extLst>
          </p:cNvPr>
          <p:cNvCxnSpPr>
            <a:cxnSpLocks/>
            <a:stCxn id="138" idx="2"/>
            <a:endCxn id="139" idx="0"/>
          </p:cNvCxnSpPr>
          <p:nvPr/>
        </p:nvCxnSpPr>
        <p:spPr>
          <a:xfrm rot="16200000" flipH="1">
            <a:off x="7191251" y="6046516"/>
            <a:ext cx="264930" cy="979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41489CB7-C7DC-9FA4-7F59-F8CC5761246B}"/>
              </a:ext>
            </a:extLst>
          </p:cNvPr>
          <p:cNvCxnSpPr>
            <a:cxnSpLocks/>
            <a:stCxn id="72" idx="2"/>
            <a:endCxn id="121" idx="1"/>
          </p:cNvCxnSpPr>
          <p:nvPr/>
        </p:nvCxnSpPr>
        <p:spPr>
          <a:xfrm rot="16200000" flipH="1">
            <a:off x="10074384" y="4130695"/>
            <a:ext cx="647398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ADA4AFFB-66D9-9F81-D0B1-B436FC8C407D}"/>
              </a:ext>
            </a:extLst>
          </p:cNvPr>
          <p:cNvCxnSpPr>
            <a:cxnSpLocks/>
            <a:stCxn id="72" idx="2"/>
            <a:endCxn id="133" idx="1"/>
          </p:cNvCxnSpPr>
          <p:nvPr/>
        </p:nvCxnSpPr>
        <p:spPr>
          <a:xfrm rot="16200000" flipH="1">
            <a:off x="9798072" y="4407007"/>
            <a:ext cx="1200022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CC262CF1-9F99-A9B2-CF18-213C10923F91}"/>
              </a:ext>
            </a:extLst>
          </p:cNvPr>
          <p:cNvCxnSpPr>
            <a:cxnSpLocks/>
            <a:stCxn id="72" idx="2"/>
            <a:endCxn id="134" idx="1"/>
          </p:cNvCxnSpPr>
          <p:nvPr/>
        </p:nvCxnSpPr>
        <p:spPr>
          <a:xfrm rot="16200000" flipH="1">
            <a:off x="9532016" y="4673063"/>
            <a:ext cx="1732134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AB0AE898-79B8-AF34-F775-F5B7626F1C6D}"/>
              </a:ext>
            </a:extLst>
          </p:cNvPr>
          <p:cNvCxnSpPr>
            <a:cxnSpLocks/>
            <a:endCxn id="135" idx="1"/>
          </p:cNvCxnSpPr>
          <p:nvPr/>
        </p:nvCxnSpPr>
        <p:spPr>
          <a:xfrm rot="16200000" flipH="1">
            <a:off x="9276121" y="4949280"/>
            <a:ext cx="2243924" cy="34726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63D2233A-F09A-9401-4DF3-851B6CD4C4C8}"/>
              </a:ext>
            </a:extLst>
          </p:cNvPr>
          <p:cNvCxnSpPr>
            <a:cxnSpLocks/>
            <a:stCxn id="72" idx="2"/>
            <a:endCxn id="136" idx="3"/>
          </p:cNvCxnSpPr>
          <p:nvPr/>
        </p:nvCxnSpPr>
        <p:spPr>
          <a:xfrm rot="5400000">
            <a:off x="9757028" y="4160603"/>
            <a:ext cx="647398" cy="28744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BAE418C1-2E0E-B084-512F-A2E87091A233}"/>
              </a:ext>
            </a:extLst>
          </p:cNvPr>
          <p:cNvCxnSpPr>
            <a:cxnSpLocks/>
            <a:stCxn id="72" idx="2"/>
            <a:endCxn id="137" idx="3"/>
          </p:cNvCxnSpPr>
          <p:nvPr/>
        </p:nvCxnSpPr>
        <p:spPr>
          <a:xfrm rot="5400000">
            <a:off x="9478881" y="4435080"/>
            <a:ext cx="1200022" cy="29111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Content Placeholder 2">
            <a:extLst>
              <a:ext uri="{FF2B5EF4-FFF2-40B4-BE49-F238E27FC236}">
                <a16:creationId xmlns:a16="http://schemas.microsoft.com/office/drawing/2014/main" id="{236F9850-A888-332F-3FC5-710BA24B16BE}"/>
              </a:ext>
            </a:extLst>
          </p:cNvPr>
          <p:cNvSpPr txBox="1">
            <a:spLocks/>
          </p:cNvSpPr>
          <p:nvPr/>
        </p:nvSpPr>
        <p:spPr>
          <a:xfrm>
            <a:off x="8477982" y="5506572"/>
            <a:ext cx="1459019" cy="1089681"/>
          </a:xfrm>
          <a:prstGeom prst="round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Prunus:</a:t>
            </a:r>
            <a:br>
              <a:rPr lang="en-US" sz="1400" dirty="0"/>
            </a:br>
            <a:r>
              <a:rPr lang="en-US" sz="1400" dirty="0"/>
              <a:t>Cherry, Plum, Apricot, </a:t>
            </a:r>
            <a:r>
              <a:rPr lang="en-US" sz="1400" dirty="0" err="1"/>
              <a:t>etc</a:t>
            </a:r>
            <a:endParaRPr lang="en-GB" sz="1400" dirty="0"/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A67C616A-0F41-2269-7A8D-72C4CA85891D}"/>
              </a:ext>
            </a:extLst>
          </p:cNvPr>
          <p:cNvCxnSpPr>
            <a:cxnSpLocks/>
            <a:stCxn id="72" idx="2"/>
            <a:endCxn id="174" idx="3"/>
          </p:cNvCxnSpPr>
          <p:nvPr/>
        </p:nvCxnSpPr>
        <p:spPr>
          <a:xfrm rot="5400000">
            <a:off x="9045334" y="4872295"/>
            <a:ext cx="2070785" cy="287450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4888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B64F6F81-92AB-7C0F-84F7-FAA6E5FC3CF2}"/>
              </a:ext>
            </a:extLst>
          </p:cNvPr>
          <p:cNvSpPr/>
          <p:nvPr/>
        </p:nvSpPr>
        <p:spPr>
          <a:xfrm>
            <a:off x="6833360" y="-18874"/>
            <a:ext cx="5069541" cy="6876874"/>
          </a:xfrm>
          <a:prstGeom prst="parallelogram">
            <a:avLst>
              <a:gd name="adj" fmla="val 1969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1973DA-B0F9-E1A4-AE56-F1BD7BF4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Repotting step-by-step</a:t>
            </a:r>
            <a:br>
              <a:rPr lang="en-US" dirty="0"/>
            </a:b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0934-5684-DA8A-A2B6-BA82211E45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334" y="2003977"/>
            <a:ext cx="4184035" cy="48271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/>
              <a:t>Regular repotting – often back into the same pot! - helps limit tree size via “root-to-shoot ratio”</a:t>
            </a:r>
          </a:p>
          <a:p>
            <a:pPr marL="0" indent="0">
              <a:buNone/>
            </a:pPr>
            <a:r>
              <a:rPr lang="en-US" dirty="0"/>
              <a:t>1. Prepare pot</a:t>
            </a:r>
          </a:p>
          <a:p>
            <a:r>
              <a:rPr lang="en-US" sz="1600" dirty="0"/>
              <a:t>Pick a (tentative) pot</a:t>
            </a:r>
          </a:p>
          <a:p>
            <a:r>
              <a:rPr lang="en-US" sz="1600" dirty="0"/>
              <a:t>Scrub clean</a:t>
            </a:r>
          </a:p>
          <a:p>
            <a:r>
              <a:rPr lang="en-US" sz="1600" dirty="0"/>
              <a:t>Staple mesh over holes</a:t>
            </a:r>
          </a:p>
          <a:p>
            <a:r>
              <a:rPr lang="en-US" sz="1600" dirty="0"/>
              <a:t>Add guy wires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2. Prepare tree</a:t>
            </a:r>
          </a:p>
          <a:p>
            <a:r>
              <a:rPr lang="en-US" sz="1600" dirty="0"/>
              <a:t>Remove from pot</a:t>
            </a:r>
          </a:p>
          <a:p>
            <a:r>
              <a:rPr lang="en-US" sz="1600" dirty="0"/>
              <a:t>Clean off soil surface</a:t>
            </a:r>
          </a:p>
          <a:p>
            <a:r>
              <a:rPr lang="en-US" sz="1600" dirty="0"/>
              <a:t>Dig down to expose </a:t>
            </a:r>
            <a:r>
              <a:rPr lang="en-US" sz="1600" dirty="0" err="1"/>
              <a:t>nebari</a:t>
            </a:r>
            <a:endParaRPr lang="en-US" sz="1600" dirty="0"/>
          </a:p>
          <a:p>
            <a:r>
              <a:rPr lang="en-US" sz="1600" dirty="0"/>
              <a:t>Choose “front” if not already clear</a:t>
            </a:r>
          </a:p>
          <a:p>
            <a:r>
              <a:rPr lang="en-US" sz="1600" dirty="0"/>
              <a:t>Dig up / in to define root-ball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E138C-6EE5-2895-CC89-8FB90D5DD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9970" y="2030872"/>
            <a:ext cx="4793618" cy="4827128"/>
          </a:xfrm>
        </p:spPr>
        <p:txBody>
          <a:bodyPr>
            <a:normAutofit fontScale="92500" lnSpcReduction="10000"/>
          </a:bodyPr>
          <a:lstStyle/>
          <a:p>
            <a:r>
              <a:rPr lang="en-US" sz="1600" dirty="0"/>
              <a:t>Untangle lateral roots where poss. (esp. girdling roots)</a:t>
            </a:r>
          </a:p>
          <a:p>
            <a:r>
              <a:rPr lang="en-US" sz="1600" dirty="0"/>
              <a:t>Clear any growth from lower trunk</a:t>
            </a:r>
          </a:p>
          <a:p>
            <a:r>
              <a:rPr lang="en-US" sz="1600" dirty="0"/>
              <a:t>Spray with water if starting to dry!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3. Insert tree into pot</a:t>
            </a:r>
          </a:p>
          <a:p>
            <a:r>
              <a:rPr lang="en-US" sz="1600" dirty="0"/>
              <a:t>Add shallow layer of soil to base</a:t>
            </a:r>
          </a:p>
          <a:p>
            <a:r>
              <a:rPr lang="en-US" sz="1600" dirty="0"/>
              <a:t>Place root ball in pot and pack soil around</a:t>
            </a:r>
          </a:p>
          <a:p>
            <a:r>
              <a:rPr lang="en-US" sz="1600" dirty="0"/>
              <a:t>Compress soil to “brownie” hardness</a:t>
            </a:r>
          </a:p>
          <a:p>
            <a:r>
              <a:rPr lang="en-GB" sz="1600" dirty="0"/>
              <a:t>Pull guy wires over root ball, twist pairs together tightly, and trim to 3-4 twists</a:t>
            </a:r>
          </a:p>
          <a:p>
            <a:r>
              <a:rPr lang="en-GB" sz="1600" dirty="0"/>
              <a:t>Cover with dried, grated, rehydrated sphagnum and compress surface</a:t>
            </a:r>
          </a:p>
          <a:p>
            <a:r>
              <a:rPr lang="en-GB" sz="1600" dirty="0"/>
              <a:t>Sprinkle with grated acrocarpous (upward-growing) moss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88A698-1B8F-B677-8398-81A09942F302}"/>
              </a:ext>
            </a:extLst>
          </p:cNvPr>
          <p:cNvGrpSpPr/>
          <p:nvPr/>
        </p:nvGrpSpPr>
        <p:grpSpPr>
          <a:xfrm>
            <a:off x="9827929" y="2363990"/>
            <a:ext cx="1030866" cy="1351658"/>
            <a:chOff x="8039533" y="461124"/>
            <a:chExt cx="1030866" cy="135165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96EC410-6382-2278-6BC8-379809AED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70890" y="1105663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D64AB5A-2961-F3BA-71E5-992EC86222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9047" y="97727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28ACB9E-2DC2-6D77-D4B3-7039D5E305AB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97207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B198F4-23D6-438B-6134-B77D58088B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46631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795A00C-7353-F6C4-1D2D-E23F06B8892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461124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569753-E957-CB17-3263-D4DB191DE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589517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D809435-49A5-52AD-076A-9BB385F47C6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594712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749D662-44A7-A51B-320A-F15042DDCA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714614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4394438-38CE-B736-B576-A1BA2D9BEA58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709419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5788213-C586-97C6-A3DC-8EE745AA51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53723" y="837812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7EE0124-D309-EF76-8581-20BEDBB15570}"/>
                </a:ext>
              </a:extLst>
            </p:cNvPr>
            <p:cNvCxnSpPr>
              <a:cxnSpLocks/>
            </p:cNvCxnSpPr>
            <p:nvPr/>
          </p:nvCxnSpPr>
          <p:spPr>
            <a:xfrm>
              <a:off x="8953723" y="843007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583E3F5-A0E3-7530-3544-C4EB3E8CEE13}"/>
                </a:ext>
              </a:extLst>
            </p:cNvPr>
            <p:cNvCxnSpPr>
              <a:cxnSpLocks/>
            </p:cNvCxnSpPr>
            <p:nvPr/>
          </p:nvCxnSpPr>
          <p:spPr>
            <a:xfrm>
              <a:off x="8039533" y="1556548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23AF4AA-7DC4-0624-177B-7A07A2CCCB2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700194" y="1497104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0664D4D-8A63-A248-C074-06C61DCCF09C}"/>
                </a:ext>
              </a:extLst>
            </p:cNvPr>
            <p:cNvCxnSpPr>
              <a:cxnSpLocks/>
            </p:cNvCxnSpPr>
            <p:nvPr/>
          </p:nvCxnSpPr>
          <p:spPr>
            <a:xfrm>
              <a:off x="8959047" y="1100991"/>
              <a:ext cx="56826" cy="80434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4EDE3BE-6070-E7E6-A0DE-32C76DAB1A52}"/>
              </a:ext>
            </a:extLst>
          </p:cNvPr>
          <p:cNvGrpSpPr/>
          <p:nvPr/>
        </p:nvGrpSpPr>
        <p:grpSpPr>
          <a:xfrm>
            <a:off x="9413203" y="4385879"/>
            <a:ext cx="1385604" cy="768424"/>
            <a:chOff x="9978711" y="418145"/>
            <a:chExt cx="1385604" cy="768424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75FD03C-461E-22B9-9B74-069B83E4BF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23823" y="934291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C6C5F56-C05E-23FE-D398-C82B33703B5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823" y="929096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C2E5AE8-D5FE-D8A9-7E1D-2A0A71DFF4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42334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EB4F20D2-E942-BB86-131E-DA5630B626D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41814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7EBE58-5E45-4713-088F-2F8775FA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54653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8F6A03E-B52A-BB49-4B7E-712FC94DAAA3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55173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69F7847-1340-8F6D-6DC3-EC23B61990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67163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6886420-000E-2CB7-AE3C-78B6688C52FF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66644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9DE52C7-2A2A-54AA-E0A1-F6BE7756FC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7948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04068AF-3AD1-A893-5F24-81DE6E8558BA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499" y="80002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7B47A112-A610-3D05-0D21-294880DAEE66}"/>
                </a:ext>
              </a:extLst>
            </p:cNvPr>
            <p:cNvCxnSpPr>
              <a:cxnSpLocks/>
            </p:cNvCxnSpPr>
            <p:nvPr/>
          </p:nvCxnSpPr>
          <p:spPr>
            <a:xfrm>
              <a:off x="9978711" y="1183972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801B64A1-AE15-C51C-0A78-4FDE00F6850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10732958" y="1177391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7CE0D85-3B97-C573-513E-5C3378285C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8499" y="105793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8BED534-07A4-E01C-F8C6-3BBF34E94702}"/>
                </a:ext>
              </a:extLst>
            </p:cNvPr>
            <p:cNvCxnSpPr>
              <a:cxnSpLocks/>
            </p:cNvCxnSpPr>
            <p:nvPr/>
          </p:nvCxnSpPr>
          <p:spPr>
            <a:xfrm>
              <a:off x="10623419" y="1057489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3" name="Content Placeholder 14">
            <a:extLst>
              <a:ext uri="{FF2B5EF4-FFF2-40B4-BE49-F238E27FC236}">
                <a16:creationId xmlns:a16="http://schemas.microsoft.com/office/drawing/2014/main" id="{6AEBBF43-3DE4-BA02-F559-B50D47623293}"/>
              </a:ext>
            </a:extLst>
          </p:cNvPr>
          <p:cNvSpPr txBox="1">
            <a:spLocks/>
          </p:cNvSpPr>
          <p:nvPr/>
        </p:nvSpPr>
        <p:spPr>
          <a:xfrm>
            <a:off x="10592041" y="184513"/>
            <a:ext cx="779400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</a:t>
            </a:r>
            <a:endParaRPr lang="en-GB" sz="4800" dirty="0"/>
          </a:p>
        </p:txBody>
      </p:sp>
      <p:sp>
        <p:nvSpPr>
          <p:cNvPr id="84" name="Content Placeholder 14">
            <a:extLst>
              <a:ext uri="{FF2B5EF4-FFF2-40B4-BE49-F238E27FC236}">
                <a16:creationId xmlns:a16="http://schemas.microsoft.com/office/drawing/2014/main" id="{829A34D9-FAAB-E6B2-51AD-C5AE2ED45D35}"/>
              </a:ext>
            </a:extLst>
          </p:cNvPr>
          <p:cNvSpPr txBox="1">
            <a:spLocks/>
          </p:cNvSpPr>
          <p:nvPr/>
        </p:nvSpPr>
        <p:spPr>
          <a:xfrm>
            <a:off x="10203071" y="4024328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85" name="Content Placeholder 14">
            <a:extLst>
              <a:ext uri="{FF2B5EF4-FFF2-40B4-BE49-F238E27FC236}">
                <a16:creationId xmlns:a16="http://schemas.microsoft.com/office/drawing/2014/main" id="{36133E30-870D-42DA-4C7A-8C63BBB627D2}"/>
              </a:ext>
            </a:extLst>
          </p:cNvPr>
          <p:cNvSpPr txBox="1">
            <a:spLocks/>
          </p:cNvSpPr>
          <p:nvPr/>
        </p:nvSpPr>
        <p:spPr>
          <a:xfrm>
            <a:off x="9918000" y="2096153"/>
            <a:ext cx="720457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4800" dirty="0">
                <a:sym typeface="Wingdings" panose="05000000000000000000" pitchFamily="2" charset="2"/>
              </a:rPr>
              <a:t></a:t>
            </a:r>
            <a:endParaRPr lang="en-GB" sz="4800" dirty="0"/>
          </a:p>
        </p:txBody>
      </p:sp>
      <p:sp>
        <p:nvSpPr>
          <p:cNvPr id="91" name="Content Placeholder 14">
            <a:extLst>
              <a:ext uri="{FF2B5EF4-FFF2-40B4-BE49-F238E27FC236}">
                <a16:creationId xmlns:a16="http://schemas.microsoft.com/office/drawing/2014/main" id="{9827E5BC-9E9B-2649-3F93-4350DF1BBD74}"/>
              </a:ext>
            </a:extLst>
          </p:cNvPr>
          <p:cNvSpPr txBox="1">
            <a:spLocks/>
          </p:cNvSpPr>
          <p:nvPr/>
        </p:nvSpPr>
        <p:spPr>
          <a:xfrm>
            <a:off x="9661002" y="2575899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sp>
        <p:nvSpPr>
          <p:cNvPr id="92" name="Content Placeholder 14">
            <a:extLst>
              <a:ext uri="{FF2B5EF4-FFF2-40B4-BE49-F238E27FC236}">
                <a16:creationId xmlns:a16="http://schemas.microsoft.com/office/drawing/2014/main" id="{90E3E99F-275C-53D4-CCFE-51936BAC5830}"/>
              </a:ext>
            </a:extLst>
          </p:cNvPr>
          <p:cNvSpPr txBox="1">
            <a:spLocks/>
          </p:cNvSpPr>
          <p:nvPr/>
        </p:nvSpPr>
        <p:spPr>
          <a:xfrm>
            <a:off x="10106037" y="4445820"/>
            <a:ext cx="1070011" cy="783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/>
              <a:t>Prone to snapping!</a:t>
            </a:r>
            <a:endParaRPr lang="en-GB" sz="1400" dirty="0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30D3693-DA29-88FB-0B3D-1BCA34BE6D28}"/>
              </a:ext>
            </a:extLst>
          </p:cNvPr>
          <p:cNvGrpSpPr/>
          <p:nvPr/>
        </p:nvGrpSpPr>
        <p:grpSpPr>
          <a:xfrm>
            <a:off x="9036026" y="280181"/>
            <a:ext cx="2151401" cy="1573895"/>
            <a:chOff x="5482687" y="265988"/>
            <a:chExt cx="2151401" cy="157389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A08A7AE-71FD-74E8-30B5-F2B23C5006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6931" y="1058429"/>
              <a:ext cx="399509" cy="450885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1680F51-9233-1062-44B6-DD5EA8BFDA5C}"/>
                </a:ext>
              </a:extLst>
            </p:cNvPr>
            <p:cNvCxnSpPr>
              <a:cxnSpLocks/>
            </p:cNvCxnSpPr>
            <p:nvPr/>
          </p:nvCxnSpPr>
          <p:spPr>
            <a:xfrm>
              <a:off x="6610283" y="1058429"/>
              <a:ext cx="392448" cy="45608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0AA6F68-6BF7-5F51-2A65-3C574D9717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05088" y="930036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A37A6E-F7A8-2AB7-2EB4-B9E5744C4D28}"/>
                </a:ext>
              </a:extLst>
            </p:cNvPr>
            <p:cNvCxnSpPr>
              <a:cxnSpLocks/>
            </p:cNvCxnSpPr>
            <p:nvPr/>
          </p:nvCxnSpPr>
          <p:spPr>
            <a:xfrm>
              <a:off x="6605088" y="924841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610C1-037E-6882-A44B-235EDE272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419085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E7705B-BE8E-CD75-70B2-B7FF1BAAD06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413890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2D97B54-FDE0-15C8-A226-197DA1D6FE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542283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2EA44C5-EFD8-0B30-D5B7-D0B866EE35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547478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EEF653A-A3F6-0603-BCF5-11786E9C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667380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40B9832-5B15-3557-95B7-02263AF5A8A2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662185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5C98D3B-FB97-2CED-889A-D5340C9F22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9764" y="790578"/>
              <a:ext cx="106028" cy="128393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D5473C8-7A8C-06CB-518D-7DD49D34467B}"/>
                </a:ext>
              </a:extLst>
            </p:cNvPr>
            <p:cNvCxnSpPr>
              <a:cxnSpLocks/>
            </p:cNvCxnSpPr>
            <p:nvPr/>
          </p:nvCxnSpPr>
          <p:spPr>
            <a:xfrm>
              <a:off x="6599764" y="795773"/>
              <a:ext cx="106028" cy="123198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99DC6D1-9D89-5ED9-DBAB-0DAF6F31163F}"/>
                </a:ext>
              </a:extLst>
            </p:cNvPr>
            <p:cNvCxnSpPr>
              <a:cxnSpLocks/>
            </p:cNvCxnSpPr>
            <p:nvPr/>
          </p:nvCxnSpPr>
          <p:spPr>
            <a:xfrm>
              <a:off x="5685574" y="1509314"/>
              <a:ext cx="631357" cy="2597"/>
            </a:xfrm>
            <a:prstGeom prst="line">
              <a:avLst/>
            </a:prstGeom>
            <a:ln w="50800">
              <a:solidFill>
                <a:schemeClr val="accent3"/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19A80AD-D6BD-653D-76E1-31A188E1160F}"/>
                </a:ext>
              </a:extLst>
            </p:cNvPr>
            <p:cNvCxnSpPr>
              <a:cxnSpLocks/>
            </p:cNvCxnSpPr>
            <p:nvPr/>
          </p:nvCxnSpPr>
          <p:spPr>
            <a:xfrm>
              <a:off x="7002731" y="1515935"/>
              <a:ext cx="631357" cy="0"/>
            </a:xfrm>
            <a:prstGeom prst="line">
              <a:avLst/>
            </a:prstGeom>
            <a:ln w="50800">
              <a:solidFill>
                <a:schemeClr val="accent3">
                  <a:lumMod val="50000"/>
                </a:schemeClr>
              </a:solidFill>
            </a:ln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29D8696-F002-A6D9-E19F-EC18A2B45CA4}"/>
                </a:ext>
              </a:extLst>
            </p:cNvPr>
            <p:cNvSpPr/>
            <p:nvPr/>
          </p:nvSpPr>
          <p:spPr>
            <a:xfrm>
              <a:off x="5932468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35DBC28-D8E0-FF72-60C2-129C7922EE19}"/>
                </a:ext>
              </a:extLst>
            </p:cNvPr>
            <p:cNvSpPr/>
            <p:nvPr/>
          </p:nvSpPr>
          <p:spPr>
            <a:xfrm>
              <a:off x="6963032" y="1053234"/>
              <a:ext cx="452004" cy="35594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80396236-D399-B238-3840-B36582C2DB32}"/>
                </a:ext>
              </a:extLst>
            </p:cNvPr>
            <p:cNvSpPr/>
            <p:nvPr/>
          </p:nvSpPr>
          <p:spPr>
            <a:xfrm rot="3653847">
              <a:off x="6101579" y="1259583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6D88DE27-3A4D-2E66-FCEA-CE27B7F452FE}"/>
                </a:ext>
              </a:extLst>
            </p:cNvPr>
            <p:cNvSpPr/>
            <p:nvPr/>
          </p:nvSpPr>
          <p:spPr>
            <a:xfrm rot="16200000" flipV="1">
              <a:off x="6703163" y="301157"/>
              <a:ext cx="243140" cy="172801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49A236D-BA21-9B2E-9E86-C7FA0DE60597}"/>
                </a:ext>
              </a:extLst>
            </p:cNvPr>
            <p:cNvCxnSpPr/>
            <p:nvPr/>
          </p:nvCxnSpPr>
          <p:spPr>
            <a:xfrm flipH="1">
              <a:off x="6648385" y="1171849"/>
              <a:ext cx="14774" cy="66803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Arrow: Right 87">
              <a:extLst>
                <a:ext uri="{FF2B5EF4-FFF2-40B4-BE49-F238E27FC236}">
                  <a16:creationId xmlns:a16="http://schemas.microsoft.com/office/drawing/2014/main" id="{F8473AB6-8396-D456-63CF-0673E698F1AE}"/>
                </a:ext>
              </a:extLst>
            </p:cNvPr>
            <p:cNvSpPr/>
            <p:nvPr/>
          </p:nvSpPr>
          <p:spPr>
            <a:xfrm rot="17946153" flipH="1">
              <a:off x="6962441" y="1267198"/>
              <a:ext cx="272997" cy="173252"/>
            </a:xfrm>
            <a:prstGeom prst="rightArrow">
              <a:avLst>
                <a:gd name="adj1" fmla="val 38550"/>
                <a:gd name="adj2" fmla="val 27100"/>
              </a:avLst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Block Arc 89">
              <a:extLst>
                <a:ext uri="{FF2B5EF4-FFF2-40B4-BE49-F238E27FC236}">
                  <a16:creationId xmlns:a16="http://schemas.microsoft.com/office/drawing/2014/main" id="{62007DC9-1451-BCDC-BDE2-BB84BDFBD64F}"/>
                </a:ext>
              </a:extLst>
            </p:cNvPr>
            <p:cNvSpPr/>
            <p:nvPr/>
          </p:nvSpPr>
          <p:spPr>
            <a:xfrm flipV="1">
              <a:off x="6353610" y="815879"/>
              <a:ext cx="619097" cy="619097"/>
            </a:xfrm>
            <a:prstGeom prst="blockArc">
              <a:avLst>
                <a:gd name="adj1" fmla="val 14017464"/>
                <a:gd name="adj2" fmla="val 18461169"/>
                <a:gd name="adj3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93" name="Content Placeholder 14">
              <a:extLst>
                <a:ext uri="{FF2B5EF4-FFF2-40B4-BE49-F238E27FC236}">
                  <a16:creationId xmlns:a16="http://schemas.microsoft.com/office/drawing/2014/main" id="{1FA3939F-35E2-287B-9B2B-42C59C6039E8}"/>
                </a:ext>
              </a:extLst>
            </p:cNvPr>
            <p:cNvSpPr txBox="1">
              <a:spLocks/>
            </p:cNvSpPr>
            <p:nvPr/>
          </p:nvSpPr>
          <p:spPr>
            <a:xfrm>
              <a:off x="5482687" y="752490"/>
              <a:ext cx="1070011" cy="36259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342900" indent="-3429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8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6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4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457200" rtl="0" eaLnBrk="1" latinLnBrk="0" hangingPunct="1">
                <a:spcBef>
                  <a:spcPts val="100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Wingdings 3" charset="2"/>
                <a:buChar char=""/>
                <a:defRPr sz="120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400" dirty="0"/>
                <a:t>fingers</a:t>
              </a:r>
              <a:endParaRPr lang="en-GB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76472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56717</TotalTime>
  <Words>2524</Words>
  <Application>Microsoft Office PowerPoint</Application>
  <PresentationFormat>Widescreen</PresentationFormat>
  <Paragraphs>419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Trebuchet MS</vt:lpstr>
      <vt:lpstr>Wingdings</vt:lpstr>
      <vt:lpstr>Wingdings 3</vt:lpstr>
      <vt:lpstr>Facet</vt:lpstr>
      <vt:lpstr>Bonsai On A Budget</vt:lpstr>
      <vt:lpstr>Learning Outcomes </vt:lpstr>
      <vt:lpstr>Recap</vt:lpstr>
      <vt:lpstr>Bonsai: Art &amp; Science </vt:lpstr>
      <vt:lpstr>I Had One Once, But It Died What a bonsai needs to survive</vt:lpstr>
      <vt:lpstr>Authenticity &amp; Age What makes a tree look mature?</vt:lpstr>
      <vt:lpstr>Drama &amp; Perspective What makes a tree stand out?</vt:lpstr>
      <vt:lpstr>Pragmatism 2</vt:lpstr>
      <vt:lpstr>Bonsai Lifecycle </vt:lpstr>
      <vt:lpstr>Why We Prune It’s not just repressed sadism, honest</vt:lpstr>
      <vt:lpstr>Botany &amp; Pruning (1) Not all trees are alike</vt:lpstr>
      <vt:lpstr>Botany &amp; Pruning (2) Three main types of foliage</vt:lpstr>
      <vt:lpstr>Structural Pruning Building a solid foundation</vt:lpstr>
      <vt:lpstr>Pruning for Ramification (1) Broadleaf trees: playing in easy mode</vt:lpstr>
      <vt:lpstr>Pruning for Ramification (2) Needle-bearing trees: getting trickier</vt:lpstr>
      <vt:lpstr>Pruning for Ramification (3) Spiky / scaly trees: super fiddly</vt:lpstr>
      <vt:lpstr>Wiring The rules guidelines</vt:lpstr>
      <vt:lpstr>Stress Management …No, I meant for the tree</vt:lpstr>
      <vt:lpstr>There Is A Season When to do what</vt:lpstr>
      <vt:lpstr>Next Steps</vt:lpstr>
      <vt:lpstr>Practice, Practice, Practice Practice, practice, practice, practice… you get the picture</vt:lpstr>
      <vt:lpstr>Learn From Others  Apart from yours truly</vt:lpstr>
      <vt:lpstr>Thanks For Attending!</vt:lpstr>
      <vt:lpstr>Appendices</vt:lpstr>
      <vt:lpstr>Woody Plants: A Family Tree Evolution From A Bonsai Pruner’s Perspective</vt:lpstr>
      <vt:lpstr>Repotting step-by-step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Bonsai On A Budget</dc:title>
  <dc:creator>Alex Labram</dc:creator>
  <cp:lastModifiedBy>Alex Labram</cp:lastModifiedBy>
  <cp:revision>52</cp:revision>
  <dcterms:created xsi:type="dcterms:W3CDTF">2024-04-06T11:33:48Z</dcterms:created>
  <dcterms:modified xsi:type="dcterms:W3CDTF">2025-10-19T08:41:25Z</dcterms:modified>
</cp:coreProperties>
</file>